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4.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5.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4ec93f7b-3d0b-6815-96af-fb7a8a7a3441}">
          <p14:sldIdLst>
            <p14:sldId id="256"/>
          </p14:sldIdLst>
        </p14:section>
        <p14:section name="Executive summary" id="{0b1a58e0-5d6b-b5b4-f442-f00fc2b42106}">
          <p14:sldIdLst>
            <p14:sldId id="257"/>
            <p14:sldId id="258"/>
          </p14:sldIdLst>
        </p14:section>
        <p14:section name="Regional context" id="{b010b8ad-7983-ecdd-08b1-51f2958c918c}">
          <p14:sldIdLst>
            <p14:sldId id="259"/>
            <p14:sldId id="260"/>
            <p14:sldId id="261"/>
          </p14:sldIdLst>
        </p14:section>
        <p14:section name="Diagnostic" id="{06a1d24a-f18b-6908-6958-9a69f0e53f98}">
          <p14:sldIdLst>
            <p14:sldId id="262"/>
            <p14:sldId id="263"/>
            <p14:sldId id="264"/>
            <p14:sldId id="265"/>
            <p14:sldId id="266"/>
          </p14:sldIdLst>
        </p14:section>
        <p14:section name="International benchmarks" id="{cdb15f26-adf0-142d-c70e-08aa5aa0e545}">
          <p14:sldIdLst>
            <p14:sldId id="267"/>
            <p14:sldId id="268"/>
          </p14:sldIdLst>
        </p14:section>
        <p14:section name="Policy recommendations" id="{ec3db3d9-78ed-274d-1ab2-9013b3e2318a}">
          <p14:sldIdLst>
            <p14:sldId id="269"/>
            <p14:sldId id="270"/>
            <p14:sldId id="271"/>
            <p14:sldId id="272"/>
            <p14:sldId id="273"/>
          </p14:sldIdLst>
        </p14:section>
        <p14:section name="Conclusion and next steps" id="{8aec38c7-e994-85f6-8290-97e4dcbc14f7}">
          <p14:sldIdLst>
            <p14:sldId id="274"/>
            <p14:sldId id="275"/>
          </p14:sldIdLst>
        </p14:section>
        <p14:section name="Appendix" id="{cba339c4-eaa4-5115-5154-f0396e6c2005}">
          <p14:sldIdLst>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GDP per person</c:v>
                </c:pt>
              </c:strCache>
            </c:strRef>
          </c:tx>
          <c:spPr>
            <a:solidFill>
              <a:srgbClr val="C25E3A"/>
            </a:solidFill>
            <a:effectLst/>
          </c:spPr>
          <c:invertIfNegative val="0"/>
          <c:dLbls>
            <c:numFmt formatCode="$#,##0" sourceLinked="0"/>
            <c:txPr>
              <a:bodyPr/>
              <a:lstStyle/>
              <a:p>
                <a:pPr>
                  <a:defRPr b="0" i="0" strike="noStrike" sz="1000" u="none">
                    <a:solidFill>
                      <a:srgbClr val="5A6478"/>
                    </a:solidFill>
                    <a:latin typeface="+mn-lt"/>
                  </a:defRPr>
                </a:pPr>
              </a:p>
            </c:txPr>
            <c:showLegendKey val="0"/>
            <c:showVal val="1"/>
            <c:showCatName val="0"/>
            <c:showSerName val="0"/>
            <c:showPercent val="0"/>
            <c:showBubbleSize val="0"/>
            <c:showLeaderLines val="0"/>
          </c:dLbls>
          <c:cat>
            <c:multiLvlStrRef>
              <c:f>Sheet1!$A$2:$A$9</c:f>
              <c:multiLvlStrCache>
                <c:ptCount val="8"/>
                <c:lvl>
                  <c:pt idx="0">
                    <c:v>Panama</c:v>
                  </c:pt>
                  <c:pt idx="1">
                    <c:v>Costa Rica</c:v>
                  </c:pt>
                  <c:pt idx="2">
                    <c:v>Mexico</c:v>
                  </c:pt>
                  <c:pt idx="3">
                    <c:v>Belize</c:v>
                  </c:pt>
                  <c:pt idx="4">
                    <c:v>El Salvador</c:v>
                  </c:pt>
                  <c:pt idx="5">
                    <c:v>Guatemala</c:v>
                  </c:pt>
                  <c:pt idx="6">
                    <c:v>Honduras</c:v>
                  </c:pt>
                  <c:pt idx="7">
                    <c:v>Nicaragua</c:v>
                  </c:pt>
                </c:lvl>
              </c:multiLvlStrCache>
            </c:multiLvlStrRef>
          </c:cat>
          <c:val>
            <c:numRef>
              <c:f>Sheet1!$B$2:$B$9</c:f>
              <c:numCache>
                <c:formatCode>General</c:formatCode>
                <c:ptCount val="8"/>
                <c:pt idx="0">
                  <c:v>17650</c:v>
                </c:pt>
                <c:pt idx="1">
                  <c:v>15669</c:v>
                </c:pt>
                <c:pt idx="2">
                  <c:v>10257</c:v>
                </c:pt>
                <c:pt idx="3">
                  <c:v>6374</c:v>
                </c:pt>
                <c:pt idx="4">
                  <c:v>4735</c:v>
                </c:pt>
                <c:pt idx="5">
                  <c:v>4688</c:v>
                </c:pt>
                <c:pt idx="6">
                  <c:v>2628</c:v>
                </c:pt>
                <c:pt idx="7">
                  <c:v>2372</c:v>
                </c:pt>
              </c:numCache>
            </c:numRef>
          </c:val>
        </c:ser>
        <c:dLbls>
          <c:numFmt formatCode="$#,##0" sourceLinked="0"/>
          <c:txPr>
            <a:bodyPr/>
            <a:lstStyle/>
            <a:p>
              <a:pPr>
                <a:defRPr b="0" i="0" strike="noStrike" sz="1000" u="none">
                  <a:solidFill>
                    <a:srgbClr val="5A6478"/>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5A6478"/>
                </a:solidFill>
                <a:latin typeface="+mn-lt"/>
              </a:defRPr>
            </a:pPr>
            <a:endParaRPr lang="en-US"/>
          </a:p>
        </c:txPr>
        <c:crossAx val="2094734552"/>
        <c:crosses val="autoZero"/>
        <c:auto val="1"/>
        <c:lblAlgn val="ctr"/>
        <c:noMultiLvlLbl val="1"/>
      </c:catAx>
      <c:valAx>
        <c:axId val="2094734552"/>
        <c:scaling>
          <c:orientation val="minMax"/>
        </c:scaling>
        <c:delete val="1"/>
        <c:axPos val="b"/>
        <c:majorGridlines>
          <c:spPr>
            <a:ln w="12700" cap="flat">
              <a:solidFill>
                <a:srgbClr val="E8E4DE"/>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A6478"/>
                </a:solidFill>
                <a:latin typeface="+mn-lt"/>
              </a:defRPr>
            </a:pPr>
            <a:endParaRPr lang="en-US"/>
          </a:p>
        </c:txPr>
        <c:crossAx val="2094734554"/>
        <c:crosses val="autoZero"/>
        <c:crossBetween val="between"/>
      </c:valAx>
      <c:spPr>
        <a:noFill/>
        <a:ln w="12700" cap="flat">
          <a:solidFill>
            <a:srgbClr val="FFFFFF"/>
          </a:solid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Real GDP growth 2025</c:v>
                </c:pt>
              </c:strCache>
            </c:strRef>
          </c:tx>
          <c:spPr>
            <a:solidFill>
              <a:srgbClr val="C25E3A"/>
            </a:solidFill>
            <a:effectLst/>
          </c:spPr>
          <c:invertIfNegative val="0"/>
          <c:dLbls>
            <c:numFmt formatCode="0.0&quot;%&quot;" sourceLinked="0"/>
            <c:txPr>
              <a:bodyPr/>
              <a:lstStyle/>
              <a:p>
                <a:pPr>
                  <a:defRPr b="0" i="0" strike="noStrike" sz="1000" u="none">
                    <a:solidFill>
                      <a:srgbClr val="5A6478"/>
                    </a:solidFill>
                    <a:latin typeface="+mn-lt"/>
                  </a:defRPr>
                </a:pPr>
              </a:p>
            </c:txPr>
            <c:showLegendKey val="0"/>
            <c:showVal val="1"/>
            <c:showCatName val="0"/>
            <c:showSerName val="0"/>
            <c:showPercent val="0"/>
            <c:showBubbleSize val="0"/>
            <c:showLeaderLines val="0"/>
          </c:dLbls>
          <c:cat>
            <c:multiLvlStrRef>
              <c:f>Sheet1!$A$2:$A$9</c:f>
              <c:multiLvlStrCache>
                <c:ptCount val="8"/>
                <c:lvl>
                  <c:pt idx="0">
                    <c:v>Nicaragua</c:v>
                  </c:pt>
                  <c:pt idx="1">
                    <c:v>Costa Rica</c:v>
                  </c:pt>
                  <c:pt idx="2">
                    <c:v>Panama</c:v>
                  </c:pt>
                  <c:pt idx="3">
                    <c:v>Guatemala</c:v>
                  </c:pt>
                  <c:pt idx="4">
                    <c:v>El Salvador</c:v>
                  </c:pt>
                  <c:pt idx="5">
                    <c:v>Honduras</c:v>
                  </c:pt>
                  <c:pt idx="6">
                    <c:v>Belize</c:v>
                  </c:pt>
                  <c:pt idx="7">
                    <c:v>Mexico</c:v>
                  </c:pt>
                </c:lvl>
              </c:multiLvlStrCache>
            </c:multiLvlStrRef>
          </c:cat>
          <c:val>
            <c:numRef>
              <c:f>Sheet1!$B$2:$B$9</c:f>
              <c:numCache>
                <c:formatCode>General</c:formatCode>
                <c:ptCount val="8"/>
                <c:pt idx="0">
                  <c:v>4.9</c:v>
                </c:pt>
                <c:pt idx="1">
                  <c:v>4.6</c:v>
                </c:pt>
                <c:pt idx="2">
                  <c:v>4.4</c:v>
                </c:pt>
                <c:pt idx="3">
                  <c:v>4.3</c:v>
                </c:pt>
                <c:pt idx="4">
                  <c:v>3.9</c:v>
                </c:pt>
                <c:pt idx="5">
                  <c:v>3.8</c:v>
                </c:pt>
                <c:pt idx="6">
                  <c:v>2.7</c:v>
                </c:pt>
                <c:pt idx="7">
                  <c:v>0.6</c:v>
                </c:pt>
              </c:numCache>
            </c:numRef>
          </c:val>
        </c:ser>
        <c:dLbls>
          <c:numFmt formatCode="0.0&quot;%&quot;" sourceLinked="0"/>
          <c:txPr>
            <a:bodyPr/>
            <a:lstStyle/>
            <a:p>
              <a:pPr>
                <a:defRPr b="0" i="0" strike="noStrike" sz="1000" u="none">
                  <a:solidFill>
                    <a:srgbClr val="5A6478"/>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5A6478"/>
                </a:solidFill>
                <a:latin typeface="+mn-lt"/>
              </a:defRPr>
            </a:pPr>
            <a:endParaRPr lang="en-US"/>
          </a:p>
        </c:txPr>
        <c:crossAx val="2094734552"/>
        <c:crosses val="autoZero"/>
        <c:auto val="1"/>
        <c:lblAlgn val="ctr"/>
        <c:noMultiLvlLbl val="1"/>
      </c:catAx>
      <c:valAx>
        <c:axId val="2094734552"/>
        <c:scaling>
          <c:orientation val="minMax"/>
        </c:scaling>
        <c:delete val="1"/>
        <c:axPos val="b"/>
        <c:majorGridlines>
          <c:spPr>
            <a:ln w="12700" cap="flat">
              <a:solidFill>
                <a:srgbClr val="E8E4DE"/>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A6478"/>
                </a:solidFill>
                <a:latin typeface="+mn-lt"/>
              </a:defRPr>
            </a:pPr>
            <a:endParaRPr lang="en-US"/>
          </a:p>
        </c:txPr>
        <c:crossAx val="2094734554"/>
        <c:crosses val="autoZero"/>
        <c:crossBetween val="between"/>
      </c:valAx>
      <c:spPr>
        <a:noFill/>
        <a:ln w="12700" cap="flat">
          <a:solidFill>
            <a:srgbClr val="FFFFFF"/>
          </a:solid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Korea</c:v>
                </c:pt>
              </c:strCache>
            </c:strRef>
          </c:tx>
          <c:spPr>
            <a:solidFill>
              <a:srgbClr val="1F6F6B"/>
            </a:solidFill>
            <a:ln w="25400" cap="flat">
              <a:solidFill>
                <a:srgbClr val="1F6F6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1F6F6B"/>
              </a:solidFill>
              <a:ln w="9525" cap="flat">
                <a:solidFill>
                  <a:srgbClr val="1F6F6B"/>
                </a:solidFill>
                <a:prstDash val="solid"/>
                <a:round/>
              </a:ln>
              <a:effectLst/>
            </c:spPr>
          </c:marker>
          <c:cat>
            <c:multiLvlStrRef>
              <c:f>Sheet1!$A$2:$A$46</c:f>
              <c:multiLvlStrCache>
                <c:ptCount val="45"/>
                <c:lvl>
                  <c:pt idx="0">
                    <c:v>1980</c:v>
                  </c:pt>
                  <c:pt idx="1">
                    <c:v>1981</c:v>
                  </c:pt>
                  <c:pt idx="2">
                    <c:v>1982</c:v>
                  </c:pt>
                  <c:pt idx="3">
                    <c:v>1983</c:v>
                  </c:pt>
                  <c:pt idx="4">
                    <c:v>1984</c:v>
                  </c:pt>
                  <c:pt idx="5">
                    <c:v>1985</c:v>
                  </c:pt>
                  <c:pt idx="6">
                    <c:v>1986</c:v>
                  </c:pt>
                  <c:pt idx="7">
                    <c:v>1987</c:v>
                  </c:pt>
                  <c:pt idx="8">
                    <c:v>1988</c:v>
                  </c:pt>
                  <c:pt idx="9">
                    <c:v>1989</c:v>
                  </c:pt>
                  <c:pt idx="10">
                    <c:v>1990</c:v>
                  </c:pt>
                  <c:pt idx="11">
                    <c:v>1991</c:v>
                  </c:pt>
                  <c:pt idx="12">
                    <c:v>1992</c:v>
                  </c:pt>
                  <c:pt idx="13">
                    <c:v>1993</c:v>
                  </c:pt>
                  <c:pt idx="14">
                    <c:v>1994</c:v>
                  </c:pt>
                  <c:pt idx="15">
                    <c:v>1995</c:v>
                  </c:pt>
                  <c:pt idx="16">
                    <c:v>1996</c:v>
                  </c:pt>
                  <c:pt idx="17">
                    <c:v>1997</c:v>
                  </c:pt>
                  <c:pt idx="18">
                    <c:v>1998</c:v>
                  </c:pt>
                  <c:pt idx="19">
                    <c:v>1999</c:v>
                  </c:pt>
                  <c:pt idx="20">
                    <c:v>2000</c:v>
                  </c:pt>
                  <c:pt idx="21">
                    <c:v>2001</c:v>
                  </c:pt>
                  <c:pt idx="22">
                    <c:v>2002</c:v>
                  </c:pt>
                  <c:pt idx="23">
                    <c:v>2003</c:v>
                  </c:pt>
                  <c:pt idx="24">
                    <c:v>2004</c:v>
                  </c:pt>
                  <c:pt idx="25">
                    <c:v>2005</c:v>
                  </c:pt>
                  <c:pt idx="26">
                    <c:v>2006</c:v>
                  </c:pt>
                  <c:pt idx="27">
                    <c:v>2007</c:v>
                  </c:pt>
                  <c:pt idx="28">
                    <c:v>2008</c:v>
                  </c:pt>
                  <c:pt idx="29">
                    <c:v>2009</c:v>
                  </c:pt>
                  <c:pt idx="30">
                    <c:v>2010</c:v>
                  </c:pt>
                  <c:pt idx="31">
                    <c:v>2011</c:v>
                  </c:pt>
                  <c:pt idx="32">
                    <c:v>2012</c:v>
                  </c:pt>
                  <c:pt idx="33">
                    <c:v>2013</c:v>
                  </c:pt>
                  <c:pt idx="34">
                    <c:v>2014</c:v>
                  </c:pt>
                  <c:pt idx="35">
                    <c:v>2015</c:v>
                  </c:pt>
                  <c:pt idx="36">
                    <c:v>2016</c:v>
                  </c:pt>
                  <c:pt idx="37">
                    <c:v>2017</c:v>
                  </c:pt>
                  <c:pt idx="38">
                    <c:v>2018</c:v>
                  </c:pt>
                  <c:pt idx="39">
                    <c:v>2019</c:v>
                  </c:pt>
                  <c:pt idx="40">
                    <c:v>2020</c:v>
                  </c:pt>
                  <c:pt idx="41">
                    <c:v>2021</c:v>
                  </c:pt>
                  <c:pt idx="42">
                    <c:v>2022</c:v>
                  </c:pt>
                  <c:pt idx="43">
                    <c:v>2023</c:v>
                  </c:pt>
                  <c:pt idx="44">
                    <c:v>2024</c:v>
                  </c:pt>
                </c:lvl>
              </c:multiLvlStrCache>
            </c:multiLvlStrRef>
          </c:cat>
          <c:val>
            <c:numRef>
              <c:f>Sheet1!$B$2:$B$46</c:f>
              <c:numCache>
                <c:formatCode>General</c:formatCode>
                <c:ptCount val="45"/>
                <c:pt idx="0">
                  <c:v>1241</c:v>
                </c:pt>
                <c:pt idx="1">
                  <c:v>1319</c:v>
                </c:pt>
                <c:pt idx="2">
                  <c:v>1556</c:v>
                </c:pt>
                <c:pt idx="3">
                  <c:v>1599</c:v>
                </c:pt>
                <c:pt idx="4">
                  <c:v>1997</c:v>
                </c:pt>
                <c:pt idx="5">
                  <c:v>2702</c:v>
                </c:pt>
                <c:pt idx="6">
                  <c:v>3640</c:v>
                </c:pt>
                <c:pt idx="7">
                  <c:v>4871</c:v>
                </c:pt>
                <c:pt idx="8">
                  <c:v>5696</c:v>
                </c:pt>
                <c:pt idx="9">
                  <c:v>7020</c:v>
                </c:pt>
                <c:pt idx="10">
                  <c:v>9082</c:v>
                </c:pt>
                <c:pt idx="11">
                  <c:v>13253</c:v>
                </c:pt>
                <c:pt idx="12">
                  <c:v>15951</c:v>
                </c:pt>
                <c:pt idx="13">
                  <c:v>21449</c:v>
                </c:pt>
                <c:pt idx="14">
                  <c:v>28554</c:v>
                </c:pt>
                <c:pt idx="15">
                  <c:v>59228</c:v>
                </c:pt>
                <c:pt idx="16">
                  <c:v>68405</c:v>
                </c:pt>
                <c:pt idx="17">
                  <c:v>67359</c:v>
                </c:pt>
                <c:pt idx="18">
                  <c:v>50596</c:v>
                </c:pt>
                <c:pt idx="19">
                  <c:v>55970</c:v>
                </c:pt>
                <c:pt idx="20">
                  <c:v>72831</c:v>
                </c:pt>
                <c:pt idx="21">
                  <c:v>73714</c:v>
                </c:pt>
                <c:pt idx="22">
                  <c:v>76570</c:v>
                </c:pt>
                <c:pt idx="23">
                  <c:v>90313</c:v>
                </c:pt>
                <c:pt idx="24">
                  <c:v>105250</c:v>
                </c:pt>
                <c:pt idx="25">
                  <c:v>122188</c:v>
                </c:pt>
                <c:pt idx="26">
                  <c:v>125476</c:v>
                </c:pt>
                <c:pt idx="27">
                  <c:v>128701</c:v>
                </c:pt>
                <c:pt idx="28">
                  <c:v>127114</c:v>
                </c:pt>
                <c:pt idx="29">
                  <c:v>127316</c:v>
                </c:pt>
                <c:pt idx="30">
                  <c:v>131805</c:v>
                </c:pt>
                <c:pt idx="31">
                  <c:v>138034</c:v>
                </c:pt>
                <c:pt idx="32">
                  <c:v>148136</c:v>
                </c:pt>
                <c:pt idx="33">
                  <c:v>159978</c:v>
                </c:pt>
                <c:pt idx="34">
                  <c:v>164073</c:v>
                </c:pt>
                <c:pt idx="35">
                  <c:v>167275</c:v>
                </c:pt>
                <c:pt idx="36">
                  <c:v>163424</c:v>
                </c:pt>
                <c:pt idx="37">
                  <c:v>159084</c:v>
                </c:pt>
                <c:pt idx="38">
                  <c:v>162561</c:v>
                </c:pt>
                <c:pt idx="39">
                  <c:v>171603</c:v>
                </c:pt>
                <c:pt idx="40">
                  <c:v>180477</c:v>
                </c:pt>
                <c:pt idx="41">
                  <c:v>186245</c:v>
                </c:pt>
                <c:pt idx="42">
                  <c:v>183748</c:v>
                </c:pt>
                <c:pt idx="43">
                  <c:v>191142</c:v>
                </c:pt>
                <c:pt idx="44">
                  <c:v>195786</c:v>
                </c:pt>
              </c:numCache>
            </c:numRef>
          </c:val>
          <c:smooth val="0"/>
        </c:ser>
        <c:ser>
          <c:idx val="1"/>
          <c:order val="1"/>
          <c:tx>
            <c:strRef>
              <c:f>Sheet1!$C$1</c:f>
              <c:strCache>
                <c:ptCount val="1"/>
                <c:pt idx="0">
                  <c:v>Mexico</c:v>
                </c:pt>
              </c:strCache>
            </c:strRef>
          </c:tx>
          <c:spPr>
            <a:solidFill>
              <a:srgbClr val="C25E3A"/>
            </a:solidFill>
            <a:ln w="25400" cap="flat">
              <a:solidFill>
                <a:srgbClr val="C25E3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C25E3A"/>
              </a:solidFill>
              <a:ln w="9525" cap="flat">
                <a:solidFill>
                  <a:srgbClr val="C25E3A"/>
                </a:solidFill>
                <a:prstDash val="solid"/>
                <a:round/>
              </a:ln>
              <a:effectLst/>
            </c:spPr>
          </c:marker>
          <c:cat>
            <c:multiLvlStrRef>
              <c:f>Sheet1!$A$2:$A$46</c:f>
              <c:multiLvlStrCache>
                <c:ptCount val="45"/>
                <c:lvl>
                  <c:pt idx="0">
                    <c:v>1980</c:v>
                  </c:pt>
                  <c:pt idx="1">
                    <c:v>1981</c:v>
                  </c:pt>
                  <c:pt idx="2">
                    <c:v>1982</c:v>
                  </c:pt>
                  <c:pt idx="3">
                    <c:v>1983</c:v>
                  </c:pt>
                  <c:pt idx="4">
                    <c:v>1984</c:v>
                  </c:pt>
                  <c:pt idx="5">
                    <c:v>1985</c:v>
                  </c:pt>
                  <c:pt idx="6">
                    <c:v>1986</c:v>
                  </c:pt>
                  <c:pt idx="7">
                    <c:v>1987</c:v>
                  </c:pt>
                  <c:pt idx="8">
                    <c:v>1988</c:v>
                  </c:pt>
                  <c:pt idx="9">
                    <c:v>1989</c:v>
                  </c:pt>
                  <c:pt idx="10">
                    <c:v>1990</c:v>
                  </c:pt>
                  <c:pt idx="11">
                    <c:v>1991</c:v>
                  </c:pt>
                  <c:pt idx="12">
                    <c:v>1992</c:v>
                  </c:pt>
                  <c:pt idx="13">
                    <c:v>1993</c:v>
                  </c:pt>
                  <c:pt idx="14">
                    <c:v>1994</c:v>
                  </c:pt>
                  <c:pt idx="15">
                    <c:v>1995</c:v>
                  </c:pt>
                  <c:pt idx="16">
                    <c:v>1996</c:v>
                  </c:pt>
                  <c:pt idx="17">
                    <c:v>1997</c:v>
                  </c:pt>
                  <c:pt idx="18">
                    <c:v>1998</c:v>
                  </c:pt>
                  <c:pt idx="19">
                    <c:v>1999</c:v>
                  </c:pt>
                  <c:pt idx="20">
                    <c:v>2000</c:v>
                  </c:pt>
                  <c:pt idx="21">
                    <c:v>2001</c:v>
                  </c:pt>
                  <c:pt idx="22">
                    <c:v>2002</c:v>
                  </c:pt>
                  <c:pt idx="23">
                    <c:v>2003</c:v>
                  </c:pt>
                  <c:pt idx="24">
                    <c:v>2004</c:v>
                  </c:pt>
                  <c:pt idx="25">
                    <c:v>2005</c:v>
                  </c:pt>
                  <c:pt idx="26">
                    <c:v>2006</c:v>
                  </c:pt>
                  <c:pt idx="27">
                    <c:v>2007</c:v>
                  </c:pt>
                  <c:pt idx="28">
                    <c:v>2008</c:v>
                  </c:pt>
                  <c:pt idx="29">
                    <c:v>2009</c:v>
                  </c:pt>
                  <c:pt idx="30">
                    <c:v>2010</c:v>
                  </c:pt>
                  <c:pt idx="31">
                    <c:v>2011</c:v>
                  </c:pt>
                  <c:pt idx="32">
                    <c:v>2012</c:v>
                  </c:pt>
                  <c:pt idx="33">
                    <c:v>2013</c:v>
                  </c:pt>
                  <c:pt idx="34">
                    <c:v>2014</c:v>
                  </c:pt>
                  <c:pt idx="35">
                    <c:v>2015</c:v>
                  </c:pt>
                  <c:pt idx="36">
                    <c:v>2016</c:v>
                  </c:pt>
                  <c:pt idx="37">
                    <c:v>2017</c:v>
                  </c:pt>
                  <c:pt idx="38">
                    <c:v>2018</c:v>
                  </c:pt>
                  <c:pt idx="39">
                    <c:v>2019</c:v>
                  </c:pt>
                  <c:pt idx="40">
                    <c:v>2020</c:v>
                  </c:pt>
                  <c:pt idx="41">
                    <c:v>2021</c:v>
                  </c:pt>
                  <c:pt idx="42">
                    <c:v>2022</c:v>
                  </c:pt>
                  <c:pt idx="43">
                    <c:v>2023</c:v>
                  </c:pt>
                  <c:pt idx="44">
                    <c:v>2024</c:v>
                  </c:pt>
                </c:lvl>
              </c:multiLvlStrCache>
            </c:multiLvlStrRef>
          </c:cat>
          <c:val>
            <c:numRef>
              <c:f>Sheet1!$C$2:$C$46</c:f>
              <c:numCache>
                <c:formatCode>General</c:formatCode>
                <c:ptCount val="45"/>
                <c:pt idx="0">
                  <c:v>704</c:v>
                </c:pt>
                <c:pt idx="1">
                  <c:v>765</c:v>
                </c:pt>
                <c:pt idx="2">
                  <c:v>550</c:v>
                </c:pt>
                <c:pt idx="3">
                  <c:v>730</c:v>
                </c:pt>
                <c:pt idx="4">
                  <c:v>688</c:v>
                </c:pt>
                <c:pt idx="5">
                  <c:v>590</c:v>
                </c:pt>
                <c:pt idx="6">
                  <c:v>629</c:v>
                </c:pt>
                <c:pt idx="7">
                  <c:v>742</c:v>
                </c:pt>
                <c:pt idx="8">
                  <c:v>652</c:v>
                </c:pt>
                <c:pt idx="9">
                  <c:v>757</c:v>
                </c:pt>
                <c:pt idx="10">
                  <c:v>661</c:v>
                </c:pt>
                <c:pt idx="11">
                  <c:v>564</c:v>
                </c:pt>
                <c:pt idx="12">
                  <c:v>565</c:v>
                </c:pt>
                <c:pt idx="13">
                  <c:v>553</c:v>
                </c:pt>
                <c:pt idx="14">
                  <c:v>498</c:v>
                </c:pt>
                <c:pt idx="15">
                  <c:v>432</c:v>
                </c:pt>
                <c:pt idx="16">
                  <c:v>386</c:v>
                </c:pt>
                <c:pt idx="17">
                  <c:v>420</c:v>
                </c:pt>
                <c:pt idx="18">
                  <c:v>453</c:v>
                </c:pt>
                <c:pt idx="19">
                  <c:v>455</c:v>
                </c:pt>
                <c:pt idx="20">
                  <c:v>431</c:v>
                </c:pt>
                <c:pt idx="21">
                  <c:v>534</c:v>
                </c:pt>
                <c:pt idx="22">
                  <c:v>526</c:v>
                </c:pt>
                <c:pt idx="23">
                  <c:v>468</c:v>
                </c:pt>
                <c:pt idx="24">
                  <c:v>565</c:v>
                </c:pt>
                <c:pt idx="25">
                  <c:v>584</c:v>
                </c:pt>
                <c:pt idx="26">
                  <c:v>574</c:v>
                </c:pt>
                <c:pt idx="27">
                  <c:v>629</c:v>
                </c:pt>
                <c:pt idx="28">
                  <c:v>685</c:v>
                </c:pt>
                <c:pt idx="29">
                  <c:v>822</c:v>
                </c:pt>
                <c:pt idx="30">
                  <c:v>951</c:v>
                </c:pt>
                <c:pt idx="31">
                  <c:v>1065</c:v>
                </c:pt>
                <c:pt idx="32">
                  <c:v>1294</c:v>
                </c:pt>
                <c:pt idx="33">
                  <c:v>1210</c:v>
                </c:pt>
                <c:pt idx="34">
                  <c:v>1246</c:v>
                </c:pt>
                <c:pt idx="35">
                  <c:v>1364</c:v>
                </c:pt>
                <c:pt idx="36">
                  <c:v>1310</c:v>
                </c:pt>
                <c:pt idx="37">
                  <c:v>1334</c:v>
                </c:pt>
                <c:pt idx="38">
                  <c:v>1555</c:v>
                </c:pt>
                <c:pt idx="39">
                  <c:v>1305</c:v>
                </c:pt>
                <c:pt idx="40">
                  <c:v>1132</c:v>
                </c:pt>
                <c:pt idx="41">
                  <c:v>1117</c:v>
                </c:pt>
                <c:pt idx="42">
                  <c:v>983</c:v>
                </c:pt>
                <c:pt idx="43">
                  <c:v>978</c:v>
                </c:pt>
                <c:pt idx="44">
                  <c:v>1172</c:v>
                </c:pt>
              </c:numCache>
            </c:numRef>
          </c:val>
          <c:smooth val="0"/>
        </c:ser>
        <c:ser>
          <c:idx val="2"/>
          <c:order val="2"/>
          <c:tx>
            <c:strRef>
              <c:f>Sheet1!$D$1</c:f>
              <c:strCache>
                <c:ptCount val="1"/>
                <c:pt idx="0">
                  <c:v>Brazil</c:v>
                </c:pt>
              </c:strCache>
            </c:strRef>
          </c:tx>
          <c:spPr>
            <a:solidFill>
              <a:srgbClr val="6E7B99"/>
            </a:solidFill>
            <a:ln w="25400" cap="flat">
              <a:solidFill>
                <a:srgbClr val="6E7B99"/>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6E7B99"/>
              </a:solidFill>
              <a:ln w="9525" cap="flat">
                <a:solidFill>
                  <a:srgbClr val="6E7B99"/>
                </a:solidFill>
                <a:prstDash val="solid"/>
                <a:round/>
              </a:ln>
              <a:effectLst/>
            </c:spPr>
          </c:marker>
          <c:cat>
            <c:multiLvlStrRef>
              <c:f>Sheet1!$A$2:$A$46</c:f>
              <c:multiLvlStrCache>
                <c:ptCount val="45"/>
                <c:lvl>
                  <c:pt idx="0">
                    <c:v>1980</c:v>
                  </c:pt>
                  <c:pt idx="1">
                    <c:v>1981</c:v>
                  </c:pt>
                  <c:pt idx="2">
                    <c:v>1982</c:v>
                  </c:pt>
                  <c:pt idx="3">
                    <c:v>1983</c:v>
                  </c:pt>
                  <c:pt idx="4">
                    <c:v>1984</c:v>
                  </c:pt>
                  <c:pt idx="5">
                    <c:v>1985</c:v>
                  </c:pt>
                  <c:pt idx="6">
                    <c:v>1986</c:v>
                  </c:pt>
                  <c:pt idx="7">
                    <c:v>1987</c:v>
                  </c:pt>
                  <c:pt idx="8">
                    <c:v>1988</c:v>
                  </c:pt>
                  <c:pt idx="9">
                    <c:v>1989</c:v>
                  </c:pt>
                  <c:pt idx="10">
                    <c:v>1990</c:v>
                  </c:pt>
                  <c:pt idx="11">
                    <c:v>1991</c:v>
                  </c:pt>
                  <c:pt idx="12">
                    <c:v>1992</c:v>
                  </c:pt>
                  <c:pt idx="13">
                    <c:v>1993</c:v>
                  </c:pt>
                  <c:pt idx="14">
                    <c:v>1994</c:v>
                  </c:pt>
                  <c:pt idx="15">
                    <c:v>1995</c:v>
                  </c:pt>
                  <c:pt idx="16">
                    <c:v>1996</c:v>
                  </c:pt>
                  <c:pt idx="17">
                    <c:v>1997</c:v>
                  </c:pt>
                  <c:pt idx="18">
                    <c:v>1998</c:v>
                  </c:pt>
                  <c:pt idx="19">
                    <c:v>1999</c:v>
                  </c:pt>
                  <c:pt idx="20">
                    <c:v>2000</c:v>
                  </c:pt>
                  <c:pt idx="21">
                    <c:v>2001</c:v>
                  </c:pt>
                  <c:pt idx="22">
                    <c:v>2002</c:v>
                  </c:pt>
                  <c:pt idx="23">
                    <c:v>2003</c:v>
                  </c:pt>
                  <c:pt idx="24">
                    <c:v>2004</c:v>
                  </c:pt>
                  <c:pt idx="25">
                    <c:v>2005</c:v>
                  </c:pt>
                  <c:pt idx="26">
                    <c:v>2006</c:v>
                  </c:pt>
                  <c:pt idx="27">
                    <c:v>2007</c:v>
                  </c:pt>
                  <c:pt idx="28">
                    <c:v>2008</c:v>
                  </c:pt>
                  <c:pt idx="29">
                    <c:v>2009</c:v>
                  </c:pt>
                  <c:pt idx="30">
                    <c:v>2010</c:v>
                  </c:pt>
                  <c:pt idx="31">
                    <c:v>2011</c:v>
                  </c:pt>
                  <c:pt idx="32">
                    <c:v>2012</c:v>
                  </c:pt>
                  <c:pt idx="33">
                    <c:v>2013</c:v>
                  </c:pt>
                  <c:pt idx="34">
                    <c:v>2014</c:v>
                  </c:pt>
                  <c:pt idx="35">
                    <c:v>2015</c:v>
                  </c:pt>
                  <c:pt idx="36">
                    <c:v>2016</c:v>
                  </c:pt>
                  <c:pt idx="37">
                    <c:v>2017</c:v>
                  </c:pt>
                  <c:pt idx="38">
                    <c:v>2018</c:v>
                  </c:pt>
                  <c:pt idx="39">
                    <c:v>2019</c:v>
                  </c:pt>
                  <c:pt idx="40">
                    <c:v>2020</c:v>
                  </c:pt>
                  <c:pt idx="41">
                    <c:v>2021</c:v>
                  </c:pt>
                  <c:pt idx="42">
                    <c:v>2022</c:v>
                  </c:pt>
                  <c:pt idx="43">
                    <c:v>2023</c:v>
                  </c:pt>
                  <c:pt idx="44">
                    <c:v>2024</c:v>
                  </c:pt>
                </c:lvl>
              </c:multiLvlStrCache>
            </c:multiLvlStrRef>
          </c:cat>
          <c:val>
            <c:numRef>
              <c:f>Sheet1!$D$2:$D$46</c:f>
              <c:numCache>
                <c:formatCode>General</c:formatCode>
                <c:ptCount val="45"/>
                <c:pt idx="0">
                  <c:v>2149</c:v>
                </c:pt>
                <c:pt idx="1">
                  <c:v>2171</c:v>
                </c:pt>
                <c:pt idx="2">
                  <c:v>2116</c:v>
                </c:pt>
                <c:pt idx="3">
                  <c:v>2302</c:v>
                </c:pt>
                <c:pt idx="4">
                  <c:v>2062</c:v>
                </c:pt>
                <c:pt idx="5">
                  <c:v>1954</c:v>
                </c:pt>
                <c:pt idx="6">
                  <c:v>1855</c:v>
                </c:pt>
                <c:pt idx="7">
                  <c:v>2451</c:v>
                </c:pt>
                <c:pt idx="8">
                  <c:v>2338</c:v>
                </c:pt>
                <c:pt idx="9">
                  <c:v>2323</c:v>
                </c:pt>
                <c:pt idx="10">
                  <c:v>2389</c:v>
                </c:pt>
                <c:pt idx="11">
                  <c:v>2319</c:v>
                </c:pt>
                <c:pt idx="12">
                  <c:v>2100</c:v>
                </c:pt>
                <c:pt idx="13">
                  <c:v>2429</c:v>
                </c:pt>
                <c:pt idx="14">
                  <c:v>2269</c:v>
                </c:pt>
                <c:pt idx="15">
                  <c:v>2707</c:v>
                </c:pt>
                <c:pt idx="16">
                  <c:v>2611</c:v>
                </c:pt>
                <c:pt idx="17">
                  <c:v>2756</c:v>
                </c:pt>
                <c:pt idx="18">
                  <c:v>2491</c:v>
                </c:pt>
                <c:pt idx="19">
                  <c:v>2816</c:v>
                </c:pt>
                <c:pt idx="20">
                  <c:v>3179</c:v>
                </c:pt>
                <c:pt idx="21">
                  <c:v>3439</c:v>
                </c:pt>
                <c:pt idx="22">
                  <c:v>3481</c:v>
                </c:pt>
                <c:pt idx="23">
                  <c:v>3866</c:v>
                </c:pt>
                <c:pt idx="24">
                  <c:v>4044</c:v>
                </c:pt>
                <c:pt idx="25">
                  <c:v>4054</c:v>
                </c:pt>
                <c:pt idx="26">
                  <c:v>3956</c:v>
                </c:pt>
                <c:pt idx="27">
                  <c:v>4194</c:v>
                </c:pt>
                <c:pt idx="28">
                  <c:v>4280</c:v>
                </c:pt>
                <c:pt idx="29">
                  <c:v>4271</c:v>
                </c:pt>
                <c:pt idx="30">
                  <c:v>4228</c:v>
                </c:pt>
                <c:pt idx="31">
                  <c:v>4695</c:v>
                </c:pt>
                <c:pt idx="32">
                  <c:v>4798</c:v>
                </c:pt>
                <c:pt idx="33">
                  <c:v>4959</c:v>
                </c:pt>
                <c:pt idx="34">
                  <c:v>4659</c:v>
                </c:pt>
                <c:pt idx="35">
                  <c:v>4641</c:v>
                </c:pt>
                <c:pt idx="36">
                  <c:v>5200</c:v>
                </c:pt>
                <c:pt idx="37">
                  <c:v>5480</c:v>
                </c:pt>
                <c:pt idx="38">
                  <c:v>4980</c:v>
                </c:pt>
                <c:pt idx="39">
                  <c:v>5464</c:v>
                </c:pt>
                <c:pt idx="40">
                  <c:v>5280</c:v>
                </c:pt>
                <c:pt idx="41">
                  <c:v>4666</c:v>
                </c:pt>
                <c:pt idx="42">
                  <c:v>4398</c:v>
                </c:pt>
                <c:pt idx="43">
                  <c:v>4973</c:v>
                </c:pt>
                <c:pt idx="44">
                  <c:v>5752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A6478"/>
                </a:solidFill>
                <a:latin typeface="+mn-lt"/>
              </a:defRPr>
            </a:pPr>
            <a:endParaRPr lang="en-US"/>
          </a:p>
        </c:txPr>
        <c:crossAx val="2094734552"/>
        <c:crosses val="autoZero"/>
        <c:auto val="1"/>
        <c:lblAlgn val="ctr"/>
        <c:noMultiLvlLbl val="1"/>
        <c:tickLblSkip val="5"/>
      </c:catAx>
      <c:valAx>
        <c:axId val="2094734552"/>
        <c:scaling>
          <c:orientation val="minMax"/>
        </c:scaling>
        <c:delete val="0"/>
        <c:axPos val="l"/>
        <c:majorGridlines>
          <c:spPr>
            <a:ln w="12700" cap="flat">
              <a:solidFill>
                <a:srgbClr val="E8E4D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6478"/>
                </a:solidFill>
                <a:latin typeface="+mn-lt"/>
              </a:defRPr>
            </a:pPr>
            <a:endParaRPr lang="en-US"/>
          </a:p>
        </c:txPr>
        <c:crossAx val="2094734554"/>
        <c:crosses val="autoZero"/>
        <c:crossBetween val="between"/>
      </c:valAx>
      <c:spPr>
        <a:noFill/>
        <a:ln w="12700" cap="flat">
          <a:solidFill>
            <a:srgbClr val="FFFFFF"/>
          </a:solidFill>
        </a:ln>
        <a:effectLst/>
      </c:spPr>
    </c:plotArea>
    <c:legend>
      <c:legendPos val="b"/>
      <c:overlay val="0"/>
      <c:txPr>
        <a:bodyPr/>
        <a:lstStyle/>
        <a:p>
          <a:pPr>
            <a:defRPr sz="1000">
              <a:solidFill>
                <a:srgbClr val="5A6478"/>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Korea</c:v>
                </c:pt>
              </c:strCache>
            </c:strRef>
          </c:tx>
          <c:spPr>
            <a:solidFill>
              <a:srgbClr val="1F6F6B"/>
            </a:solidFill>
            <a:ln w="25400" cap="flat">
              <a:solidFill>
                <a:srgbClr val="1F6F6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1F6F6B"/>
              </a:solidFill>
              <a:ln w="9525" cap="flat">
                <a:solidFill>
                  <a:srgbClr val="1F6F6B"/>
                </a:solidFill>
                <a:prstDash val="solid"/>
                <a:round/>
              </a:ln>
              <a:effectLst/>
            </c:spPr>
          </c:marker>
          <c:cat>
            <c:multiLvlStrRef>
              <c:f>Sheet1!$A$2:$A$66</c:f>
              <c:multiLvlStrCache>
                <c:ptCount val="65"/>
                <c:lvl>
                  <c:pt idx="0">
                    <c:v>1960</c:v>
                  </c:pt>
                  <c:pt idx="1">
                    <c:v>1961</c:v>
                  </c:pt>
                  <c:pt idx="2">
                    <c:v>1962</c:v>
                  </c:pt>
                  <c:pt idx="3">
                    <c:v>1963</c:v>
                  </c:pt>
                  <c:pt idx="4">
                    <c:v>1964</c:v>
                  </c:pt>
                  <c:pt idx="5">
                    <c:v>1965</c:v>
                  </c:pt>
                  <c:pt idx="6">
                    <c:v>1966</c:v>
                  </c:pt>
                  <c:pt idx="7">
                    <c:v>1967</c:v>
                  </c:pt>
                  <c:pt idx="8">
                    <c:v>1968</c:v>
                  </c:pt>
                  <c:pt idx="9">
                    <c:v>1969</c:v>
                  </c:pt>
                  <c:pt idx="10">
                    <c:v>1970</c:v>
                  </c:pt>
                  <c:pt idx="11">
                    <c:v>1971</c:v>
                  </c:pt>
                  <c:pt idx="12">
                    <c:v>1972</c:v>
                  </c:pt>
                  <c:pt idx="13">
                    <c:v>1973</c:v>
                  </c:pt>
                  <c:pt idx="14">
                    <c:v>1974</c:v>
                  </c:pt>
                  <c:pt idx="15">
                    <c:v>1975</c:v>
                  </c:pt>
                  <c:pt idx="16">
                    <c:v>1976</c:v>
                  </c:pt>
                  <c:pt idx="17">
                    <c:v>1977</c:v>
                  </c:pt>
                  <c:pt idx="18">
                    <c:v>1978</c:v>
                  </c:pt>
                  <c:pt idx="19">
                    <c:v>1979</c:v>
                  </c:pt>
                  <c:pt idx="20">
                    <c:v>1980</c:v>
                  </c:pt>
                  <c:pt idx="21">
                    <c:v>1981</c:v>
                  </c:pt>
                  <c:pt idx="22">
                    <c:v>1982</c:v>
                  </c:pt>
                  <c:pt idx="23">
                    <c:v>1983</c:v>
                  </c:pt>
                  <c:pt idx="24">
                    <c:v>1984</c:v>
                  </c:pt>
                  <c:pt idx="25">
                    <c:v>1985</c:v>
                  </c:pt>
                  <c:pt idx="26">
                    <c:v>1986</c:v>
                  </c:pt>
                  <c:pt idx="27">
                    <c:v>1987</c:v>
                  </c:pt>
                  <c:pt idx="28">
                    <c:v>1988</c:v>
                  </c:pt>
                  <c:pt idx="29">
                    <c:v>1989</c:v>
                  </c:pt>
                  <c:pt idx="30">
                    <c:v>1990</c:v>
                  </c:pt>
                  <c:pt idx="31">
                    <c:v>1991</c:v>
                  </c:pt>
                  <c:pt idx="32">
                    <c:v>1992</c:v>
                  </c:pt>
                  <c:pt idx="33">
                    <c:v>1993</c:v>
                  </c:pt>
                  <c:pt idx="34">
                    <c:v>1994</c:v>
                  </c:pt>
                  <c:pt idx="35">
                    <c:v>1995</c:v>
                  </c:pt>
                  <c:pt idx="36">
                    <c:v>1996</c:v>
                  </c:pt>
                  <c:pt idx="37">
                    <c:v>1997</c:v>
                  </c:pt>
                  <c:pt idx="38">
                    <c:v>1998</c:v>
                  </c:pt>
                  <c:pt idx="39">
                    <c:v>1999</c:v>
                  </c:pt>
                  <c:pt idx="40">
                    <c:v>2000</c:v>
                  </c:pt>
                  <c:pt idx="41">
                    <c:v>2001</c:v>
                  </c:pt>
                  <c:pt idx="42">
                    <c:v>2002</c:v>
                  </c:pt>
                  <c:pt idx="43">
                    <c:v>2003</c:v>
                  </c:pt>
                  <c:pt idx="44">
                    <c:v>2004</c:v>
                  </c:pt>
                  <c:pt idx="45">
                    <c:v>2005</c:v>
                  </c:pt>
                  <c:pt idx="46">
                    <c:v>2006</c:v>
                  </c:pt>
                  <c:pt idx="47">
                    <c:v>2007</c:v>
                  </c:pt>
                  <c:pt idx="48">
                    <c:v>2008</c:v>
                  </c:pt>
                  <c:pt idx="49">
                    <c:v>2009</c:v>
                  </c:pt>
                  <c:pt idx="50">
                    <c:v>2010</c:v>
                  </c:pt>
                  <c:pt idx="51">
                    <c:v>2011</c:v>
                  </c:pt>
                  <c:pt idx="52">
                    <c:v>2012</c:v>
                  </c:pt>
                  <c:pt idx="53">
                    <c:v>2013</c:v>
                  </c:pt>
                  <c:pt idx="54">
                    <c:v>2014</c:v>
                  </c:pt>
                  <c:pt idx="55">
                    <c:v>2015</c:v>
                  </c:pt>
                  <c:pt idx="56">
                    <c:v>2016</c:v>
                  </c:pt>
                  <c:pt idx="57">
                    <c:v>2017</c:v>
                  </c:pt>
                  <c:pt idx="58">
                    <c:v>2018</c:v>
                  </c:pt>
                  <c:pt idx="59">
                    <c:v>2019</c:v>
                  </c:pt>
                  <c:pt idx="60">
                    <c:v>2020</c:v>
                  </c:pt>
                  <c:pt idx="61">
                    <c:v>2021</c:v>
                  </c:pt>
                  <c:pt idx="62">
                    <c:v>2022</c:v>
                  </c:pt>
                  <c:pt idx="63">
                    <c:v>2023</c:v>
                  </c:pt>
                  <c:pt idx="64">
                    <c:v>2024</c:v>
                  </c:pt>
                </c:lvl>
              </c:multiLvlStrCache>
            </c:multiLvlStrRef>
          </c:cat>
          <c:val>
            <c:numRef>
              <c:f>Sheet1!$B$2:$B$66</c:f>
              <c:numCache>
                <c:formatCode>General</c:formatCode>
                <c:ptCount val="65"/>
                <c:pt idx="0">
                  <c:v>1037.72899231615</c:v>
                </c:pt>
                <c:pt idx="1">
                  <c:v>1077.10464038579</c:v>
                </c:pt>
                <c:pt idx="2">
                  <c:v>1087.79362228726</c:v>
                </c:pt>
                <c:pt idx="3">
                  <c:v>1153.23486916692</c:v>
                </c:pt>
                <c:pt idx="4">
                  <c:v>1229.36998908154</c:v>
                </c:pt>
                <c:pt idx="5">
                  <c:v>1286.16625407866</c:v>
                </c:pt>
                <c:pt idx="6">
                  <c:v>1404.83811121824</c:v>
                </c:pt>
                <c:pt idx="7">
                  <c:v>1498.01049644544</c:v>
                </c:pt>
                <c:pt idx="8">
                  <c:v>1657.18854005249</c:v>
                </c:pt>
                <c:pt idx="9">
                  <c:v>1856.48418780744</c:v>
                </c:pt>
                <c:pt idx="10">
                  <c:v>2001.04656436772</c:v>
                </c:pt>
                <c:pt idx="11">
                  <c:v>2170.9646968132</c:v>
                </c:pt>
                <c:pt idx="12">
                  <c:v>2286.93666830827</c:v>
                </c:pt>
                <c:pt idx="13">
                  <c:v>2583.31158461691</c:v>
                </c:pt>
                <c:pt idx="14">
                  <c:v>2784.47241806545</c:v>
                </c:pt>
                <c:pt idx="15">
                  <c:v>2955.1963902217</c:v>
                </c:pt>
                <c:pt idx="16">
                  <c:v>3294.13497099216</c:v>
                </c:pt>
                <c:pt idx="17">
                  <c:v>3644.59385270464</c:v>
                </c:pt>
                <c:pt idx="18">
                  <c:v>3986.99777854343</c:v>
                </c:pt>
                <c:pt idx="19">
                  <c:v>4270.07298916474</c:v>
                </c:pt>
                <c:pt idx="20">
                  <c:v>4139.9606854608</c:v>
                </c:pt>
                <c:pt idx="21">
                  <c:v>4377.64026742067</c:v>
                </c:pt>
                <c:pt idx="22">
                  <c:v>4675.53053701243</c:v>
                </c:pt>
                <c:pt idx="23">
                  <c:v>5227.53893142287</c:v>
                </c:pt>
                <c:pt idx="24">
                  <c:v>5712.63984757483</c:v>
                </c:pt>
                <c:pt idx="25">
                  <c:v>6105.74268983951</c:v>
                </c:pt>
                <c:pt idx="26">
                  <c:v>6740.69941617276</c:v>
                </c:pt>
                <c:pt idx="27">
                  <c:v>7535.12660432782</c:v>
                </c:pt>
                <c:pt idx="28">
                  <c:v>8367.04656522944</c:v>
                </c:pt>
                <c:pt idx="29">
                  <c:v>8878.29655251462</c:v>
                </c:pt>
                <c:pt idx="30">
                  <c:v>9672.57845182894</c:v>
                </c:pt>
                <c:pt idx="31">
                  <c:v>10618.8431439122</c:v>
                </c:pt>
                <c:pt idx="32">
                  <c:v>11176.560685871</c:v>
                </c:pt>
                <c:pt idx="33">
                  <c:v>11837.4692053797</c:v>
                </c:pt>
                <c:pt idx="34">
                  <c:v>12817.2447824958</c:v>
                </c:pt>
                <c:pt idx="35">
                  <c:v>13924.3044000347</c:v>
                </c:pt>
                <c:pt idx="36">
                  <c:v>14894.3278834104</c:v>
                </c:pt>
                <c:pt idx="37">
                  <c:v>15682.2717905189</c:v>
                </c:pt>
                <c:pt idx="38">
                  <c:v>14800.5091573641</c:v>
                </c:pt>
                <c:pt idx="39">
                  <c:v>16402.9168341094</c:v>
                </c:pt>
                <c:pt idx="40">
                  <c:v>17763.1353417297</c:v>
                </c:pt>
                <c:pt idx="41">
                  <c:v>18460.4288193829</c:v>
                </c:pt>
                <c:pt idx="42">
                  <c:v>19775.3800655139</c:v>
                </c:pt>
                <c:pt idx="43">
                  <c:v>20278.0406421178</c:v>
                </c:pt>
                <c:pt idx="44">
                  <c:v>21244.8136800528</c:v>
                </c:pt>
                <c:pt idx="45">
                  <c:v>22123.7613066851</c:v>
                </c:pt>
                <c:pt idx="46">
                  <c:v>23162.1860111297</c:v>
                </c:pt>
                <c:pt idx="47">
                  <c:v>24391.7651013448</c:v>
                </c:pt>
                <c:pt idx="48">
                  <c:v>24934.5396367691</c:v>
                </c:pt>
                <c:pt idx="49">
                  <c:v>25009.9148311999</c:v>
                </c:pt>
                <c:pt idx="50">
                  <c:v>26623.0487122927</c:v>
                </c:pt>
                <c:pt idx="51">
                  <c:v>27393.455357272</c:v>
                </c:pt>
                <c:pt idx="52">
                  <c:v>27944.0564190045</c:v>
                </c:pt>
                <c:pt idx="53">
                  <c:v>28732.711152033</c:v>
                </c:pt>
                <c:pt idx="54">
                  <c:v>29470.6732991655</c:v>
                </c:pt>
                <c:pt idx="55">
                  <c:v>30171.7906545222</c:v>
                </c:pt>
                <c:pt idx="56">
                  <c:v>31005.4072876388</c:v>
                </c:pt>
                <c:pt idx="57">
                  <c:v>31979.9027302467</c:v>
                </c:pt>
                <c:pt idx="58">
                  <c:v>32852.8887488942</c:v>
                </c:pt>
                <c:pt idx="59">
                  <c:v>33496.3113815643</c:v>
                </c:pt>
                <c:pt idx="60">
                  <c:v>33215.9298928108</c:v>
                </c:pt>
                <c:pt idx="61">
                  <c:v>34792.9397214598</c:v>
                </c:pt>
                <c:pt idx="62">
                  <c:v>35809.0138105144</c:v>
                </c:pt>
                <c:pt idx="63">
                  <c:v>36347.7036392553</c:v>
                </c:pt>
                <c:pt idx="64">
                  <c:v>37048.4264001496</c:v>
                </c:pt>
              </c:numCache>
            </c:numRef>
          </c:val>
          <c:smooth val="0"/>
        </c:ser>
        <c:ser>
          <c:idx val="1"/>
          <c:order val="1"/>
          <c:tx>
            <c:strRef>
              <c:f>Sheet1!$C$1</c:f>
              <c:strCache>
                <c:ptCount val="1"/>
                <c:pt idx="0">
                  <c:v>Mexico</c:v>
                </c:pt>
              </c:strCache>
            </c:strRef>
          </c:tx>
          <c:spPr>
            <a:solidFill>
              <a:srgbClr val="C25E3A"/>
            </a:solidFill>
            <a:ln w="25400" cap="flat">
              <a:solidFill>
                <a:srgbClr val="C25E3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C25E3A"/>
              </a:solidFill>
              <a:ln w="9525" cap="flat">
                <a:solidFill>
                  <a:srgbClr val="C25E3A"/>
                </a:solidFill>
                <a:prstDash val="solid"/>
                <a:round/>
              </a:ln>
              <a:effectLst/>
            </c:spPr>
          </c:marker>
          <c:cat>
            <c:multiLvlStrRef>
              <c:f>Sheet1!$A$2:$A$66</c:f>
              <c:multiLvlStrCache>
                <c:ptCount val="65"/>
                <c:lvl>
                  <c:pt idx="0">
                    <c:v>1960</c:v>
                  </c:pt>
                  <c:pt idx="1">
                    <c:v>1961</c:v>
                  </c:pt>
                  <c:pt idx="2">
                    <c:v>1962</c:v>
                  </c:pt>
                  <c:pt idx="3">
                    <c:v>1963</c:v>
                  </c:pt>
                  <c:pt idx="4">
                    <c:v>1964</c:v>
                  </c:pt>
                  <c:pt idx="5">
                    <c:v>1965</c:v>
                  </c:pt>
                  <c:pt idx="6">
                    <c:v>1966</c:v>
                  </c:pt>
                  <c:pt idx="7">
                    <c:v>1967</c:v>
                  </c:pt>
                  <c:pt idx="8">
                    <c:v>1968</c:v>
                  </c:pt>
                  <c:pt idx="9">
                    <c:v>1969</c:v>
                  </c:pt>
                  <c:pt idx="10">
                    <c:v>1970</c:v>
                  </c:pt>
                  <c:pt idx="11">
                    <c:v>1971</c:v>
                  </c:pt>
                  <c:pt idx="12">
                    <c:v>1972</c:v>
                  </c:pt>
                  <c:pt idx="13">
                    <c:v>1973</c:v>
                  </c:pt>
                  <c:pt idx="14">
                    <c:v>1974</c:v>
                  </c:pt>
                  <c:pt idx="15">
                    <c:v>1975</c:v>
                  </c:pt>
                  <c:pt idx="16">
                    <c:v>1976</c:v>
                  </c:pt>
                  <c:pt idx="17">
                    <c:v>1977</c:v>
                  </c:pt>
                  <c:pt idx="18">
                    <c:v>1978</c:v>
                  </c:pt>
                  <c:pt idx="19">
                    <c:v>1979</c:v>
                  </c:pt>
                  <c:pt idx="20">
                    <c:v>1980</c:v>
                  </c:pt>
                  <c:pt idx="21">
                    <c:v>1981</c:v>
                  </c:pt>
                  <c:pt idx="22">
                    <c:v>1982</c:v>
                  </c:pt>
                  <c:pt idx="23">
                    <c:v>1983</c:v>
                  </c:pt>
                  <c:pt idx="24">
                    <c:v>1984</c:v>
                  </c:pt>
                  <c:pt idx="25">
                    <c:v>1985</c:v>
                  </c:pt>
                  <c:pt idx="26">
                    <c:v>1986</c:v>
                  </c:pt>
                  <c:pt idx="27">
                    <c:v>1987</c:v>
                  </c:pt>
                  <c:pt idx="28">
                    <c:v>1988</c:v>
                  </c:pt>
                  <c:pt idx="29">
                    <c:v>1989</c:v>
                  </c:pt>
                  <c:pt idx="30">
                    <c:v>1990</c:v>
                  </c:pt>
                  <c:pt idx="31">
                    <c:v>1991</c:v>
                  </c:pt>
                  <c:pt idx="32">
                    <c:v>1992</c:v>
                  </c:pt>
                  <c:pt idx="33">
                    <c:v>1993</c:v>
                  </c:pt>
                  <c:pt idx="34">
                    <c:v>1994</c:v>
                  </c:pt>
                  <c:pt idx="35">
                    <c:v>1995</c:v>
                  </c:pt>
                  <c:pt idx="36">
                    <c:v>1996</c:v>
                  </c:pt>
                  <c:pt idx="37">
                    <c:v>1997</c:v>
                  </c:pt>
                  <c:pt idx="38">
                    <c:v>1998</c:v>
                  </c:pt>
                  <c:pt idx="39">
                    <c:v>1999</c:v>
                  </c:pt>
                  <c:pt idx="40">
                    <c:v>2000</c:v>
                  </c:pt>
                  <c:pt idx="41">
                    <c:v>2001</c:v>
                  </c:pt>
                  <c:pt idx="42">
                    <c:v>2002</c:v>
                  </c:pt>
                  <c:pt idx="43">
                    <c:v>2003</c:v>
                  </c:pt>
                  <c:pt idx="44">
                    <c:v>2004</c:v>
                  </c:pt>
                  <c:pt idx="45">
                    <c:v>2005</c:v>
                  </c:pt>
                  <c:pt idx="46">
                    <c:v>2006</c:v>
                  </c:pt>
                  <c:pt idx="47">
                    <c:v>2007</c:v>
                  </c:pt>
                  <c:pt idx="48">
                    <c:v>2008</c:v>
                  </c:pt>
                  <c:pt idx="49">
                    <c:v>2009</c:v>
                  </c:pt>
                  <c:pt idx="50">
                    <c:v>2010</c:v>
                  </c:pt>
                  <c:pt idx="51">
                    <c:v>2011</c:v>
                  </c:pt>
                  <c:pt idx="52">
                    <c:v>2012</c:v>
                  </c:pt>
                  <c:pt idx="53">
                    <c:v>2013</c:v>
                  </c:pt>
                  <c:pt idx="54">
                    <c:v>2014</c:v>
                  </c:pt>
                  <c:pt idx="55">
                    <c:v>2015</c:v>
                  </c:pt>
                  <c:pt idx="56">
                    <c:v>2016</c:v>
                  </c:pt>
                  <c:pt idx="57">
                    <c:v>2017</c:v>
                  </c:pt>
                  <c:pt idx="58">
                    <c:v>2018</c:v>
                  </c:pt>
                  <c:pt idx="59">
                    <c:v>2019</c:v>
                  </c:pt>
                  <c:pt idx="60">
                    <c:v>2020</c:v>
                  </c:pt>
                  <c:pt idx="61">
                    <c:v>2021</c:v>
                  </c:pt>
                  <c:pt idx="62">
                    <c:v>2022</c:v>
                  </c:pt>
                  <c:pt idx="63">
                    <c:v>2023</c:v>
                  </c:pt>
                  <c:pt idx="64">
                    <c:v>2024</c:v>
                  </c:pt>
                </c:lvl>
              </c:multiLvlStrCache>
            </c:multiLvlStrRef>
          </c:cat>
          <c:val>
            <c:numRef>
              <c:f>Sheet1!$C$2:$C$66</c:f>
              <c:numCache>
                <c:formatCode>General</c:formatCode>
                <c:ptCount val="65"/>
                <c:pt idx="0">
                  <c:v>4145.7930218096</c:v>
                </c:pt>
                <c:pt idx="1">
                  <c:v>4219.18150865952</c:v>
                </c:pt>
                <c:pt idx="2">
                  <c:v>4276.14326505314</c:v>
                </c:pt>
                <c:pt idx="3">
                  <c:v>4474.72750860693</c:v>
                </c:pt>
                <c:pt idx="4">
                  <c:v>4845.87442776407</c:v>
                </c:pt>
                <c:pt idx="5">
                  <c:v>5021.34799285334</c:v>
                </c:pt>
                <c:pt idx="6">
                  <c:v>5153.81469084834</c:v>
                </c:pt>
                <c:pt idx="7">
                  <c:v>5278.1082201842</c:v>
                </c:pt>
                <c:pt idx="8">
                  <c:v>5589.05119195572</c:v>
                </c:pt>
                <c:pt idx="9">
                  <c:v>5596.39687788976</c:v>
                </c:pt>
                <c:pt idx="10">
                  <c:v>5774.77045921641</c:v>
                </c:pt>
                <c:pt idx="11">
                  <c:v>5809.39879113389</c:v>
                </c:pt>
                <c:pt idx="12">
                  <c:v>6099.20317385848</c:v>
                </c:pt>
                <c:pt idx="13">
                  <c:v>6385.19714668136</c:v>
                </c:pt>
                <c:pt idx="14">
                  <c:v>6559.30112731544</c:v>
                </c:pt>
                <c:pt idx="15">
                  <c:v>6740.62499347658</c:v>
                </c:pt>
                <c:pt idx="16">
                  <c:v>6845.37111745706</c:v>
                </c:pt>
                <c:pt idx="17">
                  <c:v>6888.57894639639</c:v>
                </c:pt>
                <c:pt idx="18">
                  <c:v>7309.60711417928</c:v>
                </c:pt>
                <c:pt idx="19">
                  <c:v>7814.54966727278</c:v>
                </c:pt>
                <c:pt idx="20">
                  <c:v>8290.28898920873</c:v>
                </c:pt>
                <c:pt idx="21">
                  <c:v>8875.07151181967</c:v>
                </c:pt>
                <c:pt idx="22">
                  <c:v>8676.57130964166</c:v>
                </c:pt>
                <c:pt idx="23">
                  <c:v>8098.51642167462</c:v>
                </c:pt>
                <c:pt idx="24">
                  <c:v>8207.92337530335</c:v>
                </c:pt>
                <c:pt idx="25">
                  <c:v>8194.16249381362</c:v>
                </c:pt>
                <c:pt idx="26">
                  <c:v>7713.61215359658</c:v>
                </c:pt>
                <c:pt idx="27">
                  <c:v>7716.49731730638</c:v>
                </c:pt>
                <c:pt idx="28">
                  <c:v>7657.72747539452</c:v>
                </c:pt>
                <c:pt idx="29">
                  <c:v>7783.80581006403</c:v>
                </c:pt>
                <c:pt idx="30">
                  <c:v>8036.86114405886</c:v>
                </c:pt>
                <c:pt idx="31">
                  <c:v>8197.01179488111</c:v>
                </c:pt>
                <c:pt idx="32">
                  <c:v>8330.26426795593</c:v>
                </c:pt>
                <c:pt idx="33">
                  <c:v>8411.79621331335</c:v>
                </c:pt>
                <c:pt idx="34">
                  <c:v>8623.48043000831</c:v>
                </c:pt>
                <c:pt idx="35">
                  <c:v>7970.64038489585</c:v>
                </c:pt>
                <c:pt idx="36">
                  <c:v>8320.65295687947</c:v>
                </c:pt>
                <c:pt idx="37">
                  <c:v>8770.8448154628</c:v>
                </c:pt>
                <c:pt idx="38">
                  <c:v>9161.89527775798</c:v>
                </c:pt>
                <c:pt idx="39">
                  <c:v>9264.977292523</c:v>
                </c:pt>
                <c:pt idx="40">
                  <c:v>9581.96970202823</c:v>
                </c:pt>
                <c:pt idx="41">
                  <c:v>9398.35074347946</c:v>
                </c:pt>
                <c:pt idx="42">
                  <c:v>9242.27886122367</c:v>
                </c:pt>
                <c:pt idx="43">
                  <c:v>9221.99666685464</c:v>
                </c:pt>
                <c:pt idx="44">
                  <c:v>9421.28976132695</c:v>
                </c:pt>
                <c:pt idx="45">
                  <c:v>9491.51730268004</c:v>
                </c:pt>
                <c:pt idx="46">
                  <c:v>9813.82804186659</c:v>
                </c:pt>
                <c:pt idx="47">
                  <c:v>9877.69532636562</c:v>
                </c:pt>
                <c:pt idx="48">
                  <c:v>9826.34218448486</c:v>
                </c:pt>
                <c:pt idx="49">
                  <c:v>9074.11881448129</c:v>
                </c:pt>
                <c:pt idx="50">
                  <c:v>9389.06722076504</c:v>
                </c:pt>
                <c:pt idx="51">
                  <c:v>9575.93437734618</c:v>
                </c:pt>
                <c:pt idx="52">
                  <c:v>9782.51776251839</c:v>
                </c:pt>
                <c:pt idx="53">
                  <c:v>9738.71059661101</c:v>
                </c:pt>
                <c:pt idx="54">
                  <c:v>9862.4812534745</c:v>
                </c:pt>
                <c:pt idx="55">
                  <c:v>10021.2386113616</c:v>
                </c:pt>
                <c:pt idx="56">
                  <c:v>10100.5021195819</c:v>
                </c:pt>
                <c:pt idx="57">
                  <c:v>10193.7727188313</c:v>
                </c:pt>
                <c:pt idx="58">
                  <c:v>10296.8690940459</c:v>
                </c:pt>
                <c:pt idx="59">
                  <c:v>10159.4448367696</c:v>
                </c:pt>
                <c:pt idx="60">
                  <c:v>9234.64362226594</c:v>
                </c:pt>
                <c:pt idx="61">
                  <c:v>9728.05680024504</c:v>
                </c:pt>
                <c:pt idx="62">
                  <c:v>10013.2479227064</c:v>
                </c:pt>
                <c:pt idx="63">
                  <c:v>10234.6840265651</c:v>
                </c:pt>
                <c:pt idx="64">
                  <c:v>10284.0336925726</c:v>
                </c:pt>
              </c:numCache>
            </c:numRef>
          </c:val>
          <c:smooth val="0"/>
        </c:ser>
        <c:ser>
          <c:idx val="2"/>
          <c:order val="2"/>
          <c:tx>
            <c:strRef>
              <c:f>Sheet1!$D$1</c:f>
              <c:strCache>
                <c:ptCount val="1"/>
                <c:pt idx="0">
                  <c:v>Guatemala</c:v>
                </c:pt>
              </c:strCache>
            </c:strRef>
          </c:tx>
          <c:spPr>
            <a:solidFill>
              <a:srgbClr val="D9A441"/>
            </a:solidFill>
            <a:ln w="25400" cap="flat">
              <a:solidFill>
                <a:srgbClr val="D9A44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D9A441"/>
              </a:solidFill>
              <a:ln w="9525" cap="flat">
                <a:solidFill>
                  <a:srgbClr val="D9A441"/>
                </a:solidFill>
                <a:prstDash val="solid"/>
                <a:round/>
              </a:ln>
              <a:effectLst/>
            </c:spPr>
          </c:marker>
          <c:cat>
            <c:multiLvlStrRef>
              <c:f>Sheet1!$A$2:$A$66</c:f>
              <c:multiLvlStrCache>
                <c:ptCount val="65"/>
                <c:lvl>
                  <c:pt idx="0">
                    <c:v>1960</c:v>
                  </c:pt>
                  <c:pt idx="1">
                    <c:v>1961</c:v>
                  </c:pt>
                  <c:pt idx="2">
                    <c:v>1962</c:v>
                  </c:pt>
                  <c:pt idx="3">
                    <c:v>1963</c:v>
                  </c:pt>
                  <c:pt idx="4">
                    <c:v>1964</c:v>
                  </c:pt>
                  <c:pt idx="5">
                    <c:v>1965</c:v>
                  </c:pt>
                  <c:pt idx="6">
                    <c:v>1966</c:v>
                  </c:pt>
                  <c:pt idx="7">
                    <c:v>1967</c:v>
                  </c:pt>
                  <c:pt idx="8">
                    <c:v>1968</c:v>
                  </c:pt>
                  <c:pt idx="9">
                    <c:v>1969</c:v>
                  </c:pt>
                  <c:pt idx="10">
                    <c:v>1970</c:v>
                  </c:pt>
                  <c:pt idx="11">
                    <c:v>1971</c:v>
                  </c:pt>
                  <c:pt idx="12">
                    <c:v>1972</c:v>
                  </c:pt>
                  <c:pt idx="13">
                    <c:v>1973</c:v>
                  </c:pt>
                  <c:pt idx="14">
                    <c:v>1974</c:v>
                  </c:pt>
                  <c:pt idx="15">
                    <c:v>1975</c:v>
                  </c:pt>
                  <c:pt idx="16">
                    <c:v>1976</c:v>
                  </c:pt>
                  <c:pt idx="17">
                    <c:v>1977</c:v>
                  </c:pt>
                  <c:pt idx="18">
                    <c:v>1978</c:v>
                  </c:pt>
                  <c:pt idx="19">
                    <c:v>1979</c:v>
                  </c:pt>
                  <c:pt idx="20">
                    <c:v>1980</c:v>
                  </c:pt>
                  <c:pt idx="21">
                    <c:v>1981</c:v>
                  </c:pt>
                  <c:pt idx="22">
                    <c:v>1982</c:v>
                  </c:pt>
                  <c:pt idx="23">
                    <c:v>1983</c:v>
                  </c:pt>
                  <c:pt idx="24">
                    <c:v>1984</c:v>
                  </c:pt>
                  <c:pt idx="25">
                    <c:v>1985</c:v>
                  </c:pt>
                  <c:pt idx="26">
                    <c:v>1986</c:v>
                  </c:pt>
                  <c:pt idx="27">
                    <c:v>1987</c:v>
                  </c:pt>
                  <c:pt idx="28">
                    <c:v>1988</c:v>
                  </c:pt>
                  <c:pt idx="29">
                    <c:v>1989</c:v>
                  </c:pt>
                  <c:pt idx="30">
                    <c:v>1990</c:v>
                  </c:pt>
                  <c:pt idx="31">
                    <c:v>1991</c:v>
                  </c:pt>
                  <c:pt idx="32">
                    <c:v>1992</c:v>
                  </c:pt>
                  <c:pt idx="33">
                    <c:v>1993</c:v>
                  </c:pt>
                  <c:pt idx="34">
                    <c:v>1994</c:v>
                  </c:pt>
                  <c:pt idx="35">
                    <c:v>1995</c:v>
                  </c:pt>
                  <c:pt idx="36">
                    <c:v>1996</c:v>
                  </c:pt>
                  <c:pt idx="37">
                    <c:v>1997</c:v>
                  </c:pt>
                  <c:pt idx="38">
                    <c:v>1998</c:v>
                  </c:pt>
                  <c:pt idx="39">
                    <c:v>1999</c:v>
                  </c:pt>
                  <c:pt idx="40">
                    <c:v>2000</c:v>
                  </c:pt>
                  <c:pt idx="41">
                    <c:v>2001</c:v>
                  </c:pt>
                  <c:pt idx="42">
                    <c:v>2002</c:v>
                  </c:pt>
                  <c:pt idx="43">
                    <c:v>2003</c:v>
                  </c:pt>
                  <c:pt idx="44">
                    <c:v>2004</c:v>
                  </c:pt>
                  <c:pt idx="45">
                    <c:v>2005</c:v>
                  </c:pt>
                  <c:pt idx="46">
                    <c:v>2006</c:v>
                  </c:pt>
                  <c:pt idx="47">
                    <c:v>2007</c:v>
                  </c:pt>
                  <c:pt idx="48">
                    <c:v>2008</c:v>
                  </c:pt>
                  <c:pt idx="49">
                    <c:v>2009</c:v>
                  </c:pt>
                  <c:pt idx="50">
                    <c:v>2010</c:v>
                  </c:pt>
                  <c:pt idx="51">
                    <c:v>2011</c:v>
                  </c:pt>
                  <c:pt idx="52">
                    <c:v>2012</c:v>
                  </c:pt>
                  <c:pt idx="53">
                    <c:v>2013</c:v>
                  </c:pt>
                  <c:pt idx="54">
                    <c:v>2014</c:v>
                  </c:pt>
                  <c:pt idx="55">
                    <c:v>2015</c:v>
                  </c:pt>
                  <c:pt idx="56">
                    <c:v>2016</c:v>
                  </c:pt>
                  <c:pt idx="57">
                    <c:v>2017</c:v>
                  </c:pt>
                  <c:pt idx="58">
                    <c:v>2018</c:v>
                  </c:pt>
                  <c:pt idx="59">
                    <c:v>2019</c:v>
                  </c:pt>
                  <c:pt idx="60">
                    <c:v>2020</c:v>
                  </c:pt>
                  <c:pt idx="61">
                    <c:v>2021</c:v>
                  </c:pt>
                  <c:pt idx="62">
                    <c:v>2022</c:v>
                  </c:pt>
                  <c:pt idx="63">
                    <c:v>2023</c:v>
                  </c:pt>
                  <c:pt idx="64">
                    <c:v>2024</c:v>
                  </c:pt>
                </c:lvl>
              </c:multiLvlStrCache>
            </c:multiLvlStrRef>
          </c:cat>
          <c:val>
            <c:numRef>
              <c:f>Sheet1!$D$2:$D$66</c:f>
              <c:numCache>
                <c:formatCode>General</c:formatCode>
                <c:ptCount val="65"/>
                <c:pt idx="0">
                  <c:v>1884.56151789873</c:v>
                </c:pt>
                <c:pt idx="1">
                  <c:v>1908.03005015529</c:v>
                </c:pt>
                <c:pt idx="2">
                  <c:v>1917.85420336956</c:v>
                </c:pt>
                <c:pt idx="3">
                  <c:v>2040.17234187307</c:v>
                </c:pt>
                <c:pt idx="4">
                  <c:v>2073.58917300822</c:v>
                </c:pt>
                <c:pt idx="5">
                  <c:v>2102.46768897076</c:v>
                </c:pt>
                <c:pt idx="6">
                  <c:v>2156.03941417722</c:v>
                </c:pt>
                <c:pt idx="7">
                  <c:v>2182.52608765914</c:v>
                </c:pt>
                <c:pt idx="8">
                  <c:v>2309.26157484249</c:v>
                </c:pt>
                <c:pt idx="9">
                  <c:v>2354.71263385969</c:v>
                </c:pt>
                <c:pt idx="10">
                  <c:v>2424.60099055087</c:v>
                </c:pt>
                <c:pt idx="11">
                  <c:v>2494.63075277231</c:v>
                </c:pt>
                <c:pt idx="12">
                  <c:v>2609.49004937964</c:v>
                </c:pt>
                <c:pt idx="13">
                  <c:v>2715.38832929029</c:v>
                </c:pt>
                <c:pt idx="14">
                  <c:v>2816.26534690634</c:v>
                </c:pt>
                <c:pt idx="15">
                  <c:v>2802.06567003993</c:v>
                </c:pt>
                <c:pt idx="16">
                  <c:v>2944.83232742931</c:v>
                </c:pt>
                <c:pt idx="17">
                  <c:v>3105.80934677066</c:v>
                </c:pt>
                <c:pt idx="18">
                  <c:v>3181.46964570206</c:v>
                </c:pt>
                <c:pt idx="19">
                  <c:v>3249.09778808389</c:v>
                </c:pt>
                <c:pt idx="20">
                  <c:v>3287.02569465938</c:v>
                </c:pt>
                <c:pt idx="21">
                  <c:v>3226.26129373388</c:v>
                </c:pt>
                <c:pt idx="22">
                  <c:v>3041.6176008832</c:v>
                </c:pt>
                <c:pt idx="23">
                  <c:v>2891.73215349284</c:v>
                </c:pt>
                <c:pt idx="24">
                  <c:v>2825.72211867085</c:v>
                </c:pt>
                <c:pt idx="25">
                  <c:v>2730.1450010131</c:v>
                </c:pt>
                <c:pt idx="26">
                  <c:v>2659.14270106243</c:v>
                </c:pt>
                <c:pt idx="27">
                  <c:v>2678.48941109293</c:v>
                </c:pt>
                <c:pt idx="28">
                  <c:v>2705.90101135815</c:v>
                </c:pt>
                <c:pt idx="29">
                  <c:v>2734.55823253419</c:v>
                </c:pt>
                <c:pt idx="30">
                  <c:v>2741.53944249398</c:v>
                </c:pt>
                <c:pt idx="31">
                  <c:v>2765.88345519371</c:v>
                </c:pt>
                <c:pt idx="32">
                  <c:v>2823.67347786611</c:v>
                </c:pt>
                <c:pt idx="33">
                  <c:v>2857.29765344313</c:v>
                </c:pt>
                <c:pt idx="34">
                  <c:v>2894.43254991164</c:v>
                </c:pt>
                <c:pt idx="35">
                  <c:v>2958.34981711979</c:v>
                </c:pt>
                <c:pt idx="36">
                  <c:v>2967.99499537336</c:v>
                </c:pt>
                <c:pt idx="37">
                  <c:v>3019.28867475021</c:v>
                </c:pt>
                <c:pt idx="38">
                  <c:v>3089.97742727983</c:v>
                </c:pt>
                <c:pt idx="39">
                  <c:v>3129.12226621472</c:v>
                </c:pt>
                <c:pt idx="40">
                  <c:v>3165.933886028</c:v>
                </c:pt>
                <c:pt idx="41">
                  <c:v>3166.20502444306</c:v>
                </c:pt>
                <c:pt idx="42">
                  <c:v>3213.26990763198</c:v>
                </c:pt>
                <c:pt idx="43">
                  <c:v>3222.15622111509</c:v>
                </c:pt>
                <c:pt idx="44">
                  <c:v>3250.20561194529</c:v>
                </c:pt>
                <c:pt idx="45">
                  <c:v>3284.81128421658</c:v>
                </c:pt>
                <c:pt idx="46">
                  <c:v>3388.15165081967</c:v>
                </c:pt>
                <c:pt idx="47">
                  <c:v>3527.77995621193</c:v>
                </c:pt>
                <c:pt idx="48">
                  <c:v>3569.93031541246</c:v>
                </c:pt>
                <c:pt idx="49">
                  <c:v>3516.19395579721</c:v>
                </c:pt>
                <c:pt idx="50">
                  <c:v>3546.62750929879</c:v>
                </c:pt>
                <c:pt idx="51">
                  <c:v>3621.37582644774</c:v>
                </c:pt>
                <c:pt idx="52">
                  <c:v>3655.57490299412</c:v>
                </c:pt>
                <c:pt idx="53">
                  <c:v>3717.30457960279</c:v>
                </c:pt>
                <c:pt idx="54">
                  <c:v>3809.61584332802</c:v>
                </c:pt>
                <c:pt idx="55">
                  <c:v>3893.50533299068</c:v>
                </c:pt>
                <c:pt idx="56">
                  <c:v>3924.7789643024</c:v>
                </c:pt>
                <c:pt idx="57">
                  <c:v>3972.74059262672</c:v>
                </c:pt>
                <c:pt idx="58">
                  <c:v>4040.21214374742</c:v>
                </c:pt>
                <c:pt idx="59">
                  <c:v>4139.12206338632</c:v>
                </c:pt>
                <c:pt idx="60">
                  <c:v>4005.83916360689</c:v>
                </c:pt>
                <c:pt idx="61">
                  <c:v>4268.62864461492</c:v>
                </c:pt>
                <c:pt idx="62">
                  <c:v>4383.90326160481</c:v>
                </c:pt>
                <c:pt idx="63">
                  <c:v>4469.05514652918</c:v>
                </c:pt>
                <c:pt idx="64">
                  <c:v>4564.21378502908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A6478"/>
                </a:solidFill>
                <a:latin typeface="+mn-lt"/>
              </a:defRPr>
            </a:pPr>
            <a:endParaRPr lang="en-US"/>
          </a:p>
        </c:txPr>
        <c:crossAx val="2094734552"/>
        <c:crosses val="autoZero"/>
        <c:auto val="1"/>
        <c:lblAlgn val="ctr"/>
        <c:noMultiLvlLbl val="1"/>
        <c:tickLblSkip val="8"/>
      </c:catAx>
      <c:valAx>
        <c:axId val="2094734552"/>
        <c:scaling>
          <c:orientation val="minMax"/>
        </c:scaling>
        <c:delete val="0"/>
        <c:axPos val="l"/>
        <c:majorGridlines>
          <c:spPr>
            <a:ln w="12700" cap="flat">
              <a:solidFill>
                <a:srgbClr val="E8E4DE"/>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6478"/>
                </a:solidFill>
                <a:latin typeface="+mn-lt"/>
              </a:defRPr>
            </a:pPr>
            <a:endParaRPr lang="en-US"/>
          </a:p>
        </c:txPr>
        <c:crossAx val="2094734554"/>
        <c:crosses val="autoZero"/>
        <c:crossBetween val="between"/>
      </c:valAx>
      <c:spPr>
        <a:noFill/>
        <a:ln w="12700" cap="flat">
          <a:solidFill>
            <a:srgbClr val="FFFFFF"/>
          </a:solidFill>
        </a:ln>
        <a:effectLst/>
      </c:spPr>
    </c:plotArea>
    <c:legend>
      <c:legendPos val="b"/>
      <c:overlay val="0"/>
      <c:txPr>
        <a:bodyPr/>
        <a:lstStyle/>
        <a:p>
          <a:pPr>
            <a:defRPr sz="1000">
              <a:solidFill>
                <a:srgbClr val="5A6478"/>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Researchers per million</c:v>
                </c:pt>
              </c:strCache>
            </c:strRef>
          </c:tx>
          <c:spPr>
            <a:solidFill>
              <a:srgbClr val="1F6F6B"/>
            </a:solidFill>
            <a:effectLst/>
          </c:spPr>
          <c:invertIfNegative val="0"/>
          <c:dLbls>
            <c:numFmt formatCode="#,##0" sourceLinked="0"/>
            <c:txPr>
              <a:bodyPr/>
              <a:lstStyle/>
              <a:p>
                <a:pPr>
                  <a:defRPr b="0" i="0" strike="noStrike" sz="1100" u="none">
                    <a:solidFill>
                      <a:srgbClr val="5A6478"/>
                    </a:solidFill>
                    <a:latin typeface="+mn-lt"/>
                  </a:defRPr>
                </a:pPr>
              </a:p>
            </c:txPr>
            <c:showLegendKey val="0"/>
            <c:showVal val="1"/>
            <c:showCatName val="0"/>
            <c:showSerName val="0"/>
            <c:showPercent val="0"/>
            <c:showBubbleSize val="0"/>
            <c:showLeaderLines val="0"/>
          </c:dLbls>
          <c:cat>
            <c:multiLvlStrRef>
              <c:f>Sheet1!$A$2:$A$5</c:f>
              <c:multiLvlStrCache>
                <c:ptCount val="4"/>
                <c:lvl>
                  <c:pt idx="0">
                    <c:v>Korea</c:v>
                  </c:pt>
                  <c:pt idx="1">
                    <c:v>Costa Rica</c:v>
                  </c:pt>
                  <c:pt idx="2">
                    <c:v>Mexico</c:v>
                  </c:pt>
                  <c:pt idx="3">
                    <c:v>Guatemala</c:v>
                  </c:pt>
                </c:lvl>
              </c:multiLvlStrCache>
            </c:multiLvlStrRef>
          </c:cat>
          <c:val>
            <c:numRef>
              <c:f>Sheet1!$B$2:$B$5</c:f>
              <c:numCache>
                <c:formatCode>General</c:formatCode>
                <c:ptCount val="4"/>
                <c:pt idx="0">
                  <c:v>9472</c:v>
                </c:pt>
                <c:pt idx="1">
                  <c:v>508</c:v>
                </c:pt>
                <c:pt idx="2">
                  <c:v>438</c:v>
                </c:pt>
                <c:pt idx="3">
                  <c:v>1</c:v>
                </c:pt>
              </c:numCache>
            </c:numRef>
          </c:val>
        </c:ser>
        <c:dLbls>
          <c:numFmt formatCode="#,##0" sourceLinked="0"/>
          <c:txPr>
            <a:bodyPr/>
            <a:lstStyle/>
            <a:p>
              <a:pPr>
                <a:defRPr b="0" i="0" strike="noStrike" sz="1100" u="none">
                  <a:solidFill>
                    <a:srgbClr val="5A6478"/>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5A6478"/>
                </a:solidFill>
                <a:latin typeface="+mn-lt"/>
              </a:defRPr>
            </a:pPr>
            <a:endParaRPr lang="en-US"/>
          </a:p>
        </c:txPr>
        <c:crossAx val="2094734552"/>
        <c:crosses val="autoZero"/>
        <c:auto val="1"/>
        <c:lblAlgn val="ctr"/>
        <c:noMultiLvlLbl val="1"/>
      </c:catAx>
      <c:valAx>
        <c:axId val="2094734552"/>
        <c:scaling>
          <c:orientation val="minMax"/>
        </c:scaling>
        <c:delete val="1"/>
        <c:axPos val="b"/>
        <c:majorGridlines>
          <c:spPr>
            <a:ln w="12700" cap="flat">
              <a:solidFill>
                <a:srgbClr val="E8E4DE"/>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A6478"/>
                </a:solidFill>
                <a:latin typeface="+mn-lt"/>
              </a:defRPr>
            </a:pPr>
            <a:endParaRPr lang="en-US"/>
          </a:p>
        </c:txPr>
        <c:crossAx val="2094734554"/>
        <c:crosses val="autoZero"/>
        <c:crossBetween val="between"/>
      </c:valAx>
      <c:spPr>
        <a:noFill/>
        <a:ln w="12700" cap="flat">
          <a:solidFill>
            <a:srgbClr val="FFFFFF"/>
          </a:solid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 1. Mexico and Central America, for the IDB. The question the Bank asked is why growth has been so disappointing. Our answer starts with one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finding in one line: this is not a mystery of culture or geography, it is a purchase nobody made. Two reasons. Three precedents in this region. One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 is chosen for political survival, not analytical elegance. The cheap visible one goes first because it buys room for the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subregion, but not one economy. Panama is seven times Nicaragua.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Mexico at 0.6 percent is the anomaly. The convergence story people expect from NAFTA is not in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signal. One number that tells you the capability is not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starting line. Forty-four years. Korea multiplied its filings by 158; Mexico by 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Korea 37,048 dollars. Mexico 10,284. Guatemala 4,564. Real income, not prices.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hinge of the deck. Pause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Thick bars in, hairlines out. Concept, not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Solid circles are the firm today. Hollow is the growth that never 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Korea has nine thousand times Guatemala's research workforce per head. That is the purchase.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Deliberately no numbers here. These are existence proofs, not benchmarks to copy line by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Fund a capability agency. One agency, one country, one industry at a time. It learns the industry itself, de-risks it, then hands it to firms and withdraws.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Reach the towns outside. Perroux's growth pole has five stages. Two of them fail by default, and those are the two the money attaches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the wall down. Pay for health and pensions from general tax, not from wages. This costs money before it saves money, and it is the only one that pays back inside one term.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Bands are sequencing, not costings. Each begins once the one before has shown something.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refuse to put a GDP number on this. That refusal is the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actions. The first is the ask; the other three are the work that makes it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here. Then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Shown only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1182B"/>
        </a:solidFill>
      </p:bgPr>
    </p:bg>
    <p:spTree>
      <p:nvGrpSpPr>
        <p:cNvPr id="1" name=""/>
        <p:cNvGrpSpPr/>
        <p:nvPr/>
      </p:nvGrpSpPr>
      <p:grpSpPr>
        <a:xfrm>
          <a:off x="0" y="0"/>
          <a:ext cx="0" cy="0"/>
          <a:chOff x="0" y="0"/>
          <a:chExt cx="0" cy="0"/>
        </a:xfrm>
      </p:grpSpPr>
      <p:sp>
        <p:nvSpPr>
          <p:cNvPr id="2" name="Text 0"/>
          <p:cNvSpPr/>
          <p:nvPr/>
        </p:nvSpPr>
        <p:spPr>
          <a:xfrm>
            <a:off x="822960" y="685800"/>
            <a:ext cx="10515600" cy="274320"/>
          </a:xfrm>
          <a:prstGeom prst="rect">
            <a:avLst/>
          </a:prstGeom>
          <a:noFill/>
          <a:ln/>
        </p:spPr>
        <p:txBody>
          <a:bodyPr wrap="square" lIns="0" tIns="0" rIns="0" bIns="0" rtlCol="0"/>
          <a:lstStyle/>
          <a:p>
            <a:pPr indent="0" marL="0">
              <a:buNone/>
            </a:pPr>
            <a:endParaRPr lang="en-US" sz="1100" dirty="0"/>
          </a:p>
        </p:txBody>
      </p:sp>
      <p:sp>
        <p:nvSpPr>
          <p:cNvPr id="3" name="Text 1"/>
          <p:cNvSpPr/>
          <p:nvPr/>
        </p:nvSpPr>
        <p:spPr>
          <a:xfrm>
            <a:off x="822960" y="1188720"/>
            <a:ext cx="10515600" cy="2194560"/>
          </a:xfrm>
          <a:prstGeom prst="rect">
            <a:avLst/>
          </a:prstGeom>
          <a:noFill/>
          <a:ln/>
        </p:spPr>
        <p:txBody>
          <a:bodyPr wrap="square" lIns="0" tIns="0" rIns="0" bIns="0" rtlCol="0"/>
          <a:lstStyle/>
          <a:p>
            <a:pPr indent="0" marL="0">
              <a:buNone/>
            </a:pPr>
            <a:endParaRPr lang="en-US" sz="4400" dirty="0"/>
          </a:p>
        </p:txBody>
      </p:sp>
      <p:sp>
        <p:nvSpPr>
          <p:cNvPr id="4" name="Text 2"/>
          <p:cNvSpPr/>
          <p:nvPr/>
        </p:nvSpPr>
        <p:spPr>
          <a:xfrm>
            <a:off x="822960" y="3566160"/>
            <a:ext cx="10515600" cy="2194560"/>
          </a:xfrm>
          <a:prstGeom prst="rect">
            <a:avLst/>
          </a:prstGeom>
          <a:noFill/>
          <a:ln/>
        </p:spPr>
        <p:txBody>
          <a:bodyPr wrap="square" lIns="0" tIns="0" rIns="0" bIns="0" rtlCol="0"/>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10515600" cy="274320"/>
          </a:xfrm>
          <a:prstGeom prst="rect">
            <a:avLst/>
          </a:prstGeom>
          <a:noFill/>
          <a:ln/>
        </p:spPr>
        <p:txBody>
          <a:bodyPr wrap="square" lIns="0" tIns="0" rIns="0" bIns="0" rtlCol="0"/>
          <a:lstStyle/>
          <a:p>
            <a:pPr indent="0" marL="0">
              <a:buNone/>
            </a:pPr>
            <a:endParaRPr lang="en-US" sz="1100" dirty="0"/>
          </a:p>
        </p:txBody>
      </p:sp>
      <p:sp>
        <p:nvSpPr>
          <p:cNvPr id="3" name="Text 1"/>
          <p:cNvSpPr/>
          <p:nvPr/>
        </p:nvSpPr>
        <p:spPr>
          <a:xfrm>
            <a:off x="822960" y="868680"/>
            <a:ext cx="6492240" cy="1371600"/>
          </a:xfrm>
          <a:prstGeom prst="rect">
            <a:avLst/>
          </a:prstGeom>
          <a:noFill/>
          <a:ln/>
        </p:spPr>
        <p:txBody>
          <a:bodyPr wrap="square" lIns="0" tIns="0" rIns="0" bIns="0" rtlCol="0"/>
          <a:lstStyle/>
          <a:p>
            <a:pPr indent="0" marL="0">
              <a:buNone/>
            </a:pPr>
            <a:endParaRPr lang="en-US" sz="3400" dirty="0"/>
          </a:p>
        </p:txBody>
      </p:sp>
      <p:sp>
        <p:nvSpPr>
          <p:cNvPr id="4" name="Text 2"/>
          <p:cNvSpPr/>
          <p:nvPr/>
        </p:nvSpPr>
        <p:spPr>
          <a:xfrm>
            <a:off x="822960" y="2331720"/>
            <a:ext cx="3931920" cy="3108960"/>
          </a:xfrm>
          <a:prstGeom prst="rect">
            <a:avLst/>
          </a:prstGeom>
          <a:noFill/>
          <a:ln/>
        </p:spPr>
        <p:txBody>
          <a:bodyPr wrap="square" lIns="0" tIns="0" rIns="0" bIns="0" rtlCol="0"/>
          <a:lstStyle/>
          <a:p>
            <a:pPr indent="0" marL="0">
              <a:buNone/>
            </a:pPr>
            <a:endParaRPr lang="en-US" sz="1400" dirty="0"/>
          </a:p>
        </p:txBody>
      </p:sp>
      <p:sp>
        <p:nvSpPr>
          <p:cNvPr id="5" name="Text 3"/>
          <p:cNvSpPr/>
          <p:nvPr/>
        </p:nvSpPr>
        <p:spPr>
          <a:xfrm>
            <a:off x="822960" y="6263640"/>
            <a:ext cx="10515600" cy="274320"/>
          </a:xfrm>
          <a:prstGeom prst="rect">
            <a:avLst/>
          </a:prstGeom>
          <a:noFill/>
          <a:ln/>
        </p:spPr>
        <p:txBody>
          <a:bodyPr wrap="square" lIns="0" tIns="0" rIns="0" bIns="0" rtlCol="0"/>
          <a:lstStyle/>
          <a:p>
            <a:pPr indent="0" marL="0">
              <a:buNone/>
            </a:pPr>
            <a:endParaRPr lang="en-US" sz="900" dirty="0"/>
          </a:p>
        </p:txBody>
      </p:sp>
      <p:sp>
        <p:nvSpPr>
          <p:cNvPr id="6" name="Text 4"/>
          <p:cNvSpPr/>
          <p:nvPr/>
        </p:nvSpPr>
        <p:spPr>
          <a:xfrm>
            <a:off x="822960" y="5989320"/>
            <a:ext cx="7315200" cy="228600"/>
          </a:xfrm>
          <a:prstGeom prst="rect">
            <a:avLst/>
          </a:prstGeom>
          <a:noFill/>
          <a:ln/>
        </p:spPr>
        <p:txBody>
          <a:bodyPr wrap="square" lIns="0" tIns="0" rIns="0" bIns="0" rtlCol="0" anchor="ctr"/>
          <a:lstStyle/>
          <a:p>
            <a:pPr indent="0" marL="0">
              <a:buNone/>
            </a:pPr>
            <a:r>
              <a:rPr lang="en-US" sz="900" dirty="0">
                <a:solidFill>
                  <a:srgbClr val="A9A399"/>
                </a:solidFill>
              </a:rPr>
              <a:t>Group 1 · IE University · for the Inter-American Development Bank</a:t>
            </a:r>
            <a:endParaRPr lang="en-US" sz="900" dirty="0"/>
          </a:p>
        </p:txBody>
      </p:sp>
      <p:sp>
        <p:nvSpPr>
          <p:cNvPr id="7" name="Text 5"/>
          <p:cNvSpPr/>
          <p:nvPr/>
        </p:nvSpPr>
        <p:spPr>
          <a:xfrm>
            <a:off x="5120640" y="1737360"/>
            <a:ext cx="6217920" cy="3931920"/>
          </a:xfrm>
          <a:prstGeom prst="rect">
            <a:avLst/>
          </a:prstGeom>
          <a:noFill/>
          <a:ln/>
        </p:spPr>
        <p:txBody>
          <a:bodyPr wrap="square" rtlCol="0"/>
          <a:lstStyle/>
          <a:p>
            <a:pPr indent="0" marL="0">
              <a:buNone/>
            </a:pP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WARM">
    <p:bg>
      <p:bgPr>
        <a:solidFill>
          <a:srgbClr val="F4F2EE"/>
        </a:solidFill>
      </p:bgPr>
    </p:bg>
    <p:spTree>
      <p:nvGrpSpPr>
        <p:cNvPr id="1" name=""/>
        <p:cNvGrpSpPr/>
        <p:nvPr/>
      </p:nvGrpSpPr>
      <p:grpSpPr>
        <a:xfrm>
          <a:off x="0" y="0"/>
          <a:ext cx="0" cy="0"/>
          <a:chOff x="0" y="0"/>
          <a:chExt cx="0" cy="0"/>
        </a:xfrm>
      </p:grpSpPr>
      <p:sp>
        <p:nvSpPr>
          <p:cNvPr id="2" name="Text 0"/>
          <p:cNvSpPr/>
          <p:nvPr/>
        </p:nvSpPr>
        <p:spPr>
          <a:xfrm>
            <a:off x="822960" y="502920"/>
            <a:ext cx="10515600" cy="274320"/>
          </a:xfrm>
          <a:prstGeom prst="rect">
            <a:avLst/>
          </a:prstGeom>
          <a:noFill/>
          <a:ln/>
        </p:spPr>
        <p:txBody>
          <a:bodyPr wrap="square" lIns="0" tIns="0" rIns="0" bIns="0" rtlCol="0"/>
          <a:lstStyle/>
          <a:p>
            <a:pPr indent="0" marL="0">
              <a:buNone/>
            </a:pPr>
            <a:endParaRPr lang="en-US" sz="1100" dirty="0"/>
          </a:p>
        </p:txBody>
      </p:sp>
      <p:sp>
        <p:nvSpPr>
          <p:cNvPr id="3" name="Text 1"/>
          <p:cNvSpPr/>
          <p:nvPr/>
        </p:nvSpPr>
        <p:spPr>
          <a:xfrm>
            <a:off x="822960" y="868680"/>
            <a:ext cx="7772400" cy="1371600"/>
          </a:xfrm>
          <a:prstGeom prst="rect">
            <a:avLst/>
          </a:prstGeom>
          <a:noFill/>
          <a:ln/>
        </p:spPr>
        <p:txBody>
          <a:bodyPr wrap="square" lIns="0" tIns="0" rIns="0" bIns="0" rtlCol="0"/>
          <a:lstStyle/>
          <a:p>
            <a:pPr indent="0" marL="0">
              <a:buNone/>
            </a:pPr>
            <a:endParaRPr lang="en-US" sz="3400" dirty="0"/>
          </a:p>
        </p:txBody>
      </p:sp>
      <p:sp>
        <p:nvSpPr>
          <p:cNvPr id="4" name="Text 2"/>
          <p:cNvSpPr/>
          <p:nvPr/>
        </p:nvSpPr>
        <p:spPr>
          <a:xfrm>
            <a:off x="822960" y="6263640"/>
            <a:ext cx="10515600" cy="274320"/>
          </a:xfrm>
          <a:prstGeom prst="rect">
            <a:avLst/>
          </a:prstGeom>
          <a:noFill/>
          <a:ln/>
        </p:spPr>
        <p:txBody>
          <a:bodyPr wrap="square" lIns="0" tIns="0" rIns="0" bIns="0" rtlCol="0"/>
          <a:lstStyle/>
          <a:p>
            <a:pPr indent="0" marL="0">
              <a:buNone/>
            </a:pPr>
            <a:endParaRPr lang="en-US" sz="9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hasCustomPrompt="1"/>
          </p:nvPr>
        </p:nvSpPr>
        <p:spPr>
          <a:xfrm>
            <a:off x="822960" y="685800"/>
            <a:ext cx="10515600" cy="274320"/>
          </a:xfrm>
          <a:prstGeom prst="rect">
            <a:avLst/>
          </a:prstGeom>
          <a:noFill/>
          <a:ln/>
        </p:spPr>
        <p:txBody>
          <a:bodyPr wrap="square" rtlCol="0"/>
          <a:lstStyle/>
          <a:p>
            <a:pPr indent="0" marL="0">
              <a:buNone/>
            </a:pPr>
            <a:r>
              <a:rPr lang="en-US" dirty="0"/>
              <a:t>FOR THE INTER-AMERICAN DEVELOPMENT BANK</a:t>
            </a:r>
            <a:endParaRPr lang="en-US" dirty="0"/>
          </a:p>
        </p:txBody>
      </p:sp>
      <p:sp>
        <p:nvSpPr>
          <p:cNvPr id="3" name="Text 1"/>
          <p:cNvSpPr/>
          <p:nvPr>
            <p:ph hasCustomPrompt="1"/>
          </p:nvPr>
        </p:nvSpPr>
        <p:spPr>
          <a:xfrm>
            <a:off x="822960" y="1188720"/>
            <a:ext cx="10515600" cy="2194560"/>
          </a:xfrm>
          <a:prstGeom prst="rect">
            <a:avLst/>
          </a:prstGeom>
          <a:noFill/>
          <a:ln/>
        </p:spPr>
        <p:txBody>
          <a:bodyPr wrap="square" rtlCol="0"/>
          <a:lstStyle/>
          <a:p>
            <a:pPr indent="0" marL="0">
              <a:buNone/>
            </a:pPr>
            <a:r>
              <a:rPr lang="en-US" dirty="0">
                <a:solidFill>
                  <a:srgbClr val="FFFFFF"/>
                </a:solidFill>
              </a:rPr>
              <a:t>Eight</a:t>
            </a:r>
            <a:endParaRPr lang="en-US" dirty="0"/>
          </a:p>
          <a:p>
            <a:pPr indent="0" marL="0">
              <a:buNone/>
            </a:pPr>
            <a:r>
              <a:rPr lang="en-US" dirty="0">
                <a:solidFill>
                  <a:srgbClr val="FFFFFF"/>
                </a:solidFill>
              </a:rPr>
              <a:t>patents</a:t>
            </a:r>
            <a:endParaRPr lang="en-US" dirty="0"/>
          </a:p>
        </p:txBody>
      </p:sp>
      <p:sp>
        <p:nvSpPr>
          <p:cNvPr id="4" name="Text 2"/>
          <p:cNvSpPr/>
          <p:nvPr>
            <p:ph hasCustomPrompt="1"/>
          </p:nvPr>
        </p:nvSpPr>
        <p:spPr>
          <a:xfrm>
            <a:off x="822960" y="3566160"/>
            <a:ext cx="10515600" cy="2194560"/>
          </a:xfrm>
          <a:prstGeom prst="rect">
            <a:avLst/>
          </a:prstGeom>
          <a:noFill/>
          <a:ln/>
        </p:spPr>
        <p:txBody>
          <a:bodyPr wrap="square" rtlCol="0"/>
          <a:lstStyle/>
          <a:p>
            <a:pPr indent="0" marL="0">
              <a:buNone/>
            </a:pPr>
            <a:r>
              <a:rPr lang="en-US" dirty="0"/>
              <a:t>What Mexico and Central America stopped buying, and what it cost them.</a:t>
            </a:r>
            <a:endParaRPr lang="en-US" dirty="0"/>
          </a:p>
          <a:p>
            <a:pPr indent="0" marL="0">
              <a:buNone/>
            </a:pPr>
            <a:endParaRPr lang="en-US" dirty="0"/>
          </a:p>
          <a:p>
            <a:pPr indent="0" marL="0">
              <a:buNone/>
            </a:pPr>
            <a:r>
              <a:rPr lang="en-US" dirty="0"/>
              <a:t>A whole subregion's output of new ideas, 2024.</a:t>
            </a:r>
            <a:endParaRPr lang="en-US" dirty="0"/>
          </a:p>
        </p:txBody>
      </p:sp>
      <p:sp>
        <p:nvSpPr>
          <p:cNvPr id="5" name="Text 3"/>
          <p:cNvSpPr txBox="1"/>
          <p:nvPr/>
        </p:nvSpPr>
        <p:spPr>
          <a:xfrm>
            <a:off x="822960" y="5943600"/>
            <a:ext cx="10515600" cy="365760"/>
          </a:xfrm>
          <a:prstGeom prst="rect">
            <a:avLst/>
          </a:prstGeom>
          <a:noFill/>
          <a:ln/>
        </p:spPr>
        <p:txBody>
          <a:bodyPr wrap="square" lIns="0" tIns="0" rIns="0" bIns="0" rtlCol="0" anchor="ctr"/>
          <a:lstStyle/>
          <a:p>
            <a:pPr indent="0" marL="0">
              <a:buNone/>
            </a:pPr>
            <a:r>
              <a:rPr lang="en-US" sz="1200" b="1" dirty="0">
                <a:solidFill>
                  <a:srgbClr val="FFFFFF"/>
                </a:solidFill>
              </a:rPr>
              <a:t>Group 1</a:t>
            </a:r>
            <a:pPr indent="0" marL="0">
              <a:buNone/>
            </a:pPr>
            <a:r>
              <a:rPr lang="en-US" sz="1200" dirty="0">
                <a:solidFill>
                  <a:srgbClr val="6E7B99"/>
                </a:solidFill>
              </a:rPr>
              <a:t>  ·  </a:t>
            </a:r>
            <a:pPr indent="0" marL="0">
              <a:buNone/>
            </a:pPr>
            <a:r>
              <a:rPr lang="en-US" sz="1200" dirty="0">
                <a:solidFill>
                  <a:srgbClr val="C8CEDC"/>
                </a:solidFill>
              </a:rPr>
              <a:t>Mexico &amp; Central America</a:t>
            </a:r>
            <a:pPr indent="0" marL="0">
              <a:buNone/>
            </a:pPr>
            <a:r>
              <a:rPr lang="en-US" sz="1200" dirty="0">
                <a:solidFill>
                  <a:srgbClr val="6E7B99"/>
                </a:solidFill>
              </a:rPr>
              <a:t>  ·  </a:t>
            </a:r>
            <a:pPr indent="0" marL="0">
              <a:buNone/>
            </a:pPr>
            <a:r>
              <a:rPr lang="en-US" sz="1200" dirty="0">
                <a:solidFill>
                  <a:srgbClr val="C8CEDC"/>
                </a:solidFill>
              </a:rPr>
              <a:t>Inter-American Development Bank</a:t>
            </a:r>
            <a:pPr indent="0" marL="0">
              <a:buNone/>
            </a:pPr>
            <a:r>
              <a:rPr lang="en-US" sz="1200" dirty="0">
                <a:solidFill>
                  <a:srgbClr val="6E7B99"/>
                </a:solidFill>
              </a:rPr>
              <a:t>  ·  </a:t>
            </a:r>
            <a:pPr indent="0" marL="0">
              <a:buNone/>
            </a:pPr>
            <a:r>
              <a:rPr lang="en-US" sz="1200" b="1" dirty="0">
                <a:solidFill>
                  <a:srgbClr val="D9A441"/>
                </a:solidFill>
              </a:rPr>
              <a:t>[FIRM: Deloitte / EY / KPMG / PwC]</a:t>
            </a:r>
            <a:endParaRPr lang="en-US" sz="1200" dirty="0"/>
          </a:p>
        </p:txBody>
      </p:sp>
      <p:sp>
        <p:nvSpPr>
          <p:cNvPr id="6" name="Shape 4"/>
          <p:cNvSpPr/>
          <p:nvPr/>
        </p:nvSpPr>
        <p:spPr>
          <a:xfrm>
            <a:off x="822960" y="5806440"/>
            <a:ext cx="1005840" cy="27432"/>
          </a:xfrm>
          <a:prstGeom prst="rect">
            <a:avLst/>
          </a:prstGeom>
          <a:solidFill>
            <a:srgbClr val="C25E3A"/>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hasCustomPrompt="1"/>
          </p:nvPr>
        </p:nvSpPr>
        <p:spPr>
          <a:xfrm>
            <a:off x="822960" y="502920"/>
            <a:ext cx="10515600" cy="274320"/>
          </a:xfrm>
          <a:prstGeom prst="rect">
            <a:avLst/>
          </a:prstGeom>
          <a:noFill/>
          <a:ln/>
        </p:spPr>
        <p:txBody>
          <a:bodyPr wrap="square" rtlCol="0"/>
          <a:lstStyle/>
          <a:p>
            <a:pPr indent="0" marL="0">
              <a:buNone/>
            </a:pPr>
            <a:r>
              <a:rPr lang="en-US" dirty="0"/>
              <a:t>EXECUTIVE SUMMARY · THE FINDING</a:t>
            </a:r>
            <a:endParaRPr lang="en-US" dirty="0"/>
          </a:p>
        </p:txBody>
      </p:sp>
      <p:sp>
        <p:nvSpPr>
          <p:cNvPr id="3" name="Text 1"/>
          <p:cNvSpPr/>
          <p:nvPr>
            <p:ph hasCustomPrompt="1"/>
          </p:nvPr>
        </p:nvSpPr>
        <p:spPr>
          <a:xfrm>
            <a:off x="822960" y="868680"/>
            <a:ext cx="7772400" cy="1371600"/>
          </a:xfrm>
          <a:prstGeom prst="rect">
            <a:avLst/>
          </a:prstGeom>
          <a:noFill/>
          <a:ln/>
        </p:spPr>
        <p:txBody>
          <a:bodyPr wrap="square" rtlCol="0"/>
          <a:lstStyle/>
          <a:p>
            <a:pPr indent="0" marL="0">
              <a:buNone/>
            </a:pPr>
            <a:r>
              <a:rPr lang="en-US" dirty="0"/>
              <a:t>Growth did not fail. A purchase was never made</a:t>
            </a:r>
            <a:endParaRPr lang="en-US" dirty="0"/>
          </a:p>
        </p:txBody>
      </p:sp>
      <p:sp>
        <p:nvSpPr>
          <p:cNvPr id="4" name="Text 2"/>
          <p:cNvSpPr txBox="1"/>
          <p:nvPr/>
        </p:nvSpPr>
        <p:spPr>
          <a:xfrm>
            <a:off x="822960" y="2148840"/>
            <a:ext cx="4663440" cy="1280160"/>
          </a:xfrm>
          <a:prstGeom prst="rect">
            <a:avLst/>
          </a:prstGeom>
          <a:noFill/>
          <a:ln/>
        </p:spPr>
        <p:txBody>
          <a:bodyPr wrap="square" lIns="0" tIns="0" rIns="0" bIns="0" rtlCol="0" anchor="ctr"/>
          <a:lstStyle/>
          <a:p>
            <a:pPr indent="0" marL="0">
              <a:buNone/>
            </a:pPr>
            <a:r>
              <a:rPr lang="en-US" sz="1500" dirty="0">
                <a:solidFill>
                  <a:srgbClr val="5A6478"/>
                </a:solidFill>
              </a:rPr>
              <a:t>The subregion did not lose a race it was running. It stopped buying the one thing that compounds: the capability to make hard things. Korea bought it from the same starting line in 1980.</a:t>
            </a:r>
            <a:endParaRPr lang="en-US" sz="1500" dirty="0"/>
          </a:p>
        </p:txBody>
      </p:sp>
      <p:sp>
        <p:nvSpPr>
          <p:cNvPr id="5" name="stat-8"/>
          <p:cNvSpPr txBox="1"/>
          <p:nvPr/>
        </p:nvSpPr>
        <p:spPr>
          <a:xfrm>
            <a:off x="822960" y="3566160"/>
            <a:ext cx="2103120" cy="868680"/>
          </a:xfrm>
          <a:prstGeom prst="rect">
            <a:avLst/>
          </a:prstGeom>
          <a:noFill/>
          <a:ln/>
        </p:spPr>
        <p:txBody>
          <a:bodyPr wrap="square" lIns="0" tIns="0" rIns="0" bIns="0" rtlCol="0" anchor="ctr"/>
          <a:lstStyle/>
          <a:p>
            <a:pPr indent="0" marL="0">
              <a:buNone/>
            </a:pPr>
            <a:r>
              <a:rPr lang="en-US" sz="5400" b="1" dirty="0">
                <a:solidFill>
                  <a:srgbClr val="C25E3A"/>
                </a:solidFill>
                <a:latin typeface="Cambria" pitchFamily="34" charset="0"/>
                <a:ea typeface="Cambria" pitchFamily="34" charset="-122"/>
                <a:cs typeface="Cambria" pitchFamily="34" charset="-120"/>
              </a:rPr>
              <a:t>8</a:t>
            </a:r>
            <a:endParaRPr lang="en-US" sz="5400" dirty="0"/>
          </a:p>
        </p:txBody>
      </p:sp>
      <p:sp>
        <p:nvSpPr>
          <p:cNvPr id="6" name="Text 4"/>
          <p:cNvSpPr txBox="1"/>
          <p:nvPr/>
        </p:nvSpPr>
        <p:spPr>
          <a:xfrm>
            <a:off x="822960" y="4434840"/>
            <a:ext cx="2103120" cy="685800"/>
          </a:xfrm>
          <a:prstGeom prst="rect">
            <a:avLst/>
          </a:prstGeom>
          <a:noFill/>
          <a:ln/>
        </p:spPr>
        <p:txBody>
          <a:bodyPr wrap="square" lIns="0" tIns="0" rIns="0" bIns="0" rtlCol="0" anchor="ctr"/>
          <a:lstStyle/>
          <a:p>
            <a:pPr indent="0" marL="0">
              <a:buNone/>
            </a:pPr>
            <a:r>
              <a:rPr lang="en-US" sz="1100" dirty="0">
                <a:solidFill>
                  <a:srgbClr val="5A6478"/>
                </a:solidFill>
              </a:rPr>
              <a:t>Patents filed by residents of Guatemala, whole country, 2024</a:t>
            </a:r>
            <a:endParaRPr lang="en-US" sz="1100" dirty="0"/>
          </a:p>
        </p:txBody>
      </p:sp>
      <p:sp>
        <p:nvSpPr>
          <p:cNvPr id="7" name="stat-1"/>
          <p:cNvSpPr txBox="1"/>
          <p:nvPr/>
        </p:nvSpPr>
        <p:spPr>
          <a:xfrm>
            <a:off x="3108960" y="3566160"/>
            <a:ext cx="2103120" cy="868680"/>
          </a:xfrm>
          <a:prstGeom prst="rect">
            <a:avLst/>
          </a:prstGeom>
          <a:noFill/>
          <a:ln/>
        </p:spPr>
        <p:txBody>
          <a:bodyPr wrap="square" lIns="0" tIns="0" rIns="0" bIns="0" rtlCol="0" anchor="ctr"/>
          <a:lstStyle/>
          <a:p>
            <a:pPr indent="0" marL="0">
              <a:buNone/>
            </a:pPr>
            <a:r>
              <a:rPr lang="en-US" sz="5400" b="1" dirty="0">
                <a:solidFill>
                  <a:srgbClr val="C25E3A"/>
                </a:solidFill>
                <a:latin typeface="Cambria" pitchFamily="34" charset="0"/>
                <a:ea typeface="Cambria" pitchFamily="34" charset="-122"/>
                <a:cs typeface="Cambria" pitchFamily="34" charset="-120"/>
              </a:rPr>
              <a:t>1</a:t>
            </a:r>
            <a:endParaRPr lang="en-US" sz="5400" dirty="0"/>
          </a:p>
        </p:txBody>
      </p:sp>
      <p:sp>
        <p:nvSpPr>
          <p:cNvPr id="8" name="Text 6"/>
          <p:cNvSpPr txBox="1"/>
          <p:nvPr/>
        </p:nvSpPr>
        <p:spPr>
          <a:xfrm>
            <a:off x="3108960" y="4434840"/>
            <a:ext cx="2103120" cy="685800"/>
          </a:xfrm>
          <a:prstGeom prst="rect">
            <a:avLst/>
          </a:prstGeom>
          <a:noFill/>
          <a:ln/>
        </p:spPr>
        <p:txBody>
          <a:bodyPr wrap="square" lIns="0" tIns="0" rIns="0" bIns="0" rtlCol="0" anchor="ctr"/>
          <a:lstStyle/>
          <a:p>
            <a:pPr indent="0" marL="0">
              <a:buNone/>
            </a:pPr>
            <a:r>
              <a:rPr lang="en-US" sz="1100" dirty="0">
                <a:solidFill>
                  <a:srgbClr val="5A6478"/>
                </a:solidFill>
              </a:rPr>
              <a:t>Researchers in R&amp;D per million people, Guatemala, 2023</a:t>
            </a:r>
            <a:endParaRPr lang="en-US" sz="1100" dirty="0"/>
          </a:p>
        </p:txBody>
      </p:sp>
      <p:sp>
        <p:nvSpPr>
          <p:cNvPr id="9" name="card-Two reasons, not ten"/>
          <p:cNvSpPr/>
          <p:nvPr/>
        </p:nvSpPr>
        <p:spPr>
          <a:xfrm>
            <a:off x="5760720" y="2103120"/>
            <a:ext cx="5577840" cy="1234440"/>
          </a:xfrm>
          <a:prstGeom prst="roundRect">
            <a:avLst>
              <a:gd name="adj" fmla="val 4444"/>
            </a:avLst>
          </a:prstGeom>
          <a:solidFill>
            <a:srgbClr val="FFFFFF"/>
          </a:solidFill>
          <a:ln w="12700">
            <a:solidFill>
              <a:srgbClr val="D8D3CC"/>
            </a:solidFill>
            <a:prstDash val="solid"/>
          </a:ln>
          <a:effectLst>
            <a:outerShdw sx="100000" sy="100000" kx="0" ky="0" algn="bl" rotWithShape="0" blurRad="101600" dist="25400" dir="5400000">
              <a:srgbClr val="000000">
                <a:alpha val="7000"/>
              </a:srgbClr>
            </a:outerShdw>
          </a:effectLst>
        </p:spPr>
      </p:sp>
      <p:sp>
        <p:nvSpPr>
          <p:cNvPr id="10" name="Text 8"/>
          <p:cNvSpPr txBox="1"/>
          <p:nvPr/>
        </p:nvSpPr>
        <p:spPr>
          <a:xfrm>
            <a:off x="6035040" y="2304288"/>
            <a:ext cx="822960" cy="457200"/>
          </a:xfrm>
          <a:prstGeom prst="rect">
            <a:avLst/>
          </a:prstGeom>
          <a:noFill/>
          <a:ln/>
        </p:spPr>
        <p:txBody>
          <a:bodyPr wrap="square" lIns="0" tIns="0" rIns="0" bIns="0" rtlCol="0" anchor="ctr"/>
          <a:lstStyle/>
          <a:p>
            <a:pPr indent="0" marL="0">
              <a:buNone/>
            </a:pPr>
            <a:r>
              <a:rPr lang="en-US" sz="2200" b="1" dirty="0">
                <a:solidFill>
                  <a:srgbClr val="C25E3A"/>
                </a:solidFill>
                <a:latin typeface="Cambria" pitchFamily="34" charset="0"/>
                <a:ea typeface="Cambria" pitchFamily="34" charset="-122"/>
                <a:cs typeface="Cambria" pitchFamily="34" charset="-120"/>
              </a:rPr>
              <a:t>01</a:t>
            </a:r>
            <a:endParaRPr lang="en-US" sz="2200" dirty="0"/>
          </a:p>
        </p:txBody>
      </p:sp>
      <p:sp>
        <p:nvSpPr>
          <p:cNvPr id="11" name="Text 9"/>
          <p:cNvSpPr txBox="1"/>
          <p:nvPr/>
        </p:nvSpPr>
        <p:spPr>
          <a:xfrm>
            <a:off x="6035040" y="2761488"/>
            <a:ext cx="5029200" cy="411480"/>
          </a:xfrm>
          <a:prstGeom prst="rect">
            <a:avLst/>
          </a:prstGeom>
          <a:noFill/>
          <a:ln/>
        </p:spPr>
        <p:txBody>
          <a:bodyPr wrap="square" lIns="0" tIns="0" rIns="0" bIns="0" rtlCol="0" anchor="ctr"/>
          <a:lstStyle/>
          <a:p>
            <a:pPr indent="0" marL="0">
              <a:buNone/>
            </a:pPr>
            <a:r>
              <a:rPr lang="en-US" sz="1500" b="1" dirty="0">
                <a:solidFill>
                  <a:srgbClr val="11182B"/>
                </a:solidFill>
              </a:rPr>
              <a:t>Two reasons, not ten</a:t>
            </a:r>
            <a:endParaRPr lang="en-US" sz="1500" dirty="0"/>
          </a:p>
        </p:txBody>
      </p:sp>
      <p:sp>
        <p:nvSpPr>
          <p:cNvPr id="12" name="Text 10"/>
          <p:cNvSpPr txBox="1"/>
          <p:nvPr/>
        </p:nvSpPr>
        <p:spPr>
          <a:xfrm>
            <a:off x="6035040" y="3182112"/>
            <a:ext cx="5029200" cy="-91440"/>
          </a:xfrm>
          <a:prstGeom prst="rect">
            <a:avLst/>
          </a:prstGeom>
          <a:noFill/>
          <a:ln/>
        </p:spPr>
        <p:txBody>
          <a:bodyPr wrap="square" lIns="0" tIns="0" rIns="0" bIns="0" rtlCol="0" anchor="ctr"/>
          <a:lstStyle/>
          <a:p>
            <a:pPr indent="0" marL="0">
              <a:buNone/>
            </a:pPr>
            <a:r>
              <a:rPr lang="en-US" sz="1200" dirty="0">
                <a:solidFill>
                  <a:srgbClr val="5A6478"/>
                </a:solidFill>
              </a:rPr>
              <a:t>Capital cities pull in people and money and send little back. Payroll taxes make being visible expensive, so firms stay small.</a:t>
            </a:r>
            <a:endParaRPr lang="en-US" sz="1200" dirty="0"/>
          </a:p>
        </p:txBody>
      </p:sp>
      <p:sp>
        <p:nvSpPr>
          <p:cNvPr id="13" name="card-It has been solved here before"/>
          <p:cNvSpPr/>
          <p:nvPr/>
        </p:nvSpPr>
        <p:spPr>
          <a:xfrm>
            <a:off x="5760720" y="3474720"/>
            <a:ext cx="5577840" cy="1234440"/>
          </a:xfrm>
          <a:prstGeom prst="roundRect">
            <a:avLst>
              <a:gd name="adj" fmla="val 4444"/>
            </a:avLst>
          </a:prstGeom>
          <a:solidFill>
            <a:srgbClr val="FFFFFF"/>
          </a:solidFill>
          <a:ln w="12700">
            <a:solidFill>
              <a:srgbClr val="D8D3CC"/>
            </a:solidFill>
            <a:prstDash val="solid"/>
          </a:ln>
          <a:effectLst>
            <a:outerShdw sx="100000" sy="100000" kx="0" ky="0" algn="bl" rotWithShape="0" blurRad="101600" dist="25400" dir="5400000">
              <a:srgbClr val="000000">
                <a:alpha val="7000"/>
              </a:srgbClr>
            </a:outerShdw>
          </a:effectLst>
        </p:spPr>
      </p:sp>
      <p:sp>
        <p:nvSpPr>
          <p:cNvPr id="14" name="Text 12"/>
          <p:cNvSpPr txBox="1"/>
          <p:nvPr/>
        </p:nvSpPr>
        <p:spPr>
          <a:xfrm>
            <a:off x="6035040" y="3675888"/>
            <a:ext cx="822960" cy="457200"/>
          </a:xfrm>
          <a:prstGeom prst="rect">
            <a:avLst/>
          </a:prstGeom>
          <a:noFill/>
          <a:ln/>
        </p:spPr>
        <p:txBody>
          <a:bodyPr wrap="square" lIns="0" tIns="0" rIns="0" bIns="0" rtlCol="0" anchor="ctr"/>
          <a:lstStyle/>
          <a:p>
            <a:pPr indent="0" marL="0">
              <a:buNone/>
            </a:pPr>
            <a:r>
              <a:rPr lang="en-US" sz="2200" b="1" dirty="0">
                <a:solidFill>
                  <a:srgbClr val="C25E3A"/>
                </a:solidFill>
                <a:latin typeface="Cambria" pitchFamily="34" charset="0"/>
                <a:ea typeface="Cambria" pitchFamily="34" charset="-122"/>
                <a:cs typeface="Cambria" pitchFamily="34" charset="-120"/>
              </a:rPr>
              <a:t>02</a:t>
            </a:r>
            <a:endParaRPr lang="en-US" sz="2200" dirty="0"/>
          </a:p>
        </p:txBody>
      </p:sp>
      <p:sp>
        <p:nvSpPr>
          <p:cNvPr id="15" name="Text 13"/>
          <p:cNvSpPr txBox="1"/>
          <p:nvPr/>
        </p:nvSpPr>
        <p:spPr>
          <a:xfrm>
            <a:off x="6035040" y="4133088"/>
            <a:ext cx="5029200" cy="411480"/>
          </a:xfrm>
          <a:prstGeom prst="rect">
            <a:avLst/>
          </a:prstGeom>
          <a:noFill/>
          <a:ln/>
        </p:spPr>
        <p:txBody>
          <a:bodyPr wrap="square" lIns="0" tIns="0" rIns="0" bIns="0" rtlCol="0" anchor="ctr"/>
          <a:lstStyle/>
          <a:p>
            <a:pPr indent="0" marL="0">
              <a:buNone/>
            </a:pPr>
            <a:r>
              <a:rPr lang="en-US" sz="1500" b="1" dirty="0">
                <a:solidFill>
                  <a:srgbClr val="11182B"/>
                </a:solidFill>
              </a:rPr>
              <a:t>It has been solved here before</a:t>
            </a:r>
            <a:endParaRPr lang="en-US" sz="1500" dirty="0"/>
          </a:p>
        </p:txBody>
      </p:sp>
      <p:sp>
        <p:nvSpPr>
          <p:cNvPr id="16" name="Text 14"/>
          <p:cNvSpPr txBox="1"/>
          <p:nvPr/>
        </p:nvSpPr>
        <p:spPr>
          <a:xfrm>
            <a:off x="6035040" y="4553712"/>
            <a:ext cx="5029200" cy="-91440"/>
          </a:xfrm>
          <a:prstGeom prst="rect">
            <a:avLst/>
          </a:prstGeom>
          <a:noFill/>
          <a:ln/>
        </p:spPr>
        <p:txBody>
          <a:bodyPr wrap="square" lIns="0" tIns="0" rIns="0" bIns="0" rtlCol="0" anchor="ctr"/>
          <a:lstStyle/>
          <a:p>
            <a:pPr indent="0" marL="0">
              <a:buNone/>
            </a:pPr>
            <a:r>
              <a:rPr lang="en-US" sz="1200" dirty="0">
                <a:solidFill>
                  <a:srgbClr val="5A6478"/>
                </a:solidFill>
              </a:rPr>
              <a:t>Chile in salmon, Costa Rica in medical devices, Medellin in its hillsides. Each a state doing one narrow thing for a long time.</a:t>
            </a:r>
            <a:endParaRPr lang="en-US" sz="1200" dirty="0"/>
          </a:p>
        </p:txBody>
      </p:sp>
      <p:sp>
        <p:nvSpPr>
          <p:cNvPr id="17" name="card-One ask, this year"/>
          <p:cNvSpPr/>
          <p:nvPr/>
        </p:nvSpPr>
        <p:spPr>
          <a:xfrm>
            <a:off x="5760720" y="4846320"/>
            <a:ext cx="5577840" cy="914400"/>
          </a:xfrm>
          <a:prstGeom prst="roundRect">
            <a:avLst>
              <a:gd name="adj" fmla="val 6000"/>
            </a:avLst>
          </a:prstGeom>
          <a:solidFill>
            <a:srgbClr val="FFFFFF"/>
          </a:solidFill>
          <a:ln w="12700">
            <a:solidFill>
              <a:srgbClr val="D8D3CC"/>
            </a:solidFill>
            <a:prstDash val="solid"/>
          </a:ln>
          <a:effectLst>
            <a:outerShdw sx="100000" sy="100000" kx="0" ky="0" algn="bl" rotWithShape="0" blurRad="101600" dist="25400" dir="5400000">
              <a:srgbClr val="000000">
                <a:alpha val="7000"/>
              </a:srgbClr>
            </a:outerShdw>
          </a:effectLst>
        </p:spPr>
      </p:sp>
      <p:sp>
        <p:nvSpPr>
          <p:cNvPr id="18" name="Text 16"/>
          <p:cNvSpPr txBox="1"/>
          <p:nvPr/>
        </p:nvSpPr>
        <p:spPr>
          <a:xfrm>
            <a:off x="6035040" y="5047488"/>
            <a:ext cx="822960" cy="457200"/>
          </a:xfrm>
          <a:prstGeom prst="rect">
            <a:avLst/>
          </a:prstGeom>
          <a:noFill/>
          <a:ln/>
        </p:spPr>
        <p:txBody>
          <a:bodyPr wrap="square" lIns="0" tIns="0" rIns="0" bIns="0" rtlCol="0" anchor="ctr"/>
          <a:lstStyle/>
          <a:p>
            <a:pPr indent="0" marL="0">
              <a:buNone/>
            </a:pPr>
            <a:r>
              <a:rPr lang="en-US" sz="2200" b="1" dirty="0">
                <a:solidFill>
                  <a:srgbClr val="C25E3A"/>
                </a:solidFill>
                <a:latin typeface="Cambria" pitchFamily="34" charset="0"/>
                <a:ea typeface="Cambria" pitchFamily="34" charset="-122"/>
                <a:cs typeface="Cambria" pitchFamily="34" charset="-120"/>
              </a:rPr>
              <a:t>03</a:t>
            </a:r>
            <a:endParaRPr lang="en-US" sz="2200" dirty="0"/>
          </a:p>
        </p:txBody>
      </p:sp>
      <p:sp>
        <p:nvSpPr>
          <p:cNvPr id="19" name="Text 17"/>
          <p:cNvSpPr txBox="1"/>
          <p:nvPr/>
        </p:nvSpPr>
        <p:spPr>
          <a:xfrm>
            <a:off x="6035040" y="5504688"/>
            <a:ext cx="5029200" cy="411480"/>
          </a:xfrm>
          <a:prstGeom prst="rect">
            <a:avLst/>
          </a:prstGeom>
          <a:noFill/>
          <a:ln/>
        </p:spPr>
        <p:txBody>
          <a:bodyPr wrap="square" lIns="0" tIns="0" rIns="0" bIns="0" rtlCol="0" anchor="ctr"/>
          <a:lstStyle/>
          <a:p>
            <a:pPr indent="0" marL="0">
              <a:buNone/>
            </a:pPr>
            <a:r>
              <a:rPr lang="en-US" sz="1500" b="1" dirty="0">
                <a:solidFill>
                  <a:srgbClr val="11182B"/>
                </a:solidFill>
              </a:rPr>
              <a:t>One ask, this year</a:t>
            </a:r>
            <a:endParaRPr lang="en-US" sz="1500" dirty="0"/>
          </a:p>
        </p:txBody>
      </p:sp>
      <p:sp>
        <p:nvSpPr>
          <p:cNvPr id="20" name="Text 18"/>
          <p:cNvSpPr txBox="1"/>
          <p:nvPr/>
        </p:nvSpPr>
        <p:spPr>
          <a:xfrm>
            <a:off x="6035040" y="5925312"/>
            <a:ext cx="5029200" cy="-411480"/>
          </a:xfrm>
          <a:prstGeom prst="rect">
            <a:avLst/>
          </a:prstGeom>
          <a:noFill/>
          <a:ln/>
        </p:spPr>
        <p:txBody>
          <a:bodyPr wrap="square" lIns="0" tIns="0" rIns="0" bIns="0" rtlCol="0" anchor="ctr"/>
          <a:lstStyle/>
          <a:p>
            <a:pPr indent="0" marL="0">
              <a:buNone/>
            </a:pPr>
            <a:r>
              <a:rPr lang="en-US" sz="1200" dirty="0">
                <a:solidFill>
                  <a:srgbClr val="5A6478"/>
                </a:solidFill>
              </a:rPr>
              <a:t>Fund a capability agency in one country. The factories are choosing where to land now.</a:t>
            </a:r>
            <a:endParaRPr lang="en-US" sz="1200" dirty="0"/>
          </a:p>
        </p:txBody>
      </p:sp>
      <p:sp>
        <p:nvSpPr>
          <p:cNvPr id="21" name="Text 19"/>
          <p:cNvSpPr/>
          <p:nvPr>
            <p:ph hasCustomPrompt="1"/>
          </p:nvPr>
        </p:nvSpPr>
        <p:spPr>
          <a:xfrm>
            <a:off x="822960" y="6263640"/>
            <a:ext cx="10515600" cy="274320"/>
          </a:xfrm>
          <a:prstGeom prst="rect">
            <a:avLst/>
          </a:prstGeom>
          <a:noFill/>
          <a:ln/>
        </p:spPr>
        <p:txBody>
          <a:bodyPr wrap="square" rtlCol="0"/>
          <a:lstStyle/>
          <a:p>
            <a:pPr indent="0" marL="0">
              <a:buNone/>
            </a:pPr>
            <a:r>
              <a:rPr lang="en-US" dirty="0"/>
              <a:t>Patents IP.PAT.RESD; researchers SP.POP.SCIE.RD.P6 · World Bank WDI · retrieved 20 Oct 2026</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hasCustomPrompt="1"/>
          </p:nvPr>
        </p:nvSpPr>
        <p:spPr>
          <a:xfrm>
            <a:off x="822960" y="502920"/>
            <a:ext cx="10515600" cy="274320"/>
          </a:xfrm>
          <a:prstGeom prst="rect">
            <a:avLst/>
          </a:prstGeom>
          <a:noFill/>
          <a:ln/>
        </p:spPr>
        <p:txBody>
          <a:bodyPr wrap="square" rtlCol="0"/>
          <a:lstStyle/>
          <a:p>
            <a:pPr indent="0" marL="0">
              <a:buNone/>
            </a:pPr>
            <a:r>
              <a:rPr lang="en-US" dirty="0"/>
              <a:t>EXECUTIVE SUMMARY · WHAT WE PROPOSE</a:t>
            </a:r>
            <a:endParaRPr lang="en-US" dirty="0"/>
          </a:p>
        </p:txBody>
      </p:sp>
      <p:sp>
        <p:nvSpPr>
          <p:cNvPr id="3" name="Text 1"/>
          <p:cNvSpPr/>
          <p:nvPr>
            <p:ph hasCustomPrompt="1"/>
          </p:nvPr>
        </p:nvSpPr>
        <p:spPr>
          <a:xfrm>
            <a:off x="822960" y="868680"/>
            <a:ext cx="7772400" cy="1371600"/>
          </a:xfrm>
          <a:prstGeom prst="rect">
            <a:avLst/>
          </a:prstGeom>
          <a:noFill/>
          <a:ln/>
        </p:spPr>
        <p:txBody>
          <a:bodyPr wrap="square" rtlCol="0"/>
          <a:lstStyle/>
          <a:p>
            <a:pPr indent="0" marL="0">
              <a:buNone/>
            </a:pPr>
            <a:r>
              <a:rPr lang="en-US" dirty="0"/>
              <a:t>Three programmes, sequenced for political survival</a:t>
            </a:r>
            <a:endParaRPr lang="en-US" dirty="0"/>
          </a:p>
        </p:txBody>
      </p:sp>
      <p:sp>
        <p:nvSpPr>
          <p:cNvPr id="4" name="card-Take the wall down"/>
          <p:cNvSpPr/>
          <p:nvPr/>
        </p:nvSpPr>
        <p:spPr>
          <a:xfrm>
            <a:off x="822960" y="2194560"/>
            <a:ext cx="3291840" cy="2286000"/>
          </a:xfrm>
          <a:prstGeom prst="roundRect">
            <a:avLst>
              <a:gd name="adj" fmla="val 2400"/>
            </a:avLst>
          </a:prstGeom>
          <a:solidFill>
            <a:srgbClr val="FFFFFF"/>
          </a:solidFill>
          <a:ln w="12700">
            <a:solidFill>
              <a:srgbClr val="D8D3CC"/>
            </a:solidFill>
            <a:prstDash val="solid"/>
          </a:ln>
          <a:effectLst>
            <a:outerShdw sx="100000" sy="100000" kx="0" ky="0" algn="bl" rotWithShape="0" blurRad="101600" dist="25400" dir="5400000">
              <a:srgbClr val="000000">
                <a:alpha val="7000"/>
              </a:srgbClr>
            </a:outerShdw>
          </a:effectLst>
        </p:spPr>
      </p:sp>
      <p:sp>
        <p:nvSpPr>
          <p:cNvPr id="5" name="Text 3"/>
          <p:cNvSpPr txBox="1"/>
          <p:nvPr/>
        </p:nvSpPr>
        <p:spPr>
          <a:xfrm>
            <a:off x="1097280" y="2395728"/>
            <a:ext cx="822960" cy="457200"/>
          </a:xfrm>
          <a:prstGeom prst="rect">
            <a:avLst/>
          </a:prstGeom>
          <a:noFill/>
          <a:ln/>
        </p:spPr>
        <p:txBody>
          <a:bodyPr wrap="square" lIns="0" tIns="0" rIns="0" bIns="0" rtlCol="0" anchor="ctr"/>
          <a:lstStyle/>
          <a:p>
            <a:pPr indent="0" marL="0">
              <a:buNone/>
            </a:pPr>
            <a:r>
              <a:rPr lang="en-US" sz="2200" b="1" dirty="0">
                <a:solidFill>
                  <a:srgbClr val="C25E3A"/>
                </a:solidFill>
                <a:latin typeface="Cambria" pitchFamily="34" charset="0"/>
                <a:ea typeface="Cambria" pitchFamily="34" charset="-122"/>
                <a:cs typeface="Cambria" pitchFamily="34" charset="-120"/>
              </a:rPr>
              <a:t>01</a:t>
            </a:r>
            <a:endParaRPr lang="en-US" sz="2200" dirty="0"/>
          </a:p>
        </p:txBody>
      </p:sp>
      <p:sp>
        <p:nvSpPr>
          <p:cNvPr id="6" name="Text 4"/>
          <p:cNvSpPr txBox="1"/>
          <p:nvPr/>
        </p:nvSpPr>
        <p:spPr>
          <a:xfrm>
            <a:off x="1097280" y="2852928"/>
            <a:ext cx="2743200" cy="411480"/>
          </a:xfrm>
          <a:prstGeom prst="rect">
            <a:avLst/>
          </a:prstGeom>
          <a:noFill/>
          <a:ln/>
        </p:spPr>
        <p:txBody>
          <a:bodyPr wrap="square" lIns="0" tIns="0" rIns="0" bIns="0" rtlCol="0" anchor="ctr"/>
          <a:lstStyle/>
          <a:p>
            <a:pPr indent="0" marL="0">
              <a:buNone/>
            </a:pPr>
            <a:r>
              <a:rPr lang="en-US" sz="1500" b="1" dirty="0">
                <a:solidFill>
                  <a:srgbClr val="11182B"/>
                </a:solidFill>
              </a:rPr>
              <a:t>Take the wall down</a:t>
            </a:r>
            <a:endParaRPr lang="en-US" sz="1500" dirty="0"/>
          </a:p>
        </p:txBody>
      </p:sp>
      <p:sp>
        <p:nvSpPr>
          <p:cNvPr id="7" name="Text 5"/>
          <p:cNvSpPr txBox="1"/>
          <p:nvPr/>
        </p:nvSpPr>
        <p:spPr>
          <a:xfrm>
            <a:off x="1097280" y="3273552"/>
            <a:ext cx="2743200" cy="960120"/>
          </a:xfrm>
          <a:prstGeom prst="rect">
            <a:avLst/>
          </a:prstGeom>
          <a:noFill/>
          <a:ln/>
        </p:spPr>
        <p:txBody>
          <a:bodyPr wrap="square" lIns="0" tIns="0" rIns="0" bIns="0" rtlCol="0" anchor="ctr"/>
          <a:lstStyle/>
          <a:p>
            <a:pPr indent="0" marL="0">
              <a:buNone/>
            </a:pPr>
            <a:r>
              <a:rPr lang="en-US" sz="1200" dirty="0">
                <a:solidFill>
                  <a:srgbClr val="5A6478"/>
                </a:solidFill>
              </a:rPr>
              <a:t>Pay health and pensions from general tax, not from wages. Years 0 to 2, felt inside one electoral term.</a:t>
            </a:r>
            <a:endParaRPr lang="en-US" sz="1200" dirty="0"/>
          </a:p>
        </p:txBody>
      </p:sp>
      <p:sp>
        <p:nvSpPr>
          <p:cNvPr id="8" name="card-Learn new industries"/>
          <p:cNvSpPr/>
          <p:nvPr/>
        </p:nvSpPr>
        <p:spPr>
          <a:xfrm>
            <a:off x="4434840" y="2194560"/>
            <a:ext cx="3291840" cy="2286000"/>
          </a:xfrm>
          <a:prstGeom prst="roundRect">
            <a:avLst>
              <a:gd name="adj" fmla="val 2400"/>
            </a:avLst>
          </a:prstGeom>
          <a:solidFill>
            <a:srgbClr val="FFFFFF"/>
          </a:solidFill>
          <a:ln w="12700">
            <a:solidFill>
              <a:srgbClr val="D8D3CC"/>
            </a:solidFill>
            <a:prstDash val="solid"/>
          </a:ln>
          <a:effectLst>
            <a:outerShdw sx="100000" sy="100000" kx="0" ky="0" algn="bl" rotWithShape="0" blurRad="101600" dist="25400" dir="5400000">
              <a:srgbClr val="000000">
                <a:alpha val="7000"/>
              </a:srgbClr>
            </a:outerShdw>
          </a:effectLst>
        </p:spPr>
      </p:sp>
      <p:sp>
        <p:nvSpPr>
          <p:cNvPr id="9" name="Text 7"/>
          <p:cNvSpPr txBox="1"/>
          <p:nvPr/>
        </p:nvSpPr>
        <p:spPr>
          <a:xfrm>
            <a:off x="4709160" y="2395728"/>
            <a:ext cx="822960" cy="457200"/>
          </a:xfrm>
          <a:prstGeom prst="rect">
            <a:avLst/>
          </a:prstGeom>
          <a:noFill/>
          <a:ln/>
        </p:spPr>
        <p:txBody>
          <a:bodyPr wrap="square" lIns="0" tIns="0" rIns="0" bIns="0" rtlCol="0" anchor="ctr"/>
          <a:lstStyle/>
          <a:p>
            <a:pPr indent="0" marL="0">
              <a:buNone/>
            </a:pPr>
            <a:r>
              <a:rPr lang="en-US" sz="2200" b="1" dirty="0">
                <a:solidFill>
                  <a:srgbClr val="1F6F6B"/>
                </a:solidFill>
                <a:latin typeface="Cambria" pitchFamily="34" charset="0"/>
                <a:ea typeface="Cambria" pitchFamily="34" charset="-122"/>
                <a:cs typeface="Cambria" pitchFamily="34" charset="-120"/>
              </a:rPr>
              <a:t>02</a:t>
            </a:r>
            <a:endParaRPr lang="en-US" sz="2200" dirty="0"/>
          </a:p>
        </p:txBody>
      </p:sp>
      <p:sp>
        <p:nvSpPr>
          <p:cNvPr id="10" name="Text 8"/>
          <p:cNvSpPr txBox="1"/>
          <p:nvPr/>
        </p:nvSpPr>
        <p:spPr>
          <a:xfrm>
            <a:off x="4709160" y="2852928"/>
            <a:ext cx="2743200" cy="411480"/>
          </a:xfrm>
          <a:prstGeom prst="rect">
            <a:avLst/>
          </a:prstGeom>
          <a:noFill/>
          <a:ln/>
        </p:spPr>
        <p:txBody>
          <a:bodyPr wrap="square" lIns="0" tIns="0" rIns="0" bIns="0" rtlCol="0" anchor="ctr"/>
          <a:lstStyle/>
          <a:p>
            <a:pPr indent="0" marL="0">
              <a:buNone/>
            </a:pPr>
            <a:r>
              <a:rPr lang="en-US" sz="1500" b="1" dirty="0">
                <a:solidFill>
                  <a:srgbClr val="11182B"/>
                </a:solidFill>
              </a:rPr>
              <a:t>Learn new industries</a:t>
            </a:r>
            <a:endParaRPr lang="en-US" sz="1500" dirty="0"/>
          </a:p>
        </p:txBody>
      </p:sp>
      <p:sp>
        <p:nvSpPr>
          <p:cNvPr id="11" name="Text 9"/>
          <p:cNvSpPr txBox="1"/>
          <p:nvPr/>
        </p:nvSpPr>
        <p:spPr>
          <a:xfrm>
            <a:off x="4709160" y="3273552"/>
            <a:ext cx="2743200" cy="960120"/>
          </a:xfrm>
          <a:prstGeom prst="rect">
            <a:avLst/>
          </a:prstGeom>
          <a:noFill/>
          <a:ln/>
        </p:spPr>
        <p:txBody>
          <a:bodyPr wrap="square" lIns="0" tIns="0" rIns="0" bIns="0" rtlCol="0" anchor="ctr"/>
          <a:lstStyle/>
          <a:p>
            <a:pPr indent="0" marL="0">
              <a:buNone/>
            </a:pPr>
            <a:r>
              <a:rPr lang="en-US" sz="1200" dirty="0">
                <a:solidFill>
                  <a:srgbClr val="5A6478"/>
                </a:solidFill>
              </a:rPr>
              <a:t>A capability agency that learns an industry, then hands it to firms. Years 2 to 5, the window is open now.</a:t>
            </a:r>
            <a:endParaRPr lang="en-US" sz="1200" dirty="0"/>
          </a:p>
        </p:txBody>
      </p:sp>
      <p:sp>
        <p:nvSpPr>
          <p:cNvPr id="12" name="card-Reach the towns outside"/>
          <p:cNvSpPr/>
          <p:nvPr/>
        </p:nvSpPr>
        <p:spPr>
          <a:xfrm>
            <a:off x="8046720" y="2194560"/>
            <a:ext cx="3291840" cy="2286000"/>
          </a:xfrm>
          <a:prstGeom prst="roundRect">
            <a:avLst>
              <a:gd name="adj" fmla="val 2400"/>
            </a:avLst>
          </a:prstGeom>
          <a:solidFill>
            <a:srgbClr val="FFFFFF"/>
          </a:solidFill>
          <a:ln w="12700">
            <a:solidFill>
              <a:srgbClr val="D8D3CC"/>
            </a:solidFill>
            <a:prstDash val="solid"/>
          </a:ln>
          <a:effectLst>
            <a:outerShdw sx="100000" sy="100000" kx="0" ky="0" algn="bl" rotWithShape="0" blurRad="101600" dist="25400" dir="5400000">
              <a:srgbClr val="000000">
                <a:alpha val="7000"/>
              </a:srgbClr>
            </a:outerShdw>
          </a:effectLst>
        </p:spPr>
      </p:sp>
      <p:sp>
        <p:nvSpPr>
          <p:cNvPr id="13" name="Text 11"/>
          <p:cNvSpPr txBox="1"/>
          <p:nvPr/>
        </p:nvSpPr>
        <p:spPr>
          <a:xfrm>
            <a:off x="8321040" y="2395728"/>
            <a:ext cx="822960" cy="457200"/>
          </a:xfrm>
          <a:prstGeom prst="rect">
            <a:avLst/>
          </a:prstGeom>
          <a:noFill/>
          <a:ln/>
        </p:spPr>
        <p:txBody>
          <a:bodyPr wrap="square" lIns="0" tIns="0" rIns="0" bIns="0" rtlCol="0" anchor="ctr"/>
          <a:lstStyle/>
          <a:p>
            <a:pPr indent="0" marL="0">
              <a:buNone/>
            </a:pPr>
            <a:r>
              <a:rPr lang="en-US" sz="2200" b="1" dirty="0">
                <a:solidFill>
                  <a:srgbClr val="D9A441"/>
                </a:solidFill>
                <a:latin typeface="Cambria" pitchFamily="34" charset="0"/>
                <a:ea typeface="Cambria" pitchFamily="34" charset="-122"/>
                <a:cs typeface="Cambria" pitchFamily="34" charset="-120"/>
              </a:rPr>
              <a:t>03</a:t>
            </a:r>
            <a:endParaRPr lang="en-US" sz="2200" dirty="0"/>
          </a:p>
        </p:txBody>
      </p:sp>
      <p:sp>
        <p:nvSpPr>
          <p:cNvPr id="14" name="Text 12"/>
          <p:cNvSpPr txBox="1"/>
          <p:nvPr/>
        </p:nvSpPr>
        <p:spPr>
          <a:xfrm>
            <a:off x="8321040" y="2852928"/>
            <a:ext cx="2743200" cy="411480"/>
          </a:xfrm>
          <a:prstGeom prst="rect">
            <a:avLst/>
          </a:prstGeom>
          <a:noFill/>
          <a:ln/>
        </p:spPr>
        <p:txBody>
          <a:bodyPr wrap="square" lIns="0" tIns="0" rIns="0" bIns="0" rtlCol="0" anchor="ctr"/>
          <a:lstStyle/>
          <a:p>
            <a:pPr indent="0" marL="0">
              <a:buNone/>
            </a:pPr>
            <a:r>
              <a:rPr lang="en-US" sz="1500" b="1" dirty="0">
                <a:solidFill>
                  <a:srgbClr val="11182B"/>
                </a:solidFill>
              </a:rPr>
              <a:t>Reach the towns outside</a:t>
            </a:r>
            <a:endParaRPr lang="en-US" sz="1500" dirty="0"/>
          </a:p>
        </p:txBody>
      </p:sp>
      <p:sp>
        <p:nvSpPr>
          <p:cNvPr id="15" name="Text 13"/>
          <p:cNvSpPr txBox="1"/>
          <p:nvPr/>
        </p:nvSpPr>
        <p:spPr>
          <a:xfrm>
            <a:off x="8321040" y="3273552"/>
            <a:ext cx="2743200" cy="960120"/>
          </a:xfrm>
          <a:prstGeom prst="rect">
            <a:avLst/>
          </a:prstGeom>
          <a:noFill/>
          <a:ln/>
        </p:spPr>
        <p:txBody>
          <a:bodyPr wrap="square" lIns="0" tIns="0" rIns="0" bIns="0" rtlCol="0" anchor="ctr"/>
          <a:lstStyle/>
          <a:p>
            <a:pPr indent="0" marL="0">
              <a:buNone/>
            </a:pPr>
            <a:r>
              <a:rPr lang="en-US" sz="1200" dirty="0">
                <a:solidFill>
                  <a:srgbClr val="5A6478"/>
                </a:solidFill>
              </a:rPr>
              <a:t>Roads and connectivity to the periphery the capital wrote off. Years 5 to 10, needs the tax base first.</a:t>
            </a:r>
            <a:endParaRPr lang="en-US" sz="1200" dirty="0"/>
          </a:p>
        </p:txBody>
      </p:sp>
      <p:sp>
        <p:nvSpPr>
          <p:cNvPr id="16" name="Text 14"/>
          <p:cNvSpPr txBox="1"/>
          <p:nvPr/>
        </p:nvSpPr>
        <p:spPr>
          <a:xfrm>
            <a:off x="822960" y="4800600"/>
            <a:ext cx="5943600" cy="365760"/>
          </a:xfrm>
          <a:prstGeom prst="rect">
            <a:avLst/>
          </a:prstGeom>
          <a:noFill/>
          <a:ln/>
        </p:spPr>
        <p:txBody>
          <a:bodyPr wrap="square" lIns="0" tIns="0" rIns="0" bIns="0" rtlCol="0" anchor="ctr"/>
          <a:lstStyle/>
          <a:p>
            <a:pPr indent="0" marL="0">
              <a:buNone/>
            </a:pPr>
            <a:r>
              <a:rPr lang="en-US" sz="1700" b="1" dirty="0">
                <a:solidFill>
                  <a:srgbClr val="11182B"/>
                </a:solidFill>
                <a:latin typeface="Cambria" pitchFamily="34" charset="0"/>
                <a:ea typeface="Cambria" pitchFamily="34" charset="-122"/>
                <a:cs typeface="Cambria" pitchFamily="34" charset="-120"/>
              </a:rPr>
              <a:t>We are not promising a growth number</a:t>
            </a:r>
            <a:endParaRPr lang="en-US" sz="1700" dirty="0"/>
          </a:p>
        </p:txBody>
      </p:sp>
      <p:sp>
        <p:nvSpPr>
          <p:cNvPr id="17" name="Text 15"/>
          <p:cNvSpPr txBox="1"/>
          <p:nvPr/>
        </p:nvSpPr>
        <p:spPr>
          <a:xfrm>
            <a:off x="822960" y="5212080"/>
            <a:ext cx="10515600" cy="822960"/>
          </a:xfrm>
          <a:prstGeom prst="rect">
            <a:avLst/>
          </a:prstGeom>
          <a:noFill/>
          <a:ln/>
        </p:spPr>
        <p:txBody>
          <a:bodyPr wrap="square" lIns="0" tIns="0" rIns="0" bIns="0" rtlCol="0" anchor="ctr"/>
          <a:lstStyle/>
          <a:p>
            <a:pPr indent="0" marL="0">
              <a:buNone/>
            </a:pPr>
            <a:r>
              <a:rPr lang="en-US" sz="1300" dirty="0">
                <a:solidFill>
                  <a:srgbClr val="5A6478"/>
                </a:solidFill>
              </a:rPr>
              <a:t>No comparable subregion has run this package before. We commit to three published counts instead: patents filed, how far the poorest region trails, and how many workers are on the books.</a:t>
            </a:r>
            <a:endParaRPr lang="en-US" sz="1300" dirty="0"/>
          </a:p>
        </p:txBody>
      </p:sp>
      <p:sp>
        <p:nvSpPr>
          <p:cNvPr id="18" name="Text 16"/>
          <p:cNvSpPr/>
          <p:nvPr>
            <p:ph hasCustomPrompt="1"/>
          </p:nvPr>
        </p:nvSpPr>
        <p:spPr>
          <a:xfrm>
            <a:off x="822960" y="6263640"/>
            <a:ext cx="10515600" cy="274320"/>
          </a:xfrm>
          <a:prstGeom prst="rect">
            <a:avLst/>
          </a:prstGeom>
          <a:noFill/>
          <a:ln/>
        </p:spPr>
        <p:txBody>
          <a:bodyPr wrap="square" rtlCol="0"/>
          <a:lstStyle/>
          <a:p>
            <a:pPr indent="0" marL="0">
              <a:buNone/>
            </a:pPr>
            <a:r>
              <a:rPr lang="en-US" dirty="0"/>
              <a:t>Programme design original · precedents named on slides 13 to 16 · costings to be built with IDB project data</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hasCustomPrompt="1"/>
          </p:nvPr>
        </p:nvSpPr>
        <p:spPr>
          <a:xfrm>
            <a:off x="822960" y="502920"/>
            <a:ext cx="10515600" cy="274320"/>
          </a:xfrm>
          <a:prstGeom prst="rect">
            <a:avLst/>
          </a:prstGeom>
          <a:noFill/>
          <a:ln/>
        </p:spPr>
        <p:txBody>
          <a:bodyPr wrap="square" rtlCol="0"/>
          <a:lstStyle/>
          <a:p>
            <a:pPr indent="0" marL="0">
              <a:buNone/>
            </a:pPr>
            <a:r>
              <a:rPr lang="en-US" dirty="0"/>
              <a:t>REGIONAL CONTEXT · INCOME</a:t>
            </a:r>
            <a:endParaRPr lang="en-US" dirty="0"/>
          </a:p>
        </p:txBody>
      </p:sp>
      <p:sp>
        <p:nvSpPr>
          <p:cNvPr id="3" name="Text 1"/>
          <p:cNvSpPr/>
          <p:nvPr>
            <p:ph hasCustomPrompt="1"/>
          </p:nvPr>
        </p:nvSpPr>
        <p:spPr>
          <a:xfrm>
            <a:off x="822960" y="868680"/>
            <a:ext cx="6492240" cy="1371600"/>
          </a:xfrm>
          <a:prstGeom prst="rect">
            <a:avLst/>
          </a:prstGeom>
          <a:noFill/>
          <a:ln/>
        </p:spPr>
        <p:txBody>
          <a:bodyPr wrap="square" rtlCol="0"/>
          <a:lstStyle/>
          <a:p>
            <a:pPr indent="0" marL="0">
              <a:buNone/>
            </a:pPr>
            <a:r>
              <a:rPr lang="en-US" dirty="0"/>
              <a:t>Eight countries, a sixfold spread</a:t>
            </a:r>
            <a:endParaRPr lang="en-US" dirty="0"/>
          </a:p>
        </p:txBody>
      </p:sp>
      <p:sp>
        <p:nvSpPr>
          <p:cNvPr id="4" name="Text 2"/>
          <p:cNvSpPr/>
          <p:nvPr>
            <p:ph hasCustomPrompt="1"/>
          </p:nvPr>
        </p:nvSpPr>
        <p:spPr>
          <a:xfrm>
            <a:off x="822960" y="2331720"/>
            <a:ext cx="3931920" cy="3108960"/>
          </a:xfrm>
          <a:prstGeom prst="rect">
            <a:avLst/>
          </a:prstGeom>
          <a:noFill/>
          <a:ln/>
        </p:spPr>
        <p:txBody>
          <a:bodyPr wrap="square" rtlCol="0"/>
          <a:lstStyle/>
          <a:p>
            <a:pPr indent="0" marL="0">
              <a:buNone/>
            </a:pPr>
            <a:r>
              <a:rPr lang="en-US" dirty="0"/>
              <a:t>GDP per person, constant 2015 US dollars, 2025. Panama and Costa Rica sit in a different economy from Honduras and Nicaragua, inside one subregion the Bank treats as one client.</a:t>
            </a:r>
            <a:endParaRPr lang="en-US" dirty="0"/>
          </a:p>
        </p:txBody>
      </p:sp>
      <p:graphicFrame>
        <p:nvGraphicFramePr>
          <p:cNvPr id="5" name="Chart 0" descr=""/>
          <p:cNvGraphicFramePr/>
          <p:nvPr>
            <p:ph hasCustomPrompt="1"/>
          </p:nvPr>
        </p:nvGraphicFramePr>
        <p:xfrm>
          <a:off x="5120640" y="1737360"/>
          <a:ext cx="6217920" cy="393192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ph hasCustomPrompt="1"/>
          </p:nvPr>
        </p:nvSpPr>
        <p:spPr>
          <a:xfrm>
            <a:off x="822960" y="6263640"/>
            <a:ext cx="10515600" cy="274320"/>
          </a:xfrm>
          <a:prstGeom prst="rect">
            <a:avLst/>
          </a:prstGeom>
          <a:noFill/>
          <a:ln/>
        </p:spPr>
        <p:txBody>
          <a:bodyPr wrap="square" rtlCol="0"/>
          <a:lstStyle/>
          <a:p>
            <a:pPr indent="0" marL="0">
              <a:buNone/>
            </a:pPr>
            <a:r>
              <a:rPr lang="en-US" dirty="0"/>
              <a:t>GDP per capita, constant 2015 US$ · World Bank WDI, NY.GDP.PCAP.KD · retrieved 20 Oct 2026</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hasCustomPrompt="1"/>
          </p:nvPr>
        </p:nvSpPr>
        <p:spPr>
          <a:xfrm>
            <a:off x="822960" y="502920"/>
            <a:ext cx="10515600" cy="274320"/>
          </a:xfrm>
          <a:prstGeom prst="rect">
            <a:avLst/>
          </a:prstGeom>
          <a:noFill/>
          <a:ln/>
        </p:spPr>
        <p:txBody>
          <a:bodyPr wrap="square" rtlCol="0"/>
          <a:lstStyle/>
          <a:p>
            <a:pPr indent="0" marL="0">
              <a:buNone/>
            </a:pPr>
            <a:r>
              <a:rPr lang="en-US" dirty="0"/>
              <a:t>REGIONAL CONTEXT · GROWTH AND POVERTY</a:t>
            </a:r>
            <a:endParaRPr lang="en-US" dirty="0"/>
          </a:p>
        </p:txBody>
      </p:sp>
      <p:sp>
        <p:nvSpPr>
          <p:cNvPr id="3" name="Text 1"/>
          <p:cNvSpPr/>
          <p:nvPr>
            <p:ph hasCustomPrompt="1"/>
          </p:nvPr>
        </p:nvSpPr>
        <p:spPr>
          <a:xfrm>
            <a:off x="822960" y="868680"/>
            <a:ext cx="6492240" cy="1371600"/>
          </a:xfrm>
          <a:prstGeom prst="rect">
            <a:avLst/>
          </a:prstGeom>
          <a:noFill/>
          <a:ln/>
        </p:spPr>
        <p:txBody>
          <a:bodyPr wrap="square" rtlCol="0"/>
          <a:lstStyle/>
          <a:p>
            <a:pPr indent="0" marL="0">
              <a:buNone/>
            </a:pPr>
            <a:r>
              <a:rPr lang="en-US" dirty="0"/>
              <a:t>The largest economy has stopped moving</a:t>
            </a:r>
            <a:endParaRPr lang="en-US" dirty="0"/>
          </a:p>
        </p:txBody>
      </p:sp>
      <p:sp>
        <p:nvSpPr>
          <p:cNvPr id="4" name="Text 2"/>
          <p:cNvSpPr/>
          <p:nvPr>
            <p:ph hasCustomPrompt="1"/>
          </p:nvPr>
        </p:nvSpPr>
        <p:spPr>
          <a:xfrm>
            <a:off x="822960" y="2331720"/>
            <a:ext cx="3931920" cy="3108960"/>
          </a:xfrm>
          <a:prstGeom prst="rect">
            <a:avLst/>
          </a:prstGeom>
          <a:noFill/>
          <a:ln/>
        </p:spPr>
        <p:txBody>
          <a:bodyPr wrap="square" rtlCol="0"/>
          <a:lstStyle/>
          <a:p>
            <a:pPr indent="0" marL="0">
              <a:buNone/>
            </a:pPr>
            <a:r>
              <a:rPr lang="en-US" dirty="0"/>
              <a:t>Real GDP growth, 2025. Mexico is 40 percent of the subregion's output and grew at 0.6 percent while its smaller neighbours ran between 2.7 and 4.9.</a:t>
            </a:r>
            <a:endParaRPr lang="en-US" dirty="0"/>
          </a:p>
        </p:txBody>
      </p:sp>
      <p:sp>
        <p:nvSpPr>
          <p:cNvPr id="5" name="stat-0.6%"/>
          <p:cNvSpPr txBox="1"/>
          <p:nvPr/>
        </p:nvSpPr>
        <p:spPr>
          <a:xfrm>
            <a:off x="822960" y="4206240"/>
            <a:ext cx="2103120" cy="868680"/>
          </a:xfrm>
          <a:prstGeom prst="rect">
            <a:avLst/>
          </a:prstGeom>
          <a:noFill/>
          <a:ln/>
        </p:spPr>
        <p:txBody>
          <a:bodyPr wrap="square" lIns="0" tIns="0" rIns="0" bIns="0" rtlCol="0" anchor="ctr"/>
          <a:lstStyle/>
          <a:p>
            <a:pPr indent="0" marL="0">
              <a:buNone/>
            </a:pPr>
            <a:r>
              <a:rPr lang="en-US" sz="4000" b="1" dirty="0">
                <a:solidFill>
                  <a:srgbClr val="C25E3A"/>
                </a:solidFill>
                <a:latin typeface="Cambria" pitchFamily="34" charset="0"/>
                <a:ea typeface="Cambria" pitchFamily="34" charset="-122"/>
                <a:cs typeface="Cambria" pitchFamily="34" charset="-120"/>
              </a:rPr>
              <a:t>0.6%</a:t>
            </a:r>
            <a:endParaRPr lang="en-US" sz="4000" dirty="0"/>
          </a:p>
        </p:txBody>
      </p:sp>
      <p:sp>
        <p:nvSpPr>
          <p:cNvPr id="6" name="Text 4"/>
          <p:cNvSpPr txBox="1"/>
          <p:nvPr/>
        </p:nvSpPr>
        <p:spPr>
          <a:xfrm>
            <a:off x="822960" y="5074920"/>
            <a:ext cx="2103120" cy="685800"/>
          </a:xfrm>
          <a:prstGeom prst="rect">
            <a:avLst/>
          </a:prstGeom>
          <a:noFill/>
          <a:ln/>
        </p:spPr>
        <p:txBody>
          <a:bodyPr wrap="square" lIns="0" tIns="0" rIns="0" bIns="0" rtlCol="0" anchor="ctr"/>
          <a:lstStyle/>
          <a:p>
            <a:pPr indent="0" marL="0">
              <a:buNone/>
            </a:pPr>
            <a:r>
              <a:rPr lang="en-US" sz="1100" dirty="0">
                <a:solidFill>
                  <a:srgbClr val="5A6478"/>
                </a:solidFill>
              </a:rPr>
              <a:t>Mexico real GDP growth, 2025</a:t>
            </a:r>
            <a:endParaRPr lang="en-US" sz="1100" dirty="0"/>
          </a:p>
        </p:txBody>
      </p:sp>
      <p:sp>
        <p:nvSpPr>
          <p:cNvPr id="7" name="stat-60.1%"/>
          <p:cNvSpPr txBox="1"/>
          <p:nvPr/>
        </p:nvSpPr>
        <p:spPr>
          <a:xfrm>
            <a:off x="3108960" y="4206240"/>
            <a:ext cx="2103120" cy="868680"/>
          </a:xfrm>
          <a:prstGeom prst="rect">
            <a:avLst/>
          </a:prstGeom>
          <a:noFill/>
          <a:ln/>
        </p:spPr>
        <p:txBody>
          <a:bodyPr wrap="square" lIns="0" tIns="0" rIns="0" bIns="0" rtlCol="0" anchor="ctr"/>
          <a:lstStyle/>
          <a:p>
            <a:pPr indent="0" marL="0">
              <a:buNone/>
            </a:pPr>
            <a:r>
              <a:rPr lang="en-US" sz="4000" b="1" dirty="0">
                <a:solidFill>
                  <a:srgbClr val="1F6F6B"/>
                </a:solidFill>
                <a:latin typeface="Cambria" pitchFamily="34" charset="0"/>
                <a:ea typeface="Cambria" pitchFamily="34" charset="-122"/>
                <a:cs typeface="Cambria" pitchFamily="34" charset="-120"/>
              </a:rPr>
              <a:t>60.1%</a:t>
            </a:r>
            <a:endParaRPr lang="en-US" sz="4000" dirty="0"/>
          </a:p>
        </p:txBody>
      </p:sp>
      <p:sp>
        <p:nvSpPr>
          <p:cNvPr id="8" name="Text 6"/>
          <p:cNvSpPr txBox="1"/>
          <p:nvPr/>
        </p:nvSpPr>
        <p:spPr>
          <a:xfrm>
            <a:off x="3108960" y="5074920"/>
            <a:ext cx="2103120" cy="685800"/>
          </a:xfrm>
          <a:prstGeom prst="rect">
            <a:avLst/>
          </a:prstGeom>
          <a:noFill/>
          <a:ln/>
        </p:spPr>
        <p:txBody>
          <a:bodyPr wrap="square" lIns="0" tIns="0" rIns="0" bIns="0" rtlCol="0" anchor="ctr"/>
          <a:lstStyle/>
          <a:p>
            <a:pPr indent="0" marL="0">
              <a:buNone/>
            </a:pPr>
            <a:r>
              <a:rPr lang="en-US" sz="1100" dirty="0">
                <a:solidFill>
                  <a:srgbClr val="5A6478"/>
                </a:solidFill>
              </a:rPr>
              <a:t>Honduras poverty headcount, national line, 2025</a:t>
            </a:r>
            <a:endParaRPr lang="en-US" sz="1100" dirty="0"/>
          </a:p>
        </p:txBody>
      </p:sp>
      <p:graphicFrame>
        <p:nvGraphicFramePr>
          <p:cNvPr id="9" name="Chart 0" descr=""/>
          <p:cNvGraphicFramePr/>
          <p:nvPr>
            <p:ph hasCustomPrompt="1"/>
          </p:nvPr>
        </p:nvGraphicFramePr>
        <p:xfrm>
          <a:off x="5120640" y="1737360"/>
          <a:ext cx="6217920" cy="3931920"/>
        </p:xfrm>
        <a:graphic xmlns:a="http://schemas.openxmlformats.org/drawingml/2006/main">
          <a:graphicData uri="http://schemas.openxmlformats.org/drawingml/2006/chart">
            <c:chart xmlns:c="http://schemas.openxmlformats.org/drawingml/2006/chart" r:id="rId1"/>
          </a:graphicData>
        </a:graphic>
      </p:graphicFrame>
      <p:sp>
        <p:nvSpPr>
          <p:cNvPr id="10" name="Text 7"/>
          <p:cNvSpPr/>
          <p:nvPr>
            <p:ph hasCustomPrompt="1"/>
          </p:nvPr>
        </p:nvSpPr>
        <p:spPr>
          <a:xfrm>
            <a:off x="822960" y="6263640"/>
            <a:ext cx="10515600" cy="274320"/>
          </a:xfrm>
          <a:prstGeom prst="rect">
            <a:avLst/>
          </a:prstGeom>
          <a:noFill/>
          <a:ln/>
        </p:spPr>
        <p:txBody>
          <a:bodyPr wrap="square" rtlCol="0"/>
          <a:lstStyle/>
          <a:p>
            <a:pPr indent="0" marL="0">
              <a:buNone/>
            </a:pPr>
            <a:r>
              <a:rPr lang="en-US" dirty="0"/>
              <a:t>Real GDP growth NY.GDP.MKTP.KD.ZG; poverty SI.POV.NAHC · World Bank WDI · retrieved 20 Oct 2026 · Mexico output share UNSURE, to be verified</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hasCustomPrompt="1"/>
          </p:nvPr>
        </p:nvSpPr>
        <p:spPr>
          <a:xfrm>
            <a:off x="822960" y="502920"/>
            <a:ext cx="10515600" cy="274320"/>
          </a:xfrm>
          <a:prstGeom prst="rect">
            <a:avLst/>
          </a:prstGeom>
          <a:noFill/>
          <a:ln/>
        </p:spPr>
        <p:txBody>
          <a:bodyPr wrap="square" rtlCol="0"/>
          <a:lstStyle/>
          <a:p>
            <a:pPr indent="0" marL="0">
              <a:buNone/>
            </a:pPr>
            <a:r>
              <a:rPr lang="en-US" dirty="0"/>
              <a:t>REGIONAL CONTEXT · THE SIGNAL</a:t>
            </a:r>
            <a:endParaRPr lang="en-US" dirty="0"/>
          </a:p>
        </p:txBody>
      </p:sp>
      <p:sp>
        <p:nvSpPr>
          <p:cNvPr id="3" name="Text 1"/>
          <p:cNvSpPr/>
          <p:nvPr>
            <p:ph hasCustomPrompt="1"/>
          </p:nvPr>
        </p:nvSpPr>
        <p:spPr>
          <a:xfrm>
            <a:off x="822960" y="868680"/>
            <a:ext cx="7772400" cy="1371600"/>
          </a:xfrm>
          <a:prstGeom prst="rect">
            <a:avLst/>
          </a:prstGeom>
          <a:noFill/>
          <a:ln/>
        </p:spPr>
        <p:txBody>
          <a:bodyPr wrap="square" rtlCol="0"/>
          <a:lstStyle/>
          <a:p>
            <a:pPr indent="0" marL="0">
              <a:buNone/>
            </a:pPr>
            <a:r>
              <a:rPr lang="en-US" dirty="0"/>
              <a:t>Its inventors filed eight patents all year</a:t>
            </a:r>
            <a:endParaRPr lang="en-US" dirty="0"/>
          </a:p>
        </p:txBody>
      </p:sp>
      <p:sp>
        <p:nvSpPr>
          <p:cNvPr id="4" name="Text 2"/>
          <p:cNvSpPr txBox="1"/>
          <p:nvPr/>
        </p:nvSpPr>
        <p:spPr>
          <a:xfrm>
            <a:off x="822960" y="2103120"/>
            <a:ext cx="4846320" cy="457200"/>
          </a:xfrm>
          <a:prstGeom prst="rect">
            <a:avLst/>
          </a:prstGeom>
          <a:noFill/>
          <a:ln/>
        </p:spPr>
        <p:txBody>
          <a:bodyPr wrap="square" lIns="0" tIns="0" rIns="0" bIns="0" rtlCol="0" anchor="ctr"/>
          <a:lstStyle/>
          <a:p>
            <a:pPr indent="0" marL="0">
              <a:buNone/>
            </a:pPr>
            <a:r>
              <a:rPr lang="en-US" sz="2000" i="1" dirty="0">
                <a:solidFill>
                  <a:srgbClr val="C25E3A"/>
                </a:solidFill>
              </a:rPr>
              <a:t>Not eight thousand. Eight.</a:t>
            </a:r>
            <a:endParaRPr lang="en-US" sz="2000" dirty="0"/>
          </a:p>
        </p:txBody>
      </p:sp>
      <p:sp>
        <p:nvSpPr>
          <p:cNvPr id="5" name="Text 3"/>
          <p:cNvSpPr txBox="1"/>
          <p:nvPr/>
        </p:nvSpPr>
        <p:spPr>
          <a:xfrm>
            <a:off x="822960" y="2606040"/>
            <a:ext cx="4846320" cy="365760"/>
          </a:xfrm>
          <a:prstGeom prst="rect">
            <a:avLst/>
          </a:prstGeom>
          <a:noFill/>
          <a:ln/>
        </p:spPr>
        <p:txBody>
          <a:bodyPr wrap="square" lIns="0" tIns="0" rIns="0" bIns="0" rtlCol="0" anchor="ctr"/>
          <a:lstStyle/>
          <a:p>
            <a:pPr indent="0" marL="0">
              <a:buNone/>
            </a:pPr>
            <a:r>
              <a:rPr lang="en-US" sz="1400" dirty="0">
                <a:solidFill>
                  <a:srgbClr val="5A6478"/>
                </a:solidFill>
              </a:rPr>
              <a:t>Guatemala, 2024. Population 18.4 million.</a:t>
            </a:r>
            <a:endParaRPr lang="en-US" sz="1400" dirty="0"/>
          </a:p>
        </p:txBody>
      </p:sp>
      <p:sp>
        <p:nvSpPr>
          <p:cNvPr id="6" name="stat-8"/>
          <p:cNvSpPr txBox="1"/>
          <p:nvPr/>
        </p:nvSpPr>
        <p:spPr>
          <a:xfrm>
            <a:off x="822960" y="3200400"/>
            <a:ext cx="2194560" cy="868680"/>
          </a:xfrm>
          <a:prstGeom prst="rect">
            <a:avLst/>
          </a:prstGeom>
          <a:noFill/>
          <a:ln/>
        </p:spPr>
        <p:txBody>
          <a:bodyPr wrap="square" lIns="0" tIns="0" rIns="0" bIns="0" rtlCol="0" anchor="ctr"/>
          <a:lstStyle/>
          <a:p>
            <a:pPr indent="0" marL="0">
              <a:buNone/>
            </a:pPr>
            <a:r>
              <a:rPr lang="en-US" sz="7000" b="1" dirty="0">
                <a:solidFill>
                  <a:srgbClr val="C25E3A"/>
                </a:solidFill>
                <a:latin typeface="Cambria" pitchFamily="34" charset="0"/>
                <a:ea typeface="Cambria" pitchFamily="34" charset="-122"/>
                <a:cs typeface="Cambria" pitchFamily="34" charset="-120"/>
              </a:rPr>
              <a:t>8</a:t>
            </a:r>
            <a:endParaRPr lang="en-US" sz="7000" dirty="0"/>
          </a:p>
        </p:txBody>
      </p:sp>
      <p:sp>
        <p:nvSpPr>
          <p:cNvPr id="7" name="Text 5"/>
          <p:cNvSpPr txBox="1"/>
          <p:nvPr/>
        </p:nvSpPr>
        <p:spPr>
          <a:xfrm>
            <a:off x="822960" y="4069080"/>
            <a:ext cx="2194560" cy="685800"/>
          </a:xfrm>
          <a:prstGeom prst="rect">
            <a:avLst/>
          </a:prstGeom>
          <a:noFill/>
          <a:ln/>
        </p:spPr>
        <p:txBody>
          <a:bodyPr wrap="square" lIns="0" tIns="0" rIns="0" bIns="0" rtlCol="0" anchor="ctr"/>
          <a:lstStyle/>
          <a:p>
            <a:pPr indent="0" marL="0">
              <a:buNone/>
            </a:pPr>
            <a:r>
              <a:rPr lang="en-US" sz="1100" dirty="0">
                <a:solidFill>
                  <a:srgbClr val="5A6478"/>
                </a:solidFill>
              </a:rPr>
              <a:t>Patent applications, whole country, whole year</a:t>
            </a:r>
            <a:endParaRPr lang="en-US" sz="1100" dirty="0"/>
          </a:p>
        </p:txBody>
      </p:sp>
      <p:sp>
        <p:nvSpPr>
          <p:cNvPr id="8" name="stat-195,786"/>
          <p:cNvSpPr txBox="1"/>
          <p:nvPr/>
        </p:nvSpPr>
        <p:spPr>
          <a:xfrm>
            <a:off x="3291840" y="3200400"/>
            <a:ext cx="2560320" cy="868680"/>
          </a:xfrm>
          <a:prstGeom prst="rect">
            <a:avLst/>
          </a:prstGeom>
          <a:noFill/>
          <a:ln/>
        </p:spPr>
        <p:txBody>
          <a:bodyPr wrap="square" lIns="0" tIns="0" rIns="0" bIns="0" rtlCol="0" anchor="ctr"/>
          <a:lstStyle/>
          <a:p>
            <a:pPr indent="0" marL="0">
              <a:buNone/>
            </a:pPr>
            <a:r>
              <a:rPr lang="en-US" sz="3600" b="1" dirty="0">
                <a:solidFill>
                  <a:srgbClr val="1F6F6B"/>
                </a:solidFill>
                <a:latin typeface="Cambria" pitchFamily="34" charset="0"/>
                <a:ea typeface="Cambria" pitchFamily="34" charset="-122"/>
                <a:cs typeface="Cambria" pitchFamily="34" charset="-120"/>
              </a:rPr>
              <a:t>195,786</a:t>
            </a:r>
            <a:endParaRPr lang="en-US" sz="3600" dirty="0"/>
          </a:p>
        </p:txBody>
      </p:sp>
      <p:sp>
        <p:nvSpPr>
          <p:cNvPr id="9" name="Text 7"/>
          <p:cNvSpPr txBox="1"/>
          <p:nvPr/>
        </p:nvSpPr>
        <p:spPr>
          <a:xfrm>
            <a:off x="3291840" y="4069080"/>
            <a:ext cx="2560320" cy="685800"/>
          </a:xfrm>
          <a:prstGeom prst="rect">
            <a:avLst/>
          </a:prstGeom>
          <a:noFill/>
          <a:ln/>
        </p:spPr>
        <p:txBody>
          <a:bodyPr wrap="square" lIns="0" tIns="0" rIns="0" bIns="0" rtlCol="0" anchor="ctr"/>
          <a:lstStyle/>
          <a:p>
            <a:pPr indent="0" marL="0">
              <a:buNone/>
            </a:pPr>
            <a:r>
              <a:rPr lang="en-US" sz="1100" dirty="0">
                <a:solidFill>
                  <a:srgbClr val="5A6478"/>
                </a:solidFill>
              </a:rPr>
              <a:t>Patent applications, South Korea, same year, same definition</a:t>
            </a:r>
            <a:endParaRPr lang="en-US" sz="1100" dirty="0"/>
          </a:p>
        </p:txBody>
      </p:sp>
      <p:sp>
        <p:nvSpPr>
          <p:cNvPr id="10" name="Text 8"/>
          <p:cNvSpPr txBox="1"/>
          <p:nvPr/>
        </p:nvSpPr>
        <p:spPr>
          <a:xfrm>
            <a:off x="6309360" y="2103120"/>
            <a:ext cx="5029200" cy="320040"/>
          </a:xfrm>
          <a:prstGeom prst="rect">
            <a:avLst/>
          </a:prstGeom>
          <a:noFill/>
          <a:ln/>
        </p:spPr>
        <p:txBody>
          <a:bodyPr wrap="square" lIns="0" tIns="0" rIns="0" bIns="0" rtlCol="0" anchor="ctr"/>
          <a:lstStyle/>
          <a:p>
            <a:pPr indent="0" marL="0">
              <a:buNone/>
            </a:pPr>
            <a:r>
              <a:rPr lang="en-US" sz="1200" b="1" dirty="0">
                <a:solidFill>
                  <a:srgbClr val="11182B"/>
                </a:solidFill>
              </a:rPr>
              <a:t>Patents per million people, 2024</a:t>
            </a:r>
            <a:endParaRPr lang="en-US" sz="1200" dirty="0"/>
          </a:p>
        </p:txBody>
      </p:sp>
      <p:sp>
        <p:nvSpPr>
          <p:cNvPr id="11" name="Text 9"/>
          <p:cNvSpPr txBox="1"/>
          <p:nvPr/>
        </p:nvSpPr>
        <p:spPr>
          <a:xfrm>
            <a:off x="6309360" y="2514600"/>
            <a:ext cx="2011680" cy="365760"/>
          </a:xfrm>
          <a:prstGeom prst="rect">
            <a:avLst/>
          </a:prstGeom>
          <a:noFill/>
          <a:ln/>
        </p:spPr>
        <p:txBody>
          <a:bodyPr wrap="square" lIns="0" tIns="0" rIns="0" bIns="0" rtlCol="0" anchor="ctr"/>
          <a:lstStyle/>
          <a:p>
            <a:pPr indent="0" marL="0">
              <a:buNone/>
            </a:pPr>
            <a:r>
              <a:rPr lang="en-US" sz="1300" dirty="0">
                <a:solidFill>
                  <a:srgbClr val="11182B"/>
                </a:solidFill>
              </a:rPr>
              <a:t>Guatemala</a:t>
            </a:r>
            <a:endParaRPr lang="en-US" sz="1300" dirty="0"/>
          </a:p>
        </p:txBody>
      </p:sp>
      <p:sp>
        <p:nvSpPr>
          <p:cNvPr id="12" name="Text 10"/>
          <p:cNvSpPr txBox="1"/>
          <p:nvPr/>
        </p:nvSpPr>
        <p:spPr>
          <a:xfrm>
            <a:off x="8412480" y="2514600"/>
            <a:ext cx="1005840" cy="365760"/>
          </a:xfrm>
          <a:prstGeom prst="rect">
            <a:avLst/>
          </a:prstGeom>
          <a:noFill/>
          <a:ln/>
        </p:spPr>
        <p:txBody>
          <a:bodyPr wrap="square" lIns="0" tIns="0" rIns="0" bIns="0" rtlCol="0" anchor="ctr"/>
          <a:lstStyle/>
          <a:p>
            <a:pPr algn="r" indent="0" marL="0">
              <a:buNone/>
            </a:pPr>
            <a:r>
              <a:rPr lang="en-US" sz="1300" b="1" dirty="0">
                <a:solidFill>
                  <a:srgbClr val="C25E3A"/>
                </a:solidFill>
              </a:rPr>
              <a:t>0.4</a:t>
            </a:r>
            <a:endParaRPr lang="en-US" sz="1300" dirty="0"/>
          </a:p>
        </p:txBody>
      </p:sp>
      <p:sp>
        <p:nvSpPr>
          <p:cNvPr id="13" name="Shape 11"/>
          <p:cNvSpPr/>
          <p:nvPr/>
        </p:nvSpPr>
        <p:spPr>
          <a:xfrm>
            <a:off x="9601200" y="2633472"/>
            <a:ext cx="27432" cy="128016"/>
          </a:xfrm>
          <a:prstGeom prst="rect">
            <a:avLst/>
          </a:prstGeom>
          <a:solidFill>
            <a:srgbClr val="C25E3A"/>
          </a:solidFill>
          <a:ln/>
        </p:spPr>
      </p:sp>
      <p:sp>
        <p:nvSpPr>
          <p:cNvPr id="14" name="Text 12"/>
          <p:cNvSpPr txBox="1"/>
          <p:nvPr/>
        </p:nvSpPr>
        <p:spPr>
          <a:xfrm>
            <a:off x="6309360" y="3081528"/>
            <a:ext cx="2011680" cy="365760"/>
          </a:xfrm>
          <a:prstGeom prst="rect">
            <a:avLst/>
          </a:prstGeom>
          <a:noFill/>
          <a:ln/>
        </p:spPr>
        <p:txBody>
          <a:bodyPr wrap="square" lIns="0" tIns="0" rIns="0" bIns="0" rtlCol="0" anchor="ctr"/>
          <a:lstStyle/>
          <a:p>
            <a:pPr indent="0" marL="0">
              <a:buNone/>
            </a:pPr>
            <a:r>
              <a:rPr lang="en-US" sz="1300" dirty="0">
                <a:solidFill>
                  <a:srgbClr val="11182B"/>
                </a:solidFill>
              </a:rPr>
              <a:t>Costa Rica</a:t>
            </a:r>
            <a:endParaRPr lang="en-US" sz="1300" dirty="0"/>
          </a:p>
        </p:txBody>
      </p:sp>
      <p:sp>
        <p:nvSpPr>
          <p:cNvPr id="15" name="Text 13"/>
          <p:cNvSpPr txBox="1"/>
          <p:nvPr/>
        </p:nvSpPr>
        <p:spPr>
          <a:xfrm>
            <a:off x="8412480" y="3081528"/>
            <a:ext cx="1005840" cy="365760"/>
          </a:xfrm>
          <a:prstGeom prst="rect">
            <a:avLst/>
          </a:prstGeom>
          <a:noFill/>
          <a:ln/>
        </p:spPr>
        <p:txBody>
          <a:bodyPr wrap="square" lIns="0" tIns="0" rIns="0" bIns="0" rtlCol="0" anchor="ctr"/>
          <a:lstStyle/>
          <a:p>
            <a:pPr algn="r" indent="0" marL="0">
              <a:buNone/>
            </a:pPr>
            <a:r>
              <a:rPr lang="en-US" sz="1300" b="1" dirty="0">
                <a:solidFill>
                  <a:srgbClr val="C25E3A"/>
                </a:solidFill>
              </a:rPr>
              <a:t>2.9</a:t>
            </a:r>
            <a:endParaRPr lang="en-US" sz="1300" dirty="0"/>
          </a:p>
        </p:txBody>
      </p:sp>
      <p:sp>
        <p:nvSpPr>
          <p:cNvPr id="16" name="Shape 14"/>
          <p:cNvSpPr/>
          <p:nvPr/>
        </p:nvSpPr>
        <p:spPr>
          <a:xfrm>
            <a:off x="9601200" y="3200400"/>
            <a:ext cx="27432" cy="128016"/>
          </a:xfrm>
          <a:prstGeom prst="rect">
            <a:avLst/>
          </a:prstGeom>
          <a:solidFill>
            <a:srgbClr val="C25E3A"/>
          </a:solidFill>
          <a:ln/>
        </p:spPr>
      </p:sp>
      <p:sp>
        <p:nvSpPr>
          <p:cNvPr id="17" name="Text 15"/>
          <p:cNvSpPr txBox="1"/>
          <p:nvPr/>
        </p:nvSpPr>
        <p:spPr>
          <a:xfrm>
            <a:off x="6309360" y="3648456"/>
            <a:ext cx="2011680" cy="365760"/>
          </a:xfrm>
          <a:prstGeom prst="rect">
            <a:avLst/>
          </a:prstGeom>
          <a:noFill/>
          <a:ln/>
        </p:spPr>
        <p:txBody>
          <a:bodyPr wrap="square" lIns="0" tIns="0" rIns="0" bIns="0" rtlCol="0" anchor="ctr"/>
          <a:lstStyle/>
          <a:p>
            <a:pPr indent="0" marL="0">
              <a:buNone/>
            </a:pPr>
            <a:r>
              <a:rPr lang="en-US" sz="1300" dirty="0">
                <a:solidFill>
                  <a:srgbClr val="11182B"/>
                </a:solidFill>
              </a:rPr>
              <a:t>Mexico</a:t>
            </a:r>
            <a:endParaRPr lang="en-US" sz="1300" dirty="0"/>
          </a:p>
        </p:txBody>
      </p:sp>
      <p:sp>
        <p:nvSpPr>
          <p:cNvPr id="18" name="Text 16"/>
          <p:cNvSpPr txBox="1"/>
          <p:nvPr/>
        </p:nvSpPr>
        <p:spPr>
          <a:xfrm>
            <a:off x="8412480" y="3648456"/>
            <a:ext cx="1005840" cy="365760"/>
          </a:xfrm>
          <a:prstGeom prst="rect">
            <a:avLst/>
          </a:prstGeom>
          <a:noFill/>
          <a:ln/>
        </p:spPr>
        <p:txBody>
          <a:bodyPr wrap="square" lIns="0" tIns="0" rIns="0" bIns="0" rtlCol="0" anchor="ctr"/>
          <a:lstStyle/>
          <a:p>
            <a:pPr algn="r" indent="0" marL="0">
              <a:buNone/>
            </a:pPr>
            <a:r>
              <a:rPr lang="en-US" sz="1300" b="1" dirty="0">
                <a:solidFill>
                  <a:srgbClr val="C25E3A"/>
                </a:solidFill>
              </a:rPr>
              <a:t>9</a:t>
            </a:r>
            <a:endParaRPr lang="en-US" sz="1300" dirty="0"/>
          </a:p>
        </p:txBody>
      </p:sp>
      <p:sp>
        <p:nvSpPr>
          <p:cNvPr id="19" name="Shape 17"/>
          <p:cNvSpPr/>
          <p:nvPr/>
        </p:nvSpPr>
        <p:spPr>
          <a:xfrm>
            <a:off x="9601200" y="3767328"/>
            <a:ext cx="27432" cy="128016"/>
          </a:xfrm>
          <a:prstGeom prst="rect">
            <a:avLst/>
          </a:prstGeom>
          <a:solidFill>
            <a:srgbClr val="C25E3A"/>
          </a:solidFill>
          <a:ln/>
        </p:spPr>
      </p:sp>
      <p:sp>
        <p:nvSpPr>
          <p:cNvPr id="20" name="Text 18"/>
          <p:cNvSpPr txBox="1"/>
          <p:nvPr/>
        </p:nvSpPr>
        <p:spPr>
          <a:xfrm>
            <a:off x="6309360" y="4215384"/>
            <a:ext cx="2011680" cy="365760"/>
          </a:xfrm>
          <a:prstGeom prst="rect">
            <a:avLst/>
          </a:prstGeom>
          <a:noFill/>
          <a:ln/>
        </p:spPr>
        <p:txBody>
          <a:bodyPr wrap="square" lIns="0" tIns="0" rIns="0" bIns="0" rtlCol="0" anchor="ctr"/>
          <a:lstStyle/>
          <a:p>
            <a:pPr indent="0" marL="0">
              <a:buNone/>
            </a:pPr>
            <a:r>
              <a:rPr lang="en-US" sz="1300" dirty="0">
                <a:solidFill>
                  <a:srgbClr val="11182B"/>
                </a:solidFill>
              </a:rPr>
              <a:t>Chile</a:t>
            </a:r>
            <a:endParaRPr lang="en-US" sz="1300" dirty="0"/>
          </a:p>
        </p:txBody>
      </p:sp>
      <p:sp>
        <p:nvSpPr>
          <p:cNvPr id="21" name="Text 19"/>
          <p:cNvSpPr txBox="1"/>
          <p:nvPr/>
        </p:nvSpPr>
        <p:spPr>
          <a:xfrm>
            <a:off x="8412480" y="4215384"/>
            <a:ext cx="1005840" cy="365760"/>
          </a:xfrm>
          <a:prstGeom prst="rect">
            <a:avLst/>
          </a:prstGeom>
          <a:noFill/>
          <a:ln/>
        </p:spPr>
        <p:txBody>
          <a:bodyPr wrap="square" lIns="0" tIns="0" rIns="0" bIns="0" rtlCol="0" anchor="ctr"/>
          <a:lstStyle/>
          <a:p>
            <a:pPr algn="r" indent="0" marL="0">
              <a:buNone/>
            </a:pPr>
            <a:r>
              <a:rPr lang="en-US" sz="1300" b="1" dirty="0">
                <a:solidFill>
                  <a:srgbClr val="C25E3A"/>
                </a:solidFill>
              </a:rPr>
              <a:t>19.7</a:t>
            </a:r>
            <a:endParaRPr lang="en-US" sz="1300" dirty="0"/>
          </a:p>
        </p:txBody>
      </p:sp>
      <p:sp>
        <p:nvSpPr>
          <p:cNvPr id="22" name="Shape 20"/>
          <p:cNvSpPr/>
          <p:nvPr/>
        </p:nvSpPr>
        <p:spPr>
          <a:xfrm>
            <a:off x="9601200" y="4334256"/>
            <a:ext cx="27432" cy="128016"/>
          </a:xfrm>
          <a:prstGeom prst="rect">
            <a:avLst/>
          </a:prstGeom>
          <a:solidFill>
            <a:srgbClr val="C25E3A"/>
          </a:solidFill>
          <a:ln/>
        </p:spPr>
      </p:sp>
      <p:sp>
        <p:nvSpPr>
          <p:cNvPr id="23" name="Text 21"/>
          <p:cNvSpPr txBox="1"/>
          <p:nvPr/>
        </p:nvSpPr>
        <p:spPr>
          <a:xfrm>
            <a:off x="6309360" y="4782312"/>
            <a:ext cx="2011680" cy="365760"/>
          </a:xfrm>
          <a:prstGeom prst="rect">
            <a:avLst/>
          </a:prstGeom>
          <a:noFill/>
          <a:ln/>
        </p:spPr>
        <p:txBody>
          <a:bodyPr wrap="square" lIns="0" tIns="0" rIns="0" bIns="0" rtlCol="0" anchor="ctr"/>
          <a:lstStyle/>
          <a:p>
            <a:pPr indent="0" marL="0">
              <a:buNone/>
            </a:pPr>
            <a:r>
              <a:rPr lang="en-US" sz="1300" dirty="0">
                <a:solidFill>
                  <a:srgbClr val="11182B"/>
                </a:solidFill>
              </a:rPr>
              <a:t>Brazil</a:t>
            </a:r>
            <a:endParaRPr lang="en-US" sz="1300" dirty="0"/>
          </a:p>
        </p:txBody>
      </p:sp>
      <p:sp>
        <p:nvSpPr>
          <p:cNvPr id="24" name="Text 22"/>
          <p:cNvSpPr txBox="1"/>
          <p:nvPr/>
        </p:nvSpPr>
        <p:spPr>
          <a:xfrm>
            <a:off x="8412480" y="4782312"/>
            <a:ext cx="1005840" cy="365760"/>
          </a:xfrm>
          <a:prstGeom prst="rect">
            <a:avLst/>
          </a:prstGeom>
          <a:noFill/>
          <a:ln/>
        </p:spPr>
        <p:txBody>
          <a:bodyPr wrap="square" lIns="0" tIns="0" rIns="0" bIns="0" rtlCol="0" anchor="ctr"/>
          <a:lstStyle/>
          <a:p>
            <a:pPr algn="r" indent="0" marL="0">
              <a:buNone/>
            </a:pPr>
            <a:r>
              <a:rPr lang="en-US" sz="1300" b="1" dirty="0">
                <a:solidFill>
                  <a:srgbClr val="C25E3A"/>
                </a:solidFill>
              </a:rPr>
              <a:t>27.1</a:t>
            </a:r>
            <a:endParaRPr lang="en-US" sz="1300" dirty="0"/>
          </a:p>
        </p:txBody>
      </p:sp>
      <p:sp>
        <p:nvSpPr>
          <p:cNvPr id="25" name="Shape 23"/>
          <p:cNvSpPr/>
          <p:nvPr/>
        </p:nvSpPr>
        <p:spPr>
          <a:xfrm>
            <a:off x="9601200" y="4901184"/>
            <a:ext cx="27432" cy="128016"/>
          </a:xfrm>
          <a:prstGeom prst="rect">
            <a:avLst/>
          </a:prstGeom>
          <a:solidFill>
            <a:srgbClr val="C25E3A"/>
          </a:solidFill>
          <a:ln/>
        </p:spPr>
      </p:sp>
      <p:sp>
        <p:nvSpPr>
          <p:cNvPr id="26" name="Text 24"/>
          <p:cNvSpPr txBox="1"/>
          <p:nvPr/>
        </p:nvSpPr>
        <p:spPr>
          <a:xfrm>
            <a:off x="6309360" y="5349240"/>
            <a:ext cx="2011680" cy="365760"/>
          </a:xfrm>
          <a:prstGeom prst="rect">
            <a:avLst/>
          </a:prstGeom>
          <a:noFill/>
          <a:ln/>
        </p:spPr>
        <p:txBody>
          <a:bodyPr wrap="square" lIns="0" tIns="0" rIns="0" bIns="0" rtlCol="0" anchor="ctr"/>
          <a:lstStyle/>
          <a:p>
            <a:pPr indent="0" marL="0">
              <a:buNone/>
            </a:pPr>
            <a:r>
              <a:rPr lang="en-US" sz="1300" dirty="0">
                <a:solidFill>
                  <a:srgbClr val="11182B"/>
                </a:solidFill>
              </a:rPr>
              <a:t>South Korea</a:t>
            </a:r>
            <a:endParaRPr lang="en-US" sz="1300" dirty="0"/>
          </a:p>
        </p:txBody>
      </p:sp>
      <p:sp>
        <p:nvSpPr>
          <p:cNvPr id="27" name="Text 25"/>
          <p:cNvSpPr txBox="1"/>
          <p:nvPr/>
        </p:nvSpPr>
        <p:spPr>
          <a:xfrm>
            <a:off x="8412480" y="5349240"/>
            <a:ext cx="1005840" cy="365760"/>
          </a:xfrm>
          <a:prstGeom prst="rect">
            <a:avLst/>
          </a:prstGeom>
          <a:noFill/>
          <a:ln/>
        </p:spPr>
        <p:txBody>
          <a:bodyPr wrap="square" lIns="0" tIns="0" rIns="0" bIns="0" rtlCol="0" anchor="ctr"/>
          <a:lstStyle/>
          <a:p>
            <a:pPr algn="r" indent="0" marL="0">
              <a:buNone/>
            </a:pPr>
            <a:r>
              <a:rPr lang="en-US" sz="1300" b="1" dirty="0">
                <a:solidFill>
                  <a:srgbClr val="1F6F6B"/>
                </a:solidFill>
              </a:rPr>
              <a:t>3783</a:t>
            </a:r>
            <a:endParaRPr lang="en-US" sz="1300" dirty="0"/>
          </a:p>
        </p:txBody>
      </p:sp>
      <p:sp>
        <p:nvSpPr>
          <p:cNvPr id="28" name="Shape 26"/>
          <p:cNvSpPr/>
          <p:nvPr/>
        </p:nvSpPr>
        <p:spPr>
          <a:xfrm>
            <a:off x="9601200" y="5468112"/>
            <a:ext cx="1645920" cy="128016"/>
          </a:xfrm>
          <a:prstGeom prst="rect">
            <a:avLst/>
          </a:prstGeom>
          <a:solidFill>
            <a:srgbClr val="1F6F6B"/>
          </a:solidFill>
          <a:ln/>
        </p:spPr>
      </p:sp>
      <p:sp>
        <p:nvSpPr>
          <p:cNvPr id="29" name="Text 27"/>
          <p:cNvSpPr txBox="1"/>
          <p:nvPr/>
        </p:nvSpPr>
        <p:spPr>
          <a:xfrm>
            <a:off x="6309360" y="5577840"/>
            <a:ext cx="5029200" cy="320040"/>
          </a:xfrm>
          <a:prstGeom prst="rect">
            <a:avLst/>
          </a:prstGeom>
          <a:noFill/>
          <a:ln/>
        </p:spPr>
        <p:txBody>
          <a:bodyPr wrap="square" lIns="0" tIns="0" rIns="0" bIns="0" rtlCol="0" anchor="ctr"/>
          <a:lstStyle/>
          <a:p>
            <a:pPr indent="0" marL="0">
              <a:buNone/>
            </a:pPr>
            <a:r>
              <a:rPr lang="en-US" sz="1100" i="1" dirty="0">
                <a:solidFill>
                  <a:srgbClr val="6E7B99"/>
                </a:solidFill>
              </a:rPr>
              <a:t>420x Korea's filings per person against Mexico's. Against Guatemala, 8,704x.</a:t>
            </a:r>
            <a:endParaRPr lang="en-US" sz="1100" dirty="0"/>
          </a:p>
        </p:txBody>
      </p:sp>
      <p:sp>
        <p:nvSpPr>
          <p:cNvPr id="30" name="Text 28"/>
          <p:cNvSpPr/>
          <p:nvPr>
            <p:ph hasCustomPrompt="1"/>
          </p:nvPr>
        </p:nvSpPr>
        <p:spPr>
          <a:xfrm>
            <a:off x="822960" y="6263640"/>
            <a:ext cx="10515600" cy="274320"/>
          </a:xfrm>
          <a:prstGeom prst="rect">
            <a:avLst/>
          </a:prstGeom>
          <a:noFill/>
          <a:ln/>
        </p:spPr>
        <p:txBody>
          <a:bodyPr wrap="square" rtlCol="0"/>
          <a:lstStyle/>
          <a:p>
            <a:pPr indent="0" marL="0">
              <a:buNone/>
            </a:pPr>
            <a:r>
              <a:rPr lang="en-US" dirty="0"/>
              <a:t>Patents by residents / population, 2024 · World Bank WDI, IP.PAT.RESD and SP.POP.TOTL · retrieved 20 Oct 2026</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hasCustomPrompt="1"/>
          </p:nvPr>
        </p:nvSpPr>
        <p:spPr>
          <a:xfrm>
            <a:off x="822960" y="502920"/>
            <a:ext cx="10515600" cy="274320"/>
          </a:xfrm>
          <a:prstGeom prst="rect">
            <a:avLst/>
          </a:prstGeom>
          <a:noFill/>
          <a:ln/>
        </p:spPr>
        <p:txBody>
          <a:bodyPr wrap="square" rtlCol="0"/>
          <a:lstStyle/>
          <a:p>
            <a:pPr indent="0" marL="0">
              <a:buNone/>
            </a:pPr>
            <a:r>
              <a:rPr lang="en-US" dirty="0"/>
              <a:t>DIAGNOSTIC · THE REVERSAL</a:t>
            </a:r>
            <a:endParaRPr lang="en-US" dirty="0"/>
          </a:p>
        </p:txBody>
      </p:sp>
      <p:sp>
        <p:nvSpPr>
          <p:cNvPr id="3" name="Text 1"/>
          <p:cNvSpPr/>
          <p:nvPr>
            <p:ph hasCustomPrompt="1"/>
          </p:nvPr>
        </p:nvSpPr>
        <p:spPr>
          <a:xfrm>
            <a:off x="822960" y="868680"/>
            <a:ext cx="6492240" cy="1371600"/>
          </a:xfrm>
          <a:prstGeom prst="rect">
            <a:avLst/>
          </a:prstGeom>
          <a:noFill/>
          <a:ln/>
        </p:spPr>
        <p:txBody>
          <a:bodyPr wrap="square" rtlCol="0"/>
          <a:lstStyle/>
          <a:p>
            <a:pPr indent="0" marL="0">
              <a:buNone/>
            </a:pPr>
            <a:r>
              <a:rPr lang="en-US" dirty="0"/>
              <a:t>Korea was standing right here</a:t>
            </a:r>
            <a:endParaRPr lang="en-US" dirty="0"/>
          </a:p>
        </p:txBody>
      </p:sp>
      <p:sp>
        <p:nvSpPr>
          <p:cNvPr id="4" name="Text 2"/>
          <p:cNvSpPr/>
          <p:nvPr>
            <p:ph hasCustomPrompt="1"/>
          </p:nvPr>
        </p:nvSpPr>
        <p:spPr>
          <a:xfrm>
            <a:off x="822960" y="2331720"/>
            <a:ext cx="3931920" cy="3108960"/>
          </a:xfrm>
          <a:prstGeom prst="rect">
            <a:avLst/>
          </a:prstGeom>
          <a:noFill/>
          <a:ln/>
        </p:spPr>
        <p:txBody>
          <a:bodyPr wrap="square" rtlCol="0"/>
          <a:lstStyle/>
          <a:p>
            <a:pPr indent="0" marL="0">
              <a:buNone/>
            </a:pPr>
            <a:r>
              <a:rPr lang="en-US" dirty="0"/>
              <a:t>In 1980 Mexico and Korea filed almost the same number of patents. Korea's entire lead was 1.8 times. This gap is not ancient. It was built inside one career.</a:t>
            </a:r>
            <a:endParaRPr lang="en-US" dirty="0"/>
          </a:p>
        </p:txBody>
      </p:sp>
      <p:sp>
        <p:nvSpPr>
          <p:cNvPr id="5" name="stat-704"/>
          <p:cNvSpPr txBox="1"/>
          <p:nvPr/>
        </p:nvSpPr>
        <p:spPr>
          <a:xfrm>
            <a:off x="822960" y="4389120"/>
            <a:ext cx="2103120" cy="868680"/>
          </a:xfrm>
          <a:prstGeom prst="rect">
            <a:avLst/>
          </a:prstGeom>
          <a:noFill/>
          <a:ln/>
        </p:spPr>
        <p:txBody>
          <a:bodyPr wrap="square" lIns="0" tIns="0" rIns="0" bIns="0" rtlCol="0" anchor="ctr"/>
          <a:lstStyle/>
          <a:p>
            <a:pPr indent="0" marL="0">
              <a:buNone/>
            </a:pPr>
            <a:r>
              <a:rPr lang="en-US" sz="4000" b="1" dirty="0">
                <a:solidFill>
                  <a:srgbClr val="C25E3A"/>
                </a:solidFill>
                <a:latin typeface="Cambria" pitchFamily="34" charset="0"/>
                <a:ea typeface="Cambria" pitchFamily="34" charset="-122"/>
                <a:cs typeface="Cambria" pitchFamily="34" charset="-120"/>
              </a:rPr>
              <a:t>704</a:t>
            </a:r>
            <a:endParaRPr lang="en-US" sz="4000" dirty="0"/>
          </a:p>
        </p:txBody>
      </p:sp>
      <p:sp>
        <p:nvSpPr>
          <p:cNvPr id="6" name="Text 4"/>
          <p:cNvSpPr txBox="1"/>
          <p:nvPr/>
        </p:nvSpPr>
        <p:spPr>
          <a:xfrm>
            <a:off x="822960" y="5257800"/>
            <a:ext cx="2103120" cy="685800"/>
          </a:xfrm>
          <a:prstGeom prst="rect">
            <a:avLst/>
          </a:prstGeom>
          <a:noFill/>
          <a:ln/>
        </p:spPr>
        <p:txBody>
          <a:bodyPr wrap="square" lIns="0" tIns="0" rIns="0" bIns="0" rtlCol="0" anchor="ctr"/>
          <a:lstStyle/>
          <a:p>
            <a:pPr indent="0" marL="0">
              <a:buNone/>
            </a:pPr>
            <a:r>
              <a:rPr lang="en-US" sz="1100" dirty="0">
                <a:solidFill>
                  <a:srgbClr val="5A6478"/>
                </a:solidFill>
              </a:rPr>
              <a:t>Mexico, patents filed, 1980</a:t>
            </a:r>
            <a:endParaRPr lang="en-US" sz="1100" dirty="0"/>
          </a:p>
        </p:txBody>
      </p:sp>
      <p:sp>
        <p:nvSpPr>
          <p:cNvPr id="7" name="stat-1,241"/>
          <p:cNvSpPr txBox="1"/>
          <p:nvPr/>
        </p:nvSpPr>
        <p:spPr>
          <a:xfrm>
            <a:off x="3108960" y="4389120"/>
            <a:ext cx="2103120" cy="868680"/>
          </a:xfrm>
          <a:prstGeom prst="rect">
            <a:avLst/>
          </a:prstGeom>
          <a:noFill/>
          <a:ln/>
        </p:spPr>
        <p:txBody>
          <a:bodyPr wrap="square" lIns="0" tIns="0" rIns="0" bIns="0" rtlCol="0" anchor="ctr"/>
          <a:lstStyle/>
          <a:p>
            <a:pPr indent="0" marL="0">
              <a:buNone/>
            </a:pPr>
            <a:r>
              <a:rPr lang="en-US" sz="4000" b="1" dirty="0">
                <a:solidFill>
                  <a:srgbClr val="1F6F6B"/>
                </a:solidFill>
                <a:latin typeface="Cambria" pitchFamily="34" charset="0"/>
                <a:ea typeface="Cambria" pitchFamily="34" charset="-122"/>
                <a:cs typeface="Cambria" pitchFamily="34" charset="-120"/>
              </a:rPr>
              <a:t>1,241</a:t>
            </a:r>
            <a:endParaRPr lang="en-US" sz="4000" dirty="0"/>
          </a:p>
        </p:txBody>
      </p:sp>
      <p:sp>
        <p:nvSpPr>
          <p:cNvPr id="8" name="Text 6"/>
          <p:cNvSpPr txBox="1"/>
          <p:nvPr/>
        </p:nvSpPr>
        <p:spPr>
          <a:xfrm>
            <a:off x="3108960" y="5257800"/>
            <a:ext cx="2103120" cy="685800"/>
          </a:xfrm>
          <a:prstGeom prst="rect">
            <a:avLst/>
          </a:prstGeom>
          <a:noFill/>
          <a:ln/>
        </p:spPr>
        <p:txBody>
          <a:bodyPr wrap="square" lIns="0" tIns="0" rIns="0" bIns="0" rtlCol="0" anchor="ctr"/>
          <a:lstStyle/>
          <a:p>
            <a:pPr indent="0" marL="0">
              <a:buNone/>
            </a:pPr>
            <a:r>
              <a:rPr lang="en-US" sz="1100" dirty="0">
                <a:solidFill>
                  <a:srgbClr val="5A6478"/>
                </a:solidFill>
              </a:rPr>
              <a:t>Korea, patents filed, 1980</a:t>
            </a:r>
            <a:endParaRPr lang="en-US" sz="1100" dirty="0"/>
          </a:p>
        </p:txBody>
      </p:sp>
      <p:graphicFrame>
        <p:nvGraphicFramePr>
          <p:cNvPr id="9" name="Chart 0" descr=""/>
          <p:cNvGraphicFramePr/>
          <p:nvPr>
            <p:ph hasCustomPrompt="1"/>
          </p:nvPr>
        </p:nvGraphicFramePr>
        <p:xfrm>
          <a:off x="5120640" y="1737360"/>
          <a:ext cx="6217920" cy="3931920"/>
        </p:xfrm>
        <a:graphic xmlns:a="http://schemas.openxmlformats.org/drawingml/2006/main">
          <a:graphicData uri="http://schemas.openxmlformats.org/drawingml/2006/chart">
            <c:chart xmlns:c="http://schemas.openxmlformats.org/drawingml/2006/chart" r:id="rId1"/>
          </a:graphicData>
        </a:graphic>
      </p:graphicFrame>
      <p:sp>
        <p:nvSpPr>
          <p:cNvPr id="10" name="Text 7"/>
          <p:cNvSpPr/>
          <p:nvPr>
            <p:ph hasCustomPrompt="1"/>
          </p:nvPr>
        </p:nvSpPr>
        <p:spPr>
          <a:xfrm>
            <a:off x="822960" y="6263640"/>
            <a:ext cx="10515600" cy="274320"/>
          </a:xfrm>
          <a:prstGeom prst="rect">
            <a:avLst/>
          </a:prstGeom>
          <a:noFill/>
          <a:ln/>
        </p:spPr>
        <p:txBody>
          <a:bodyPr wrap="square" rtlCol="0"/>
          <a:lstStyle/>
          <a:p>
            <a:pPr indent="0" marL="0">
              <a:buNone/>
            </a:pPr>
            <a:r>
              <a:rPr lang="en-US" dirty="0"/>
              <a:t>Patent applications by residents, 1980 to 2024 · World Bank WDI, IP.PAT.RESD · retrieved 20 Oct 2026</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hasCustomPrompt="1"/>
          </p:nvPr>
        </p:nvSpPr>
        <p:spPr>
          <a:xfrm>
            <a:off x="822960" y="502920"/>
            <a:ext cx="10515600" cy="274320"/>
          </a:xfrm>
          <a:prstGeom prst="rect">
            <a:avLst/>
          </a:prstGeom>
          <a:noFill/>
          <a:ln/>
        </p:spPr>
        <p:txBody>
          <a:bodyPr wrap="square" rtlCol="0"/>
          <a:lstStyle/>
          <a:p>
            <a:pPr indent="0" marL="0">
              <a:buNone/>
            </a:pPr>
            <a:r>
              <a:rPr lang="en-US" dirty="0"/>
              <a:t>DIAGNOSTIC · THE BILL</a:t>
            </a:r>
            <a:endParaRPr lang="en-US" dirty="0"/>
          </a:p>
        </p:txBody>
      </p:sp>
      <p:sp>
        <p:nvSpPr>
          <p:cNvPr id="3" name="Text 1"/>
          <p:cNvSpPr/>
          <p:nvPr>
            <p:ph hasCustomPrompt="1"/>
          </p:nvPr>
        </p:nvSpPr>
        <p:spPr>
          <a:xfrm>
            <a:off x="822960" y="868680"/>
            <a:ext cx="6492240" cy="1371600"/>
          </a:xfrm>
          <a:prstGeom prst="rect">
            <a:avLst/>
          </a:prstGeom>
          <a:noFill/>
          <a:ln/>
        </p:spPr>
        <p:txBody>
          <a:bodyPr wrap="square" rtlCol="0"/>
          <a:lstStyle/>
          <a:p>
            <a:pPr indent="0" marL="0">
              <a:buNone/>
            </a:pPr>
            <a:r>
              <a:rPr lang="en-US" dirty="0"/>
              <a:t>Sixty-four years later, here is the bill</a:t>
            </a:r>
            <a:endParaRPr lang="en-US" dirty="0"/>
          </a:p>
        </p:txBody>
      </p:sp>
      <p:sp>
        <p:nvSpPr>
          <p:cNvPr id="4" name="Text 2"/>
          <p:cNvSpPr/>
          <p:nvPr>
            <p:ph hasCustomPrompt="1"/>
          </p:nvPr>
        </p:nvSpPr>
        <p:spPr>
          <a:xfrm>
            <a:off x="822960" y="2331720"/>
            <a:ext cx="3931920" cy="3108960"/>
          </a:xfrm>
          <a:prstGeom prst="rect">
            <a:avLst/>
          </a:prstGeom>
          <a:noFill/>
          <a:ln/>
        </p:spPr>
        <p:txBody>
          <a:bodyPr wrap="square" rtlCol="0"/>
          <a:lstStyle/>
          <a:p>
            <a:pPr indent="0" marL="0">
              <a:buNone/>
            </a:pPr>
            <a:r>
              <a:rPr lang="en-US" dirty="0"/>
              <a:t>Income per person, constant 2015 US dollars, 1960 to 2024. In 1960 Mexico was four times richer than Korea. The lines cross in 1988 and never cross back.</a:t>
            </a:r>
            <a:endParaRPr lang="en-US" dirty="0"/>
          </a:p>
        </p:txBody>
      </p:sp>
      <p:sp>
        <p:nvSpPr>
          <p:cNvPr id="5" name="stat-3.6x"/>
          <p:cNvSpPr txBox="1"/>
          <p:nvPr/>
        </p:nvSpPr>
        <p:spPr>
          <a:xfrm>
            <a:off x="822960" y="4389120"/>
            <a:ext cx="2103120" cy="868680"/>
          </a:xfrm>
          <a:prstGeom prst="rect">
            <a:avLst/>
          </a:prstGeom>
          <a:noFill/>
          <a:ln/>
        </p:spPr>
        <p:txBody>
          <a:bodyPr wrap="square" lIns="0" tIns="0" rIns="0" bIns="0" rtlCol="0" anchor="ctr"/>
          <a:lstStyle/>
          <a:p>
            <a:pPr indent="0" marL="0">
              <a:buNone/>
            </a:pPr>
            <a:r>
              <a:rPr lang="en-US" sz="4000" b="1" dirty="0">
                <a:solidFill>
                  <a:srgbClr val="1F6F6B"/>
                </a:solidFill>
                <a:latin typeface="Cambria" pitchFamily="34" charset="0"/>
                <a:ea typeface="Cambria" pitchFamily="34" charset="-122"/>
                <a:cs typeface="Cambria" pitchFamily="34" charset="-120"/>
              </a:rPr>
              <a:t>3.6x</a:t>
            </a:r>
            <a:endParaRPr lang="en-US" sz="4000" dirty="0"/>
          </a:p>
        </p:txBody>
      </p:sp>
      <p:sp>
        <p:nvSpPr>
          <p:cNvPr id="6" name="Text 4"/>
          <p:cNvSpPr txBox="1"/>
          <p:nvPr/>
        </p:nvSpPr>
        <p:spPr>
          <a:xfrm>
            <a:off x="822960" y="5257800"/>
            <a:ext cx="2103120" cy="685800"/>
          </a:xfrm>
          <a:prstGeom prst="rect">
            <a:avLst/>
          </a:prstGeom>
          <a:noFill/>
          <a:ln/>
        </p:spPr>
        <p:txBody>
          <a:bodyPr wrap="square" lIns="0" tIns="0" rIns="0" bIns="0" rtlCol="0" anchor="ctr"/>
          <a:lstStyle/>
          <a:p>
            <a:pPr indent="0" marL="0">
              <a:buNone/>
            </a:pPr>
            <a:r>
              <a:rPr lang="en-US" sz="1100" dirty="0">
                <a:solidFill>
                  <a:srgbClr val="5A6478"/>
                </a:solidFill>
              </a:rPr>
              <a:t>Korea's income per person against Mexico's, 2024</a:t>
            </a:r>
            <a:endParaRPr lang="en-US" sz="1100" dirty="0"/>
          </a:p>
        </p:txBody>
      </p:sp>
      <p:sp>
        <p:nvSpPr>
          <p:cNvPr id="7" name="stat-1988"/>
          <p:cNvSpPr txBox="1"/>
          <p:nvPr/>
        </p:nvSpPr>
        <p:spPr>
          <a:xfrm>
            <a:off x="3108960" y="4389120"/>
            <a:ext cx="2103120" cy="868680"/>
          </a:xfrm>
          <a:prstGeom prst="rect">
            <a:avLst/>
          </a:prstGeom>
          <a:noFill/>
          <a:ln/>
        </p:spPr>
        <p:txBody>
          <a:bodyPr wrap="square" lIns="0" tIns="0" rIns="0" bIns="0" rtlCol="0" anchor="ctr"/>
          <a:lstStyle/>
          <a:p>
            <a:pPr indent="0" marL="0">
              <a:buNone/>
            </a:pPr>
            <a:r>
              <a:rPr lang="en-US" sz="4000" b="1" dirty="0">
                <a:solidFill>
                  <a:srgbClr val="C25E3A"/>
                </a:solidFill>
                <a:latin typeface="Cambria" pitchFamily="34" charset="0"/>
                <a:ea typeface="Cambria" pitchFamily="34" charset="-122"/>
                <a:cs typeface="Cambria" pitchFamily="34" charset="-120"/>
              </a:rPr>
              <a:t>1988</a:t>
            </a:r>
            <a:endParaRPr lang="en-US" sz="4000" dirty="0"/>
          </a:p>
        </p:txBody>
      </p:sp>
      <p:sp>
        <p:nvSpPr>
          <p:cNvPr id="8" name="Text 6"/>
          <p:cNvSpPr txBox="1"/>
          <p:nvPr/>
        </p:nvSpPr>
        <p:spPr>
          <a:xfrm>
            <a:off x="3108960" y="5257800"/>
            <a:ext cx="2103120" cy="685800"/>
          </a:xfrm>
          <a:prstGeom prst="rect">
            <a:avLst/>
          </a:prstGeom>
          <a:noFill/>
          <a:ln/>
        </p:spPr>
        <p:txBody>
          <a:bodyPr wrap="square" lIns="0" tIns="0" rIns="0" bIns="0" rtlCol="0" anchor="ctr"/>
          <a:lstStyle/>
          <a:p>
            <a:pPr indent="0" marL="0">
              <a:buNone/>
            </a:pPr>
            <a:r>
              <a:rPr lang="en-US" sz="1100" dirty="0">
                <a:solidFill>
                  <a:srgbClr val="5A6478"/>
                </a:solidFill>
              </a:rPr>
              <a:t>The year the two lines swap</a:t>
            </a:r>
            <a:endParaRPr lang="en-US" sz="1100" dirty="0"/>
          </a:p>
        </p:txBody>
      </p:sp>
      <p:graphicFrame>
        <p:nvGraphicFramePr>
          <p:cNvPr id="9" name="Chart 0" descr=""/>
          <p:cNvGraphicFramePr/>
          <p:nvPr>
            <p:ph hasCustomPrompt="1"/>
          </p:nvPr>
        </p:nvGraphicFramePr>
        <p:xfrm>
          <a:off x="5120640" y="1737360"/>
          <a:ext cx="6217920" cy="3931920"/>
        </p:xfrm>
        <a:graphic xmlns:a="http://schemas.openxmlformats.org/drawingml/2006/main">
          <a:graphicData uri="http://schemas.openxmlformats.org/drawingml/2006/chart">
            <c:chart xmlns:c="http://schemas.openxmlformats.org/drawingml/2006/chart" r:id="rId1"/>
          </a:graphicData>
        </a:graphic>
      </p:graphicFrame>
      <p:sp>
        <p:nvSpPr>
          <p:cNvPr id="10" name="Text 7"/>
          <p:cNvSpPr/>
          <p:nvPr>
            <p:ph hasCustomPrompt="1"/>
          </p:nvPr>
        </p:nvSpPr>
        <p:spPr>
          <a:xfrm>
            <a:off x="822960" y="6263640"/>
            <a:ext cx="10515600" cy="274320"/>
          </a:xfrm>
          <a:prstGeom prst="rect">
            <a:avLst/>
          </a:prstGeom>
          <a:noFill/>
          <a:ln/>
        </p:spPr>
        <p:txBody>
          <a:bodyPr wrap="square" rtlCol="0"/>
          <a:lstStyle/>
          <a:p>
            <a:pPr indent="0" marL="0">
              <a:buNone/>
            </a:pPr>
            <a:r>
              <a:rPr lang="en-US" dirty="0"/>
              <a:t>GDP per capita, constant 2015 US$ · World Bank WDI, NY.GDP.PCAP.KD · retrieved 20 Oct 2026</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hasCustomPrompt="1"/>
          </p:nvPr>
        </p:nvSpPr>
        <p:spPr>
          <a:xfrm>
            <a:off x="822960" y="685800"/>
            <a:ext cx="10515600" cy="274320"/>
          </a:xfrm>
          <a:prstGeom prst="rect">
            <a:avLst/>
          </a:prstGeom>
          <a:noFill/>
          <a:ln/>
        </p:spPr>
        <p:txBody>
          <a:bodyPr wrap="square" rtlCol="0"/>
          <a:lstStyle/>
          <a:p>
            <a:pPr indent="0" marL="0">
              <a:buNone/>
            </a:pPr>
            <a:r>
              <a:rPr lang="en-US" dirty="0"/>
              <a:t>DIAGNOSTIC · THE ARGUMENT</a:t>
            </a:r>
            <a:endParaRPr lang="en-US" dirty="0"/>
          </a:p>
        </p:txBody>
      </p:sp>
      <p:sp>
        <p:nvSpPr>
          <p:cNvPr id="3" name="Text 1"/>
          <p:cNvSpPr/>
          <p:nvPr>
            <p:ph hasCustomPrompt="1"/>
          </p:nvPr>
        </p:nvSpPr>
        <p:spPr>
          <a:xfrm>
            <a:off x="822960" y="1188720"/>
            <a:ext cx="10515600" cy="2194560"/>
          </a:xfrm>
          <a:prstGeom prst="rect">
            <a:avLst/>
          </a:prstGeom>
          <a:noFill/>
          <a:ln/>
        </p:spPr>
        <p:txBody>
          <a:bodyPr wrap="square" rtlCol="0"/>
          <a:lstStyle/>
          <a:p>
            <a:pPr indent="0" marL="0">
              <a:buNone/>
            </a:pPr>
            <a:r>
              <a:rPr lang="en-US" dirty="0"/>
              <a:t>This is not a mystery.</a:t>
            </a:r>
            <a:endParaRPr lang="en-US" dirty="0"/>
          </a:p>
          <a:p>
            <a:pPr indent="0" marL="0">
              <a:buNone/>
            </a:pPr>
            <a:r>
              <a:rPr lang="en-US" dirty="0"/>
              <a:t>It is a purchase</a:t>
            </a:r>
            <a:endParaRPr lang="en-US" dirty="0"/>
          </a:p>
          <a:p>
            <a:pPr indent="0" marL="0">
              <a:buNone/>
            </a:pPr>
            <a:r>
              <a:rPr lang="en-US" dirty="0"/>
              <a:t>nobody made</a:t>
            </a:r>
            <a:endParaRPr lang="en-US" dirty="0"/>
          </a:p>
        </p:txBody>
      </p:sp>
      <p:sp>
        <p:nvSpPr>
          <p:cNvPr id="4" name="Text 2"/>
          <p:cNvSpPr/>
          <p:nvPr>
            <p:ph hasCustomPrompt="1"/>
          </p:nvPr>
        </p:nvSpPr>
        <p:spPr>
          <a:xfrm>
            <a:off x="822960" y="3566160"/>
            <a:ext cx="10515600" cy="2194560"/>
          </a:xfrm>
          <a:prstGeom prst="rect">
            <a:avLst/>
          </a:prstGeom>
          <a:noFill/>
          <a:ln/>
        </p:spPr>
        <p:txBody>
          <a:bodyPr wrap="square" rtlCol="0"/>
          <a:lstStyle/>
          <a:p>
            <a:pPr indent="0" marL="0">
              <a:buNone/>
            </a:pPr>
            <a:r>
              <a:rPr lang="en-US" dirty="0"/>
              <a:t>Knowing how to make hard things is not a national character trait. It is bought, slowly, on purpose.</a:t>
            </a:r>
            <a:endParaRPr lang="en-US" dirty="0"/>
          </a:p>
          <a:p>
            <a:pPr indent="0" marL="0">
              <a:buNone/>
            </a:pPr>
            <a:endParaRPr lang="en-US" dirty="0"/>
          </a:p>
          <a:p>
            <a:pPr indent="0" marL="0">
              <a:buNone/>
            </a:pPr>
            <a:r>
              <a:rPr lang="en-US" dirty="0"/>
              <a:t>Everything before this slide was evidence. Everything after it is what to do.</a:t>
            </a:r>
            <a:endParaRPr lang="en-US" dirty="0"/>
          </a:p>
        </p:txBody>
      </p:sp>
      <p:sp>
        <p:nvSpPr>
          <p:cNvPr id="5" name="Text 3"/>
          <p:cNvSpPr txBox="1"/>
          <p:nvPr/>
        </p:nvSpPr>
        <p:spPr>
          <a:xfrm>
            <a:off x="822960" y="6263640"/>
            <a:ext cx="10515600" cy="274320"/>
          </a:xfrm>
          <a:prstGeom prst="rect">
            <a:avLst/>
          </a:prstGeom>
          <a:noFill/>
          <a:ln/>
        </p:spPr>
        <p:txBody>
          <a:bodyPr wrap="square" lIns="0" tIns="0" rIns="0" bIns="0" rtlCol="0" anchor="ctr"/>
          <a:lstStyle/>
          <a:p>
            <a:pPr indent="0" marL="0">
              <a:buNone/>
            </a:pPr>
            <a:r>
              <a:rPr lang="en-US" sz="900" i="1" dirty="0">
                <a:solidFill>
                  <a:srgbClr val="6E7B99"/>
                </a:solidFill>
              </a:rPr>
              <a:t>Argument, not data · follows from the preceding slides · framing after Hausmann, Rodrik and Velasco, growth diagnostics</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hasCustomPrompt="1"/>
          </p:nvPr>
        </p:nvSpPr>
        <p:spPr>
          <a:xfrm>
            <a:off x="822960" y="502920"/>
            <a:ext cx="10515600" cy="274320"/>
          </a:xfrm>
          <a:prstGeom prst="rect">
            <a:avLst/>
          </a:prstGeom>
          <a:noFill/>
          <a:ln/>
        </p:spPr>
        <p:txBody>
          <a:bodyPr wrap="square" rtlCol="0"/>
          <a:lstStyle/>
          <a:p>
            <a:pPr indent="0" marL="0">
              <a:buNone/>
            </a:pPr>
            <a:r>
              <a:rPr lang="en-US" dirty="0"/>
              <a:t>DIAGNOSTIC · REASON ONE</a:t>
            </a:r>
            <a:endParaRPr lang="en-US" dirty="0"/>
          </a:p>
        </p:txBody>
      </p:sp>
      <p:sp>
        <p:nvSpPr>
          <p:cNvPr id="3" name="Text 1"/>
          <p:cNvSpPr/>
          <p:nvPr>
            <p:ph hasCustomPrompt="1"/>
          </p:nvPr>
        </p:nvSpPr>
        <p:spPr>
          <a:xfrm>
            <a:off x="822960" y="868680"/>
            <a:ext cx="7772400" cy="1371600"/>
          </a:xfrm>
          <a:prstGeom prst="rect">
            <a:avLst/>
          </a:prstGeom>
          <a:noFill/>
          <a:ln/>
        </p:spPr>
        <p:txBody>
          <a:bodyPr wrap="square" rtlCol="0"/>
          <a:lstStyle/>
          <a:p>
            <a:pPr indent="0" marL="0">
              <a:buNone/>
            </a:pPr>
            <a:r>
              <a:rPr lang="en-US" dirty="0"/>
              <a:t>The big cities took, and sent nothing back</a:t>
            </a:r>
            <a:endParaRPr lang="en-US" dirty="0"/>
          </a:p>
        </p:txBody>
      </p:sp>
      <p:sp>
        <p:nvSpPr>
          <p:cNvPr id="4" name="Text 2"/>
          <p:cNvSpPr txBox="1"/>
          <p:nvPr/>
        </p:nvSpPr>
        <p:spPr>
          <a:xfrm>
            <a:off x="822960" y="2194560"/>
            <a:ext cx="4572000" cy="1188720"/>
          </a:xfrm>
          <a:prstGeom prst="rect">
            <a:avLst/>
          </a:prstGeom>
          <a:noFill/>
          <a:ln/>
        </p:spPr>
        <p:txBody>
          <a:bodyPr wrap="square" lIns="0" tIns="0" rIns="0" bIns="0" rtlCol="0" anchor="ctr"/>
          <a:lstStyle/>
          <a:p>
            <a:pPr indent="0" marL="0">
              <a:buNone/>
            </a:pPr>
            <a:r>
              <a:rPr lang="en-US" sz="1400" dirty="0">
                <a:solidFill>
                  <a:srgbClr val="5A6478"/>
                </a:solidFill>
              </a:rPr>
              <a:t>People, money and talent flowed in. Jobs and roads never flowed out. Myrdal called it backwash: what happens when growth concentrates instead of spreading.</a:t>
            </a:r>
            <a:endParaRPr lang="en-US" sz="1400" dirty="0"/>
          </a:p>
        </p:txBody>
      </p:sp>
      <p:sp>
        <p:nvSpPr>
          <p:cNvPr id="5" name="Text 3"/>
          <p:cNvSpPr txBox="1"/>
          <p:nvPr/>
        </p:nvSpPr>
        <p:spPr>
          <a:xfrm>
            <a:off x="822960" y="3566160"/>
            <a:ext cx="4572000" cy="457200"/>
          </a:xfrm>
          <a:prstGeom prst="rect">
            <a:avLst/>
          </a:prstGeom>
          <a:noFill/>
          <a:ln/>
        </p:spPr>
        <p:txBody>
          <a:bodyPr wrap="square" lIns="0" tIns="0" rIns="0" bIns="0" rtlCol="0" anchor="ctr"/>
          <a:lstStyle/>
          <a:p>
            <a:pPr indent="0" marL="0">
              <a:buNone/>
            </a:pPr>
            <a:r>
              <a:rPr lang="en-US" sz="2600" b="1" dirty="0">
                <a:solidFill>
                  <a:srgbClr val="C25E3A"/>
                </a:solidFill>
                <a:latin typeface="Cambria" pitchFamily="34" charset="0"/>
                <a:ea typeface="Cambria" pitchFamily="34" charset="-122"/>
                <a:cs typeface="Cambria" pitchFamily="34" charset="-120"/>
              </a:rPr>
              <a:t>Backwash</a:t>
            </a:r>
            <a:endParaRPr lang="en-US" sz="2600" dirty="0"/>
          </a:p>
        </p:txBody>
      </p:sp>
      <p:sp>
        <p:nvSpPr>
          <p:cNvPr id="6" name="Text 4"/>
          <p:cNvSpPr txBox="1"/>
          <p:nvPr/>
        </p:nvSpPr>
        <p:spPr>
          <a:xfrm>
            <a:off x="822960" y="4069080"/>
            <a:ext cx="4572000" cy="274320"/>
          </a:xfrm>
          <a:prstGeom prst="rect">
            <a:avLst/>
          </a:prstGeom>
          <a:noFill/>
          <a:ln/>
        </p:spPr>
        <p:txBody>
          <a:bodyPr wrap="square" lIns="0" tIns="0" rIns="0" bIns="0" rtlCol="0" anchor="ctr"/>
          <a:lstStyle/>
          <a:p>
            <a:pPr indent="0" marL="0">
              <a:buNone/>
            </a:pPr>
            <a:r>
              <a:rPr lang="en-US" sz="1200" dirty="0">
                <a:solidFill>
                  <a:srgbClr val="5A6478"/>
                </a:solidFill>
              </a:rPr>
              <a:t>Myrdal, 1957</a:t>
            </a:r>
            <a:endParaRPr lang="en-US" sz="1200" dirty="0"/>
          </a:p>
        </p:txBody>
      </p:sp>
      <p:sp>
        <p:nvSpPr>
          <p:cNvPr id="7" name="capital"/>
          <p:cNvSpPr/>
          <p:nvPr/>
        </p:nvSpPr>
        <p:spPr>
          <a:xfrm>
            <a:off x="7589520" y="2743200"/>
            <a:ext cx="1737360" cy="1737360"/>
          </a:xfrm>
          <a:prstGeom prst="ellipse">
            <a:avLst/>
          </a:prstGeom>
          <a:solidFill>
            <a:srgbClr val="1F6F6B"/>
          </a:solidFill>
          <a:ln/>
        </p:spPr>
      </p:sp>
      <p:sp>
        <p:nvSpPr>
          <p:cNvPr id="8" name="Text 6"/>
          <p:cNvSpPr txBox="1"/>
          <p:nvPr/>
        </p:nvSpPr>
        <p:spPr>
          <a:xfrm>
            <a:off x="7589520" y="3401568"/>
            <a:ext cx="1737360" cy="411480"/>
          </a:xfrm>
          <a:prstGeom prst="rect">
            <a:avLst/>
          </a:prstGeom>
          <a:noFill/>
          <a:ln/>
        </p:spPr>
        <p:txBody>
          <a:bodyPr wrap="square" lIns="0" tIns="0" rIns="0" bIns="0" rtlCol="0" anchor="ctr"/>
          <a:lstStyle/>
          <a:p>
            <a:pPr algn="ctr" indent="0" marL="0">
              <a:buNone/>
            </a:pPr>
            <a:r>
              <a:rPr lang="en-US" sz="1300" b="1" dirty="0">
                <a:solidFill>
                  <a:srgbClr val="FFFFFF"/>
                </a:solidFill>
              </a:rPr>
              <a:t>Capital</a:t>
            </a:r>
            <a:endParaRPr lang="en-US" sz="1300" dirty="0"/>
          </a:p>
        </p:txBody>
      </p:sp>
      <p:sp>
        <p:nvSpPr>
          <p:cNvPr id="9" name="Shape 7"/>
          <p:cNvSpPr/>
          <p:nvPr/>
        </p:nvSpPr>
        <p:spPr>
          <a:xfrm>
            <a:off x="6035040" y="2286000"/>
            <a:ext cx="685800" cy="685800"/>
          </a:xfrm>
          <a:prstGeom prst="ellipse">
            <a:avLst/>
          </a:prstGeom>
          <a:solidFill>
            <a:srgbClr val="FFFFFF"/>
          </a:solidFill>
          <a:ln w="12700">
            <a:solidFill>
              <a:srgbClr val="D8D3CC"/>
            </a:solidFill>
            <a:prstDash val="solid"/>
          </a:ln>
        </p:spPr>
      </p:sp>
      <p:sp>
        <p:nvSpPr>
          <p:cNvPr id="10" name="Shape 8"/>
          <p:cNvSpPr/>
          <p:nvPr/>
        </p:nvSpPr>
        <p:spPr>
          <a:xfrm>
            <a:off x="6035040" y="3611880"/>
            <a:ext cx="685800" cy="685800"/>
          </a:xfrm>
          <a:prstGeom prst="ellipse">
            <a:avLst/>
          </a:prstGeom>
          <a:solidFill>
            <a:srgbClr val="FFFFFF"/>
          </a:solidFill>
          <a:ln w="12700">
            <a:solidFill>
              <a:srgbClr val="D8D3CC"/>
            </a:solidFill>
            <a:prstDash val="solid"/>
          </a:ln>
        </p:spPr>
      </p:sp>
      <p:sp>
        <p:nvSpPr>
          <p:cNvPr id="11" name="Shape 9"/>
          <p:cNvSpPr/>
          <p:nvPr/>
        </p:nvSpPr>
        <p:spPr>
          <a:xfrm>
            <a:off x="6035040" y="4937760"/>
            <a:ext cx="685800" cy="685800"/>
          </a:xfrm>
          <a:prstGeom prst="ellipse">
            <a:avLst/>
          </a:prstGeom>
          <a:solidFill>
            <a:srgbClr val="FFFFFF"/>
          </a:solidFill>
          <a:ln w="12700">
            <a:solidFill>
              <a:srgbClr val="D8D3CC"/>
            </a:solidFill>
            <a:prstDash val="solid"/>
          </a:ln>
        </p:spPr>
      </p:sp>
      <p:sp>
        <p:nvSpPr>
          <p:cNvPr id="12" name="Shape 10"/>
          <p:cNvSpPr/>
          <p:nvPr/>
        </p:nvSpPr>
        <p:spPr>
          <a:xfrm>
            <a:off x="10241280" y="2286000"/>
            <a:ext cx="685800" cy="685800"/>
          </a:xfrm>
          <a:prstGeom prst="ellipse">
            <a:avLst/>
          </a:prstGeom>
          <a:solidFill>
            <a:srgbClr val="FFFFFF"/>
          </a:solidFill>
          <a:ln w="12700">
            <a:solidFill>
              <a:srgbClr val="D8D3CC"/>
            </a:solidFill>
            <a:prstDash val="solid"/>
          </a:ln>
        </p:spPr>
      </p:sp>
      <p:sp>
        <p:nvSpPr>
          <p:cNvPr id="13" name="Shape 11"/>
          <p:cNvSpPr/>
          <p:nvPr/>
        </p:nvSpPr>
        <p:spPr>
          <a:xfrm>
            <a:off x="10241280" y="3611880"/>
            <a:ext cx="685800" cy="685800"/>
          </a:xfrm>
          <a:prstGeom prst="ellipse">
            <a:avLst/>
          </a:prstGeom>
          <a:solidFill>
            <a:srgbClr val="FFFFFF"/>
          </a:solidFill>
          <a:ln w="12700">
            <a:solidFill>
              <a:srgbClr val="D8D3CC"/>
            </a:solidFill>
            <a:prstDash val="solid"/>
          </a:ln>
        </p:spPr>
      </p:sp>
      <p:sp>
        <p:nvSpPr>
          <p:cNvPr id="14" name="Shape 12"/>
          <p:cNvSpPr/>
          <p:nvPr/>
        </p:nvSpPr>
        <p:spPr>
          <a:xfrm>
            <a:off x="10241280" y="4937760"/>
            <a:ext cx="685800" cy="685800"/>
          </a:xfrm>
          <a:prstGeom prst="ellipse">
            <a:avLst/>
          </a:prstGeom>
          <a:solidFill>
            <a:srgbClr val="FFFFFF"/>
          </a:solidFill>
          <a:ln w="12700">
            <a:solidFill>
              <a:srgbClr val="D8D3CC"/>
            </a:solidFill>
            <a:prstDash val="solid"/>
          </a:ln>
        </p:spPr>
      </p:sp>
      <p:sp>
        <p:nvSpPr>
          <p:cNvPr id="15" name="Text 13"/>
          <p:cNvSpPr txBox="1"/>
          <p:nvPr/>
        </p:nvSpPr>
        <p:spPr>
          <a:xfrm>
            <a:off x="5760720" y="5760720"/>
            <a:ext cx="2011680" cy="274320"/>
          </a:xfrm>
          <a:prstGeom prst="rect">
            <a:avLst/>
          </a:prstGeom>
          <a:noFill/>
          <a:ln/>
        </p:spPr>
        <p:txBody>
          <a:bodyPr wrap="square" lIns="0" tIns="0" rIns="0" bIns="0" rtlCol="0" anchor="ctr"/>
          <a:lstStyle/>
          <a:p>
            <a:pPr indent="0" marL="0">
              <a:buNone/>
            </a:pPr>
            <a:r>
              <a:rPr lang="en-US" sz="1100" b="1" dirty="0">
                <a:solidFill>
                  <a:srgbClr val="C25E3A"/>
                </a:solidFill>
              </a:rPr>
              <a:t>Pulled in</a:t>
            </a:r>
            <a:endParaRPr lang="en-US" sz="1100" dirty="0"/>
          </a:p>
        </p:txBody>
      </p:sp>
      <p:sp>
        <p:nvSpPr>
          <p:cNvPr id="16" name="Text 14"/>
          <p:cNvSpPr txBox="1"/>
          <p:nvPr/>
        </p:nvSpPr>
        <p:spPr>
          <a:xfrm>
            <a:off x="9966960" y="5760720"/>
            <a:ext cx="2011680" cy="274320"/>
          </a:xfrm>
          <a:prstGeom prst="rect">
            <a:avLst/>
          </a:prstGeom>
          <a:noFill/>
          <a:ln/>
        </p:spPr>
        <p:txBody>
          <a:bodyPr wrap="square" lIns="0" tIns="0" rIns="0" bIns="0" rtlCol="0" anchor="ctr"/>
          <a:lstStyle/>
          <a:p>
            <a:pPr indent="0" marL="0">
              <a:buNone/>
            </a:pPr>
            <a:r>
              <a:rPr lang="en-US" sz="1100" b="1" dirty="0">
                <a:solidFill>
                  <a:srgbClr val="6E7B99"/>
                </a:solidFill>
              </a:rPr>
              <a:t>Given back</a:t>
            </a:r>
            <a:endParaRPr lang="en-US" sz="1100" dirty="0"/>
          </a:p>
        </p:txBody>
      </p:sp>
      <p:sp>
        <p:nvSpPr>
          <p:cNvPr id="17" name="Shape 15"/>
          <p:cNvSpPr/>
          <p:nvPr/>
        </p:nvSpPr>
        <p:spPr>
          <a:xfrm>
            <a:off x="6720840" y="2624328"/>
            <a:ext cx="868680" cy="109728"/>
          </a:xfrm>
          <a:prstGeom prst="rect">
            <a:avLst/>
          </a:prstGeom>
          <a:solidFill>
            <a:srgbClr val="C25E3A"/>
          </a:solidFill>
          <a:ln/>
        </p:spPr>
      </p:sp>
      <p:sp>
        <p:nvSpPr>
          <p:cNvPr id="18" name="Shape 16"/>
          <p:cNvSpPr/>
          <p:nvPr/>
        </p:nvSpPr>
        <p:spPr>
          <a:xfrm>
            <a:off x="6720840" y="3950208"/>
            <a:ext cx="868680" cy="109728"/>
          </a:xfrm>
          <a:prstGeom prst="rect">
            <a:avLst/>
          </a:prstGeom>
          <a:solidFill>
            <a:srgbClr val="C25E3A"/>
          </a:solidFill>
          <a:ln/>
        </p:spPr>
      </p:sp>
      <p:sp>
        <p:nvSpPr>
          <p:cNvPr id="19" name="Shape 17"/>
          <p:cNvSpPr/>
          <p:nvPr/>
        </p:nvSpPr>
        <p:spPr>
          <a:xfrm>
            <a:off x="6720840" y="5276088"/>
            <a:ext cx="868680" cy="109728"/>
          </a:xfrm>
          <a:prstGeom prst="rect">
            <a:avLst/>
          </a:prstGeom>
          <a:solidFill>
            <a:srgbClr val="C25E3A"/>
          </a:solidFill>
          <a:ln/>
        </p:spPr>
      </p:sp>
      <p:sp>
        <p:nvSpPr>
          <p:cNvPr id="20" name="Shape 18"/>
          <p:cNvSpPr/>
          <p:nvPr/>
        </p:nvSpPr>
        <p:spPr>
          <a:xfrm>
            <a:off x="9326880" y="2624328"/>
            <a:ext cx="868680" cy="27432"/>
          </a:xfrm>
          <a:prstGeom prst="rect">
            <a:avLst/>
          </a:prstGeom>
          <a:solidFill>
            <a:srgbClr val="6E7B99"/>
          </a:solidFill>
          <a:ln/>
        </p:spPr>
      </p:sp>
      <p:sp>
        <p:nvSpPr>
          <p:cNvPr id="21" name="Shape 19"/>
          <p:cNvSpPr/>
          <p:nvPr/>
        </p:nvSpPr>
        <p:spPr>
          <a:xfrm>
            <a:off x="9326880" y="3950208"/>
            <a:ext cx="868680" cy="27432"/>
          </a:xfrm>
          <a:prstGeom prst="rect">
            <a:avLst/>
          </a:prstGeom>
          <a:solidFill>
            <a:srgbClr val="6E7B99"/>
          </a:solidFill>
          <a:ln/>
        </p:spPr>
      </p:sp>
      <p:sp>
        <p:nvSpPr>
          <p:cNvPr id="22" name="Shape 20"/>
          <p:cNvSpPr/>
          <p:nvPr/>
        </p:nvSpPr>
        <p:spPr>
          <a:xfrm>
            <a:off x="9326880" y="5276088"/>
            <a:ext cx="868680" cy="27432"/>
          </a:xfrm>
          <a:prstGeom prst="rect">
            <a:avLst/>
          </a:prstGeom>
          <a:solidFill>
            <a:srgbClr val="6E7B99"/>
          </a:solidFill>
          <a:ln/>
        </p:spPr>
      </p:sp>
      <p:sp>
        <p:nvSpPr>
          <p:cNvPr id="23" name="Text 21"/>
          <p:cNvSpPr txBox="1"/>
          <p:nvPr/>
        </p:nvSpPr>
        <p:spPr>
          <a:xfrm>
            <a:off x="822960" y="4937760"/>
            <a:ext cx="4572000" cy="320040"/>
          </a:xfrm>
          <a:prstGeom prst="rect">
            <a:avLst/>
          </a:prstGeom>
          <a:noFill/>
          <a:ln/>
        </p:spPr>
        <p:txBody>
          <a:bodyPr wrap="square" lIns="0" tIns="0" rIns="0" bIns="0" rtlCol="0" anchor="ctr"/>
          <a:lstStyle/>
          <a:p>
            <a:pPr indent="0" marL="0">
              <a:buNone/>
            </a:pPr>
            <a:r>
              <a:rPr lang="en-US" sz="1100" i="1" dirty="0">
                <a:solidFill>
                  <a:srgbClr val="6E7B99"/>
                </a:solidFill>
              </a:rPr>
              <a:t>Economists call this backwash. Everyone else calls it leaving.</a:t>
            </a:r>
            <a:endParaRPr lang="en-US" sz="1100" dirty="0"/>
          </a:p>
        </p:txBody>
      </p:sp>
      <p:sp>
        <p:nvSpPr>
          <p:cNvPr id="24" name="Text 22"/>
          <p:cNvSpPr/>
          <p:nvPr>
            <p:ph hasCustomPrompt="1"/>
          </p:nvPr>
        </p:nvSpPr>
        <p:spPr>
          <a:xfrm>
            <a:off x="822960" y="6263640"/>
            <a:ext cx="10515600" cy="274320"/>
          </a:xfrm>
          <a:prstGeom prst="rect">
            <a:avLst/>
          </a:prstGeom>
          <a:noFill/>
          <a:ln/>
        </p:spPr>
        <p:txBody>
          <a:bodyPr wrap="square" rtlCol="0"/>
          <a:lstStyle/>
          <a:p>
            <a:pPr indent="0" marL="0">
              <a:buNone/>
            </a:pPr>
            <a:r>
              <a:rPr lang="en-US" dirty="0"/>
              <a:t>Growth pole theory: Perroux 1955 · Myrdal 1957 · Hirschman 1958 · diagram illustrative, not to scale</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hasCustomPrompt="1"/>
          </p:nvPr>
        </p:nvSpPr>
        <p:spPr>
          <a:xfrm>
            <a:off x="822960" y="502920"/>
            <a:ext cx="10515600" cy="274320"/>
          </a:xfrm>
          <a:prstGeom prst="rect">
            <a:avLst/>
          </a:prstGeom>
          <a:noFill/>
          <a:ln/>
        </p:spPr>
        <p:txBody>
          <a:bodyPr wrap="square" rtlCol="0"/>
          <a:lstStyle/>
          <a:p>
            <a:pPr indent="0" marL="0">
              <a:buNone/>
            </a:pPr>
            <a:r>
              <a:rPr lang="en-US" dirty="0"/>
              <a:t>DIAGNOSTIC · REASON TWO</a:t>
            </a:r>
            <a:endParaRPr lang="en-US" dirty="0"/>
          </a:p>
        </p:txBody>
      </p:sp>
      <p:sp>
        <p:nvSpPr>
          <p:cNvPr id="3" name="Text 1"/>
          <p:cNvSpPr/>
          <p:nvPr>
            <p:ph hasCustomPrompt="1"/>
          </p:nvPr>
        </p:nvSpPr>
        <p:spPr>
          <a:xfrm>
            <a:off x="822960" y="868680"/>
            <a:ext cx="7772400" cy="1371600"/>
          </a:xfrm>
          <a:prstGeom prst="rect">
            <a:avLst/>
          </a:prstGeom>
          <a:noFill/>
          <a:ln/>
        </p:spPr>
        <p:txBody>
          <a:bodyPr wrap="square" rtlCol="0"/>
          <a:lstStyle/>
          <a:p>
            <a:pPr indent="0" marL="0">
              <a:buNone/>
            </a:pPr>
            <a:r>
              <a:rPr lang="en-US" dirty="0"/>
              <a:t>Hiring someone openly costs extra</a:t>
            </a:r>
            <a:endParaRPr lang="en-US" dirty="0"/>
          </a:p>
        </p:txBody>
      </p:sp>
      <p:sp>
        <p:nvSpPr>
          <p:cNvPr id="4" name="Text 2"/>
          <p:cNvSpPr txBox="1"/>
          <p:nvPr/>
        </p:nvSpPr>
        <p:spPr>
          <a:xfrm>
            <a:off x="822960" y="2194560"/>
            <a:ext cx="4572000" cy="822960"/>
          </a:xfrm>
          <a:prstGeom prst="rect">
            <a:avLst/>
          </a:prstGeom>
          <a:noFill/>
          <a:ln/>
        </p:spPr>
        <p:txBody>
          <a:bodyPr wrap="square" lIns="0" tIns="0" rIns="0" bIns="0" rtlCol="0" anchor="ctr"/>
          <a:lstStyle/>
          <a:p>
            <a:pPr indent="0" marL="0">
              <a:buNone/>
            </a:pPr>
            <a:r>
              <a:rPr lang="en-US" sz="1400" dirty="0">
                <a:solidFill>
                  <a:srgbClr val="5A6478"/>
                </a:solidFill>
              </a:rPr>
              <a:t>So firms stay small, stay hidden, and never learn to grow. Payroll taxes buy invisibility.</a:t>
            </a:r>
            <a:endParaRPr lang="en-US" sz="1400" dirty="0"/>
          </a:p>
        </p:txBody>
      </p:sp>
      <p:sp>
        <p:nvSpPr>
          <p:cNvPr id="5" name="Text 3"/>
          <p:cNvSpPr txBox="1"/>
          <p:nvPr/>
        </p:nvSpPr>
        <p:spPr>
          <a:xfrm>
            <a:off x="822960" y="3200400"/>
            <a:ext cx="4572000" cy="914400"/>
          </a:xfrm>
          <a:prstGeom prst="rect">
            <a:avLst/>
          </a:prstGeom>
          <a:noFill/>
          <a:ln/>
        </p:spPr>
        <p:txBody>
          <a:bodyPr wrap="square" lIns="0" tIns="0" rIns="0" bIns="0" rtlCol="0" anchor="ctr"/>
          <a:lstStyle/>
          <a:p>
            <a:pPr indent="0" marL="0">
              <a:buNone/>
            </a:pPr>
            <a:r>
              <a:rPr lang="en-US" sz="2400" b="1" dirty="0">
                <a:solidFill>
                  <a:srgbClr val="C25E3A"/>
                </a:solidFill>
                <a:latin typeface="Cambria" pitchFamily="34" charset="0"/>
                <a:ea typeface="Cambria" pitchFamily="34" charset="-122"/>
                <a:cs typeface="Cambria" pitchFamily="34" charset="-120"/>
              </a:rPr>
              <a:t>Payroll taxes buy</a:t>
            </a:r>
            <a:endParaRPr lang="en-US" sz="2400" dirty="0"/>
          </a:p>
          <a:p>
            <a:pPr indent="0" marL="0">
              <a:buNone/>
            </a:pPr>
            <a:r>
              <a:rPr lang="en-US" sz="2400" b="1" dirty="0">
                <a:solidFill>
                  <a:srgbClr val="C25E3A"/>
                </a:solidFill>
                <a:latin typeface="Cambria" pitchFamily="34" charset="0"/>
                <a:ea typeface="Cambria" pitchFamily="34" charset="-122"/>
                <a:cs typeface="Cambria" pitchFamily="34" charset="-120"/>
              </a:rPr>
              <a:t>invisibility</a:t>
            </a:r>
            <a:endParaRPr lang="en-US" sz="2400" dirty="0"/>
          </a:p>
        </p:txBody>
      </p:sp>
      <p:sp>
        <p:nvSpPr>
          <p:cNvPr id="6" name="Text 4"/>
          <p:cNvSpPr txBox="1"/>
          <p:nvPr/>
        </p:nvSpPr>
        <p:spPr>
          <a:xfrm>
            <a:off x="822960" y="4206240"/>
            <a:ext cx="4572000" cy="274320"/>
          </a:xfrm>
          <a:prstGeom prst="rect">
            <a:avLst/>
          </a:prstGeom>
          <a:noFill/>
          <a:ln/>
        </p:spPr>
        <p:txBody>
          <a:bodyPr wrap="square" lIns="0" tIns="0" rIns="0" bIns="0" rtlCol="0" anchor="ctr"/>
          <a:lstStyle/>
          <a:p>
            <a:pPr indent="0" marL="0">
              <a:buNone/>
            </a:pPr>
            <a:r>
              <a:rPr lang="en-US" sz="1200" dirty="0">
                <a:solidFill>
                  <a:srgbClr val="5A6478"/>
                </a:solidFill>
              </a:rPr>
              <a:t>Mechanism after Santiago Levy</a:t>
            </a:r>
            <a:endParaRPr lang="en-US" sz="1200" dirty="0"/>
          </a:p>
        </p:txBody>
      </p:sp>
      <p:sp>
        <p:nvSpPr>
          <p:cNvPr id="7" name="wall"/>
          <p:cNvSpPr/>
          <p:nvPr/>
        </p:nvSpPr>
        <p:spPr>
          <a:xfrm>
            <a:off x="7863840" y="2103120"/>
            <a:ext cx="18288" cy="3657600"/>
          </a:xfrm>
          <a:prstGeom prst="rect">
            <a:avLst/>
          </a:prstGeom>
          <a:solidFill>
            <a:srgbClr val="C25E3A"/>
          </a:solidFill>
          <a:ln/>
        </p:spPr>
      </p:sp>
      <p:sp>
        <p:nvSpPr>
          <p:cNvPr id="8" name="Text 6"/>
          <p:cNvSpPr txBox="1"/>
          <p:nvPr/>
        </p:nvSpPr>
        <p:spPr>
          <a:xfrm>
            <a:off x="6720840" y="1783080"/>
            <a:ext cx="2377440" cy="274320"/>
          </a:xfrm>
          <a:prstGeom prst="rect">
            <a:avLst/>
          </a:prstGeom>
          <a:noFill/>
          <a:ln/>
        </p:spPr>
        <p:txBody>
          <a:bodyPr wrap="square" lIns="0" tIns="0" rIns="0" bIns="0" rtlCol="0" anchor="ctr"/>
          <a:lstStyle/>
          <a:p>
            <a:pPr algn="ctr" indent="0" marL="0">
              <a:buNone/>
            </a:pPr>
            <a:r>
              <a:rPr lang="en-US" sz="1000" i="1" dirty="0">
                <a:solidFill>
                  <a:srgbClr val="C25E3A"/>
                </a:solidFill>
              </a:rPr>
              <a:t>The moment the state can see the firm</a:t>
            </a:r>
            <a:endParaRPr lang="en-US" sz="1000" dirty="0"/>
          </a:p>
        </p:txBody>
      </p:sp>
      <p:sp>
        <p:nvSpPr>
          <p:cNvPr id="9" name="Shape 7"/>
          <p:cNvSpPr/>
          <p:nvPr/>
        </p:nvSpPr>
        <p:spPr>
          <a:xfrm>
            <a:off x="5943600" y="2743200"/>
            <a:ext cx="502920" cy="502920"/>
          </a:xfrm>
          <a:prstGeom prst="ellipse">
            <a:avLst/>
          </a:prstGeom>
          <a:solidFill>
            <a:srgbClr val="1F6F6B"/>
          </a:solidFill>
          <a:ln/>
        </p:spPr>
      </p:sp>
      <p:sp>
        <p:nvSpPr>
          <p:cNvPr id="10" name="Shape 8"/>
          <p:cNvSpPr/>
          <p:nvPr/>
        </p:nvSpPr>
        <p:spPr>
          <a:xfrm>
            <a:off x="6583680" y="3566160"/>
            <a:ext cx="502920" cy="502920"/>
          </a:xfrm>
          <a:prstGeom prst="ellipse">
            <a:avLst/>
          </a:prstGeom>
          <a:solidFill>
            <a:srgbClr val="1F6F6B"/>
          </a:solidFill>
          <a:ln/>
        </p:spPr>
      </p:sp>
      <p:sp>
        <p:nvSpPr>
          <p:cNvPr id="11" name="Shape 9"/>
          <p:cNvSpPr/>
          <p:nvPr/>
        </p:nvSpPr>
        <p:spPr>
          <a:xfrm>
            <a:off x="5943600" y="4389120"/>
            <a:ext cx="502920" cy="502920"/>
          </a:xfrm>
          <a:prstGeom prst="ellipse">
            <a:avLst/>
          </a:prstGeom>
          <a:solidFill>
            <a:srgbClr val="1F6F6B"/>
          </a:solidFill>
          <a:ln/>
        </p:spPr>
      </p:sp>
      <p:sp>
        <p:nvSpPr>
          <p:cNvPr id="12" name="Shape 10"/>
          <p:cNvSpPr/>
          <p:nvPr/>
        </p:nvSpPr>
        <p:spPr>
          <a:xfrm>
            <a:off x="6949440" y="4846320"/>
            <a:ext cx="502920" cy="502920"/>
          </a:xfrm>
          <a:prstGeom prst="ellipse">
            <a:avLst/>
          </a:prstGeom>
          <a:solidFill>
            <a:srgbClr val="1F6F6B"/>
          </a:solidFill>
          <a:ln/>
        </p:spPr>
      </p:sp>
      <p:sp>
        <p:nvSpPr>
          <p:cNvPr id="13" name="Shape 11"/>
          <p:cNvSpPr/>
          <p:nvPr/>
        </p:nvSpPr>
        <p:spPr>
          <a:xfrm>
            <a:off x="8595360" y="2743200"/>
            <a:ext cx="502920" cy="502920"/>
          </a:xfrm>
          <a:prstGeom prst="ellipse">
            <a:avLst/>
          </a:prstGeom>
          <a:solidFill>
            <a:srgbClr val="F4F2EE"/>
          </a:solidFill>
          <a:ln w="12700">
            <a:solidFill>
              <a:srgbClr val="6E7B99"/>
            </a:solidFill>
            <a:prstDash val="solid"/>
          </a:ln>
        </p:spPr>
      </p:sp>
      <p:sp>
        <p:nvSpPr>
          <p:cNvPr id="14" name="Shape 12"/>
          <p:cNvSpPr/>
          <p:nvPr/>
        </p:nvSpPr>
        <p:spPr>
          <a:xfrm>
            <a:off x="9418320" y="3291840"/>
            <a:ext cx="502920" cy="502920"/>
          </a:xfrm>
          <a:prstGeom prst="ellipse">
            <a:avLst/>
          </a:prstGeom>
          <a:solidFill>
            <a:srgbClr val="F4F2EE"/>
          </a:solidFill>
          <a:ln w="12700">
            <a:solidFill>
              <a:srgbClr val="6E7B99"/>
            </a:solidFill>
            <a:prstDash val="solid"/>
          </a:ln>
        </p:spPr>
      </p:sp>
      <p:sp>
        <p:nvSpPr>
          <p:cNvPr id="15" name="Shape 13"/>
          <p:cNvSpPr/>
          <p:nvPr/>
        </p:nvSpPr>
        <p:spPr>
          <a:xfrm>
            <a:off x="10241280" y="3931920"/>
            <a:ext cx="502920" cy="502920"/>
          </a:xfrm>
          <a:prstGeom prst="ellipse">
            <a:avLst/>
          </a:prstGeom>
          <a:solidFill>
            <a:srgbClr val="F4F2EE"/>
          </a:solidFill>
          <a:ln w="12700">
            <a:solidFill>
              <a:srgbClr val="6E7B99"/>
            </a:solidFill>
            <a:prstDash val="solid"/>
          </a:ln>
        </p:spPr>
      </p:sp>
      <p:sp>
        <p:nvSpPr>
          <p:cNvPr id="16" name="Shape 14"/>
          <p:cNvSpPr/>
          <p:nvPr/>
        </p:nvSpPr>
        <p:spPr>
          <a:xfrm>
            <a:off x="9144000" y="4663440"/>
            <a:ext cx="502920" cy="502920"/>
          </a:xfrm>
          <a:prstGeom prst="ellipse">
            <a:avLst/>
          </a:prstGeom>
          <a:solidFill>
            <a:srgbClr val="F4F2EE"/>
          </a:solidFill>
          <a:ln w="12700">
            <a:solidFill>
              <a:srgbClr val="6E7B99"/>
            </a:solidFill>
            <a:prstDash val="solid"/>
          </a:ln>
        </p:spPr>
      </p:sp>
      <p:sp>
        <p:nvSpPr>
          <p:cNvPr id="17" name="Text 15"/>
          <p:cNvSpPr txBox="1"/>
          <p:nvPr/>
        </p:nvSpPr>
        <p:spPr>
          <a:xfrm>
            <a:off x="5760720" y="5486400"/>
            <a:ext cx="2011680" cy="274320"/>
          </a:xfrm>
          <a:prstGeom prst="rect">
            <a:avLst/>
          </a:prstGeom>
          <a:noFill/>
          <a:ln/>
        </p:spPr>
        <p:txBody>
          <a:bodyPr wrap="square" lIns="0" tIns="0" rIns="0" bIns="0" rtlCol="0" anchor="ctr"/>
          <a:lstStyle/>
          <a:p>
            <a:pPr indent="0" marL="0">
              <a:buNone/>
            </a:pPr>
            <a:r>
              <a:rPr lang="en-US" sz="1200" b="1" dirty="0">
                <a:solidFill>
                  <a:srgbClr val="1F6F6B"/>
                </a:solidFill>
              </a:rPr>
              <a:t>Stays small</a:t>
            </a:r>
            <a:endParaRPr lang="en-US" sz="1200" dirty="0"/>
          </a:p>
        </p:txBody>
      </p:sp>
      <p:sp>
        <p:nvSpPr>
          <p:cNvPr id="18" name="Text 16"/>
          <p:cNvSpPr txBox="1"/>
          <p:nvPr/>
        </p:nvSpPr>
        <p:spPr>
          <a:xfrm>
            <a:off x="8778240" y="5486400"/>
            <a:ext cx="2377440" cy="274320"/>
          </a:xfrm>
          <a:prstGeom prst="rect">
            <a:avLst/>
          </a:prstGeom>
          <a:noFill/>
          <a:ln/>
        </p:spPr>
        <p:txBody>
          <a:bodyPr wrap="square" lIns="0" tIns="0" rIns="0" bIns="0" rtlCol="0" anchor="ctr"/>
          <a:lstStyle/>
          <a:p>
            <a:pPr indent="0" marL="0">
              <a:buNone/>
            </a:pPr>
            <a:r>
              <a:rPr lang="en-US" sz="1200" b="1" dirty="0">
                <a:solidFill>
                  <a:srgbClr val="6E7B99"/>
                </a:solidFill>
              </a:rPr>
              <a:t>Never happens</a:t>
            </a:r>
            <a:endParaRPr lang="en-US" sz="1200" dirty="0"/>
          </a:p>
        </p:txBody>
      </p:sp>
      <p:sp>
        <p:nvSpPr>
          <p:cNvPr id="19" name="Text 17"/>
          <p:cNvSpPr txBox="1"/>
          <p:nvPr/>
        </p:nvSpPr>
        <p:spPr>
          <a:xfrm>
            <a:off x="822960" y="4754880"/>
            <a:ext cx="4754880" cy="320040"/>
          </a:xfrm>
          <a:prstGeom prst="rect">
            <a:avLst/>
          </a:prstGeom>
          <a:noFill/>
          <a:ln/>
        </p:spPr>
        <p:txBody>
          <a:bodyPr wrap="square" lIns="0" tIns="0" rIns="0" bIns="0" rtlCol="0" anchor="ctr"/>
          <a:lstStyle/>
          <a:p>
            <a:pPr indent="0" marL="0">
              <a:buNone/>
            </a:pPr>
            <a:r>
              <a:rPr lang="en-US" sz="1100" i="1" dirty="0">
                <a:solidFill>
                  <a:srgbClr val="6E7B99"/>
                </a:solidFill>
              </a:rPr>
              <a:t>About half the workforce lives to the left of that line, a figure we still have to pull ourselves.</a:t>
            </a:r>
            <a:endParaRPr lang="en-US" sz="1100" dirty="0"/>
          </a:p>
        </p:txBody>
      </p:sp>
      <p:sp>
        <p:nvSpPr>
          <p:cNvPr id="20" name="Text 18"/>
          <p:cNvSpPr/>
          <p:nvPr>
            <p:ph hasCustomPrompt="1"/>
          </p:nvPr>
        </p:nvSpPr>
        <p:spPr>
          <a:xfrm>
            <a:off x="822960" y="6263640"/>
            <a:ext cx="10515600" cy="274320"/>
          </a:xfrm>
          <a:prstGeom prst="rect">
            <a:avLst/>
          </a:prstGeom>
          <a:noFill/>
          <a:ln/>
        </p:spPr>
        <p:txBody>
          <a:bodyPr wrap="square" rtlCol="0"/>
          <a:lstStyle/>
          <a:p>
            <a:pPr indent="0" marL="0">
              <a:buNone/>
            </a:pPr>
            <a:r>
              <a:rPr lang="en-US" dirty="0"/>
              <a:t>Mechanism after Santiago Levy · diagram illustrative · exact informality rate UNSURE until pulled from ILOSTAT, see appendix</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hasCustomPrompt="1"/>
          </p:nvPr>
        </p:nvSpPr>
        <p:spPr>
          <a:xfrm>
            <a:off x="822960" y="502920"/>
            <a:ext cx="10515600" cy="274320"/>
          </a:xfrm>
          <a:prstGeom prst="rect">
            <a:avLst/>
          </a:prstGeom>
          <a:noFill/>
          <a:ln/>
        </p:spPr>
        <p:txBody>
          <a:bodyPr wrap="square" rtlCol="0"/>
          <a:lstStyle/>
          <a:p>
            <a:pPr indent="0" marL="0">
              <a:buNone/>
            </a:pPr>
            <a:r>
              <a:rPr lang="en-US" dirty="0"/>
              <a:t>INTERNATIONAL BENCHMARKS · WHAT KOREA ACTUALLY BOUGHT</a:t>
            </a:r>
            <a:endParaRPr lang="en-US" dirty="0"/>
          </a:p>
        </p:txBody>
      </p:sp>
      <p:sp>
        <p:nvSpPr>
          <p:cNvPr id="3" name="Text 1"/>
          <p:cNvSpPr/>
          <p:nvPr>
            <p:ph hasCustomPrompt="1"/>
          </p:nvPr>
        </p:nvSpPr>
        <p:spPr>
          <a:xfrm>
            <a:off x="822960" y="868680"/>
            <a:ext cx="6492240" cy="1371600"/>
          </a:xfrm>
          <a:prstGeom prst="rect">
            <a:avLst/>
          </a:prstGeom>
          <a:noFill/>
          <a:ln/>
        </p:spPr>
        <p:txBody>
          <a:bodyPr wrap="square" rtlCol="0"/>
          <a:lstStyle/>
          <a:p>
            <a:pPr indent="0" marL="0">
              <a:buNone/>
            </a:pPr>
            <a:r>
              <a:rPr lang="en-US" dirty="0"/>
              <a:t>People whose whole job is to find things out</a:t>
            </a:r>
            <a:endParaRPr lang="en-US" dirty="0"/>
          </a:p>
        </p:txBody>
      </p:sp>
      <p:sp>
        <p:nvSpPr>
          <p:cNvPr id="4" name="Text 2"/>
          <p:cNvSpPr/>
          <p:nvPr>
            <p:ph hasCustomPrompt="1"/>
          </p:nvPr>
        </p:nvSpPr>
        <p:spPr>
          <a:xfrm>
            <a:off x="822960" y="2331720"/>
            <a:ext cx="3931920" cy="3108960"/>
          </a:xfrm>
          <a:prstGeom prst="rect">
            <a:avLst/>
          </a:prstGeom>
          <a:noFill/>
          <a:ln/>
        </p:spPr>
        <p:txBody>
          <a:bodyPr wrap="square" rtlCol="0"/>
          <a:lstStyle/>
          <a:p>
            <a:pPr indent="0" marL="0">
              <a:buNone/>
            </a:pPr>
            <a:r>
              <a:rPr lang="en-US" dirty="0"/>
              <a:t>Researchers in R&amp;D per million people. The patent gap is downstream of this one. Korea did not out-think the region, it out-hired it, for forty years.</a:t>
            </a:r>
            <a:endParaRPr lang="en-US" dirty="0"/>
          </a:p>
        </p:txBody>
      </p:sp>
      <p:sp>
        <p:nvSpPr>
          <p:cNvPr id="5" name="stat-9,472"/>
          <p:cNvSpPr txBox="1"/>
          <p:nvPr/>
        </p:nvSpPr>
        <p:spPr>
          <a:xfrm>
            <a:off x="822960" y="4389120"/>
            <a:ext cx="2103120" cy="868680"/>
          </a:xfrm>
          <a:prstGeom prst="rect">
            <a:avLst/>
          </a:prstGeom>
          <a:noFill/>
          <a:ln/>
        </p:spPr>
        <p:txBody>
          <a:bodyPr wrap="square" lIns="0" tIns="0" rIns="0" bIns="0" rtlCol="0" anchor="ctr"/>
          <a:lstStyle/>
          <a:p>
            <a:pPr indent="0" marL="0">
              <a:buNone/>
            </a:pPr>
            <a:r>
              <a:rPr lang="en-US" sz="3600" b="1" dirty="0">
                <a:solidFill>
                  <a:srgbClr val="1F6F6B"/>
                </a:solidFill>
                <a:latin typeface="Cambria" pitchFamily="34" charset="0"/>
                <a:ea typeface="Cambria" pitchFamily="34" charset="-122"/>
                <a:cs typeface="Cambria" pitchFamily="34" charset="-120"/>
              </a:rPr>
              <a:t>9,472</a:t>
            </a:r>
            <a:endParaRPr lang="en-US" sz="3600" dirty="0"/>
          </a:p>
        </p:txBody>
      </p:sp>
      <p:sp>
        <p:nvSpPr>
          <p:cNvPr id="6" name="Text 4"/>
          <p:cNvSpPr txBox="1"/>
          <p:nvPr/>
        </p:nvSpPr>
        <p:spPr>
          <a:xfrm>
            <a:off x="822960" y="5257800"/>
            <a:ext cx="2103120" cy="685800"/>
          </a:xfrm>
          <a:prstGeom prst="rect">
            <a:avLst/>
          </a:prstGeom>
          <a:noFill/>
          <a:ln/>
        </p:spPr>
        <p:txBody>
          <a:bodyPr wrap="square" lIns="0" tIns="0" rIns="0" bIns="0" rtlCol="0" anchor="ctr"/>
          <a:lstStyle/>
          <a:p>
            <a:pPr indent="0" marL="0">
              <a:buNone/>
            </a:pPr>
            <a:r>
              <a:rPr lang="en-US" sz="1100" dirty="0">
                <a:solidFill>
                  <a:srgbClr val="5A6478"/>
                </a:solidFill>
              </a:rPr>
              <a:t>Korea, researchers per million, 2023</a:t>
            </a:r>
            <a:endParaRPr lang="en-US" sz="1100" dirty="0"/>
          </a:p>
        </p:txBody>
      </p:sp>
      <p:sp>
        <p:nvSpPr>
          <p:cNvPr id="7" name="stat-1"/>
          <p:cNvSpPr txBox="1"/>
          <p:nvPr/>
        </p:nvSpPr>
        <p:spPr>
          <a:xfrm>
            <a:off x="3108960" y="4389120"/>
            <a:ext cx="2103120" cy="868680"/>
          </a:xfrm>
          <a:prstGeom prst="rect">
            <a:avLst/>
          </a:prstGeom>
          <a:noFill/>
          <a:ln/>
        </p:spPr>
        <p:txBody>
          <a:bodyPr wrap="square" lIns="0" tIns="0" rIns="0" bIns="0" rtlCol="0" anchor="ctr"/>
          <a:lstStyle/>
          <a:p>
            <a:pPr indent="0" marL="0">
              <a:buNone/>
            </a:pPr>
            <a:r>
              <a:rPr lang="en-US" sz="3600" b="1" dirty="0">
                <a:solidFill>
                  <a:srgbClr val="C25E3A"/>
                </a:solidFill>
                <a:latin typeface="Cambria" pitchFamily="34" charset="0"/>
                <a:ea typeface="Cambria" pitchFamily="34" charset="-122"/>
                <a:cs typeface="Cambria" pitchFamily="34" charset="-120"/>
              </a:rPr>
              <a:t>1</a:t>
            </a:r>
            <a:endParaRPr lang="en-US" sz="3600" dirty="0"/>
          </a:p>
        </p:txBody>
      </p:sp>
      <p:sp>
        <p:nvSpPr>
          <p:cNvPr id="8" name="Text 6"/>
          <p:cNvSpPr txBox="1"/>
          <p:nvPr/>
        </p:nvSpPr>
        <p:spPr>
          <a:xfrm>
            <a:off x="3108960" y="5257800"/>
            <a:ext cx="2103120" cy="685800"/>
          </a:xfrm>
          <a:prstGeom prst="rect">
            <a:avLst/>
          </a:prstGeom>
          <a:noFill/>
          <a:ln/>
        </p:spPr>
        <p:txBody>
          <a:bodyPr wrap="square" lIns="0" tIns="0" rIns="0" bIns="0" rtlCol="0" anchor="ctr"/>
          <a:lstStyle/>
          <a:p>
            <a:pPr indent="0" marL="0">
              <a:buNone/>
            </a:pPr>
            <a:r>
              <a:rPr lang="en-US" sz="1100" dirty="0">
                <a:solidFill>
                  <a:srgbClr val="5A6478"/>
                </a:solidFill>
              </a:rPr>
              <a:t>Guatemala, researchers per million, 2023</a:t>
            </a:r>
            <a:endParaRPr lang="en-US" sz="1100" dirty="0"/>
          </a:p>
        </p:txBody>
      </p:sp>
      <p:graphicFrame>
        <p:nvGraphicFramePr>
          <p:cNvPr id="9" name="Chart 0" descr=""/>
          <p:cNvGraphicFramePr/>
          <p:nvPr>
            <p:ph hasCustomPrompt="1"/>
          </p:nvPr>
        </p:nvGraphicFramePr>
        <p:xfrm>
          <a:off x="5120640" y="1737360"/>
          <a:ext cx="6217920" cy="3931920"/>
        </p:xfrm>
        <a:graphic xmlns:a="http://schemas.openxmlformats.org/drawingml/2006/main">
          <a:graphicData uri="http://schemas.openxmlformats.org/drawingml/2006/chart">
            <c:chart xmlns:c="http://schemas.openxmlformats.org/drawingml/2006/chart" r:id="rId1"/>
          </a:graphicData>
        </a:graphic>
      </p:graphicFrame>
      <p:sp>
        <p:nvSpPr>
          <p:cNvPr id="10" name="Text 7"/>
          <p:cNvSpPr/>
          <p:nvPr>
            <p:ph hasCustomPrompt="1"/>
          </p:nvPr>
        </p:nvSpPr>
        <p:spPr>
          <a:xfrm>
            <a:off x="822960" y="6263640"/>
            <a:ext cx="10515600" cy="274320"/>
          </a:xfrm>
          <a:prstGeom prst="rect">
            <a:avLst/>
          </a:prstGeom>
          <a:noFill/>
          <a:ln/>
        </p:spPr>
        <p:txBody>
          <a:bodyPr wrap="square" rtlCol="0"/>
          <a:lstStyle/>
          <a:p>
            <a:pPr indent="0" marL="0">
              <a:buNone/>
            </a:pPr>
            <a:r>
              <a:rPr lang="en-US" dirty="0"/>
              <a:t>Researchers in R&amp;D per million people · World Bank WDI, SP.POP.SCIE.RD.P6 · Korea, Costa Rica, Guatemala 2023; Mexico 2024 · retrieved 20 Oct 2026</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hasCustomPrompt="1"/>
          </p:nvPr>
        </p:nvSpPr>
        <p:spPr>
          <a:xfrm>
            <a:off x="822960" y="502920"/>
            <a:ext cx="10515600" cy="274320"/>
          </a:xfrm>
          <a:prstGeom prst="rect">
            <a:avLst/>
          </a:prstGeom>
          <a:noFill/>
          <a:ln/>
        </p:spPr>
        <p:txBody>
          <a:bodyPr wrap="square" rtlCol="0"/>
          <a:lstStyle/>
          <a:p>
            <a:pPr indent="0" marL="0">
              <a:buNone/>
            </a:pPr>
            <a:r>
              <a:rPr lang="en-US" dirty="0"/>
              <a:t>INTERNATIONAL BENCHMARKS · THIS REGION</a:t>
            </a:r>
            <a:endParaRPr lang="en-US" dirty="0"/>
          </a:p>
        </p:txBody>
      </p:sp>
      <p:sp>
        <p:nvSpPr>
          <p:cNvPr id="3" name="Text 1"/>
          <p:cNvSpPr/>
          <p:nvPr>
            <p:ph hasCustomPrompt="1"/>
          </p:nvPr>
        </p:nvSpPr>
        <p:spPr>
          <a:xfrm>
            <a:off x="822960" y="868680"/>
            <a:ext cx="7772400" cy="1371600"/>
          </a:xfrm>
          <a:prstGeom prst="rect">
            <a:avLst/>
          </a:prstGeom>
          <a:noFill/>
          <a:ln/>
        </p:spPr>
        <p:txBody>
          <a:bodyPr wrap="square" rtlCol="0"/>
          <a:lstStyle/>
          <a:p>
            <a:pPr indent="0" marL="0">
              <a:buNone/>
            </a:pPr>
            <a:r>
              <a:rPr lang="en-US" dirty="0"/>
              <a:t>This has already been done. Here. On purpose</a:t>
            </a:r>
            <a:endParaRPr lang="en-US" dirty="0"/>
          </a:p>
        </p:txBody>
      </p:sp>
      <p:sp>
        <p:nvSpPr>
          <p:cNvPr id="4" name="Text 2"/>
          <p:cNvSpPr txBox="1"/>
          <p:nvPr/>
        </p:nvSpPr>
        <p:spPr>
          <a:xfrm>
            <a:off x="822960" y="2148840"/>
            <a:ext cx="10515600" cy="548640"/>
          </a:xfrm>
          <a:prstGeom prst="rect">
            <a:avLst/>
          </a:prstGeom>
          <a:noFill/>
          <a:ln/>
        </p:spPr>
        <p:txBody>
          <a:bodyPr wrap="square" lIns="0" tIns="0" rIns="0" bIns="0" rtlCol="0" anchor="ctr"/>
          <a:lstStyle/>
          <a:p>
            <a:pPr indent="0" marL="0">
              <a:buNone/>
            </a:pPr>
            <a:r>
              <a:rPr lang="en-US" sz="1400" dirty="0">
                <a:solidFill>
                  <a:srgbClr val="5A6478"/>
                </a:solidFill>
              </a:rPr>
              <a:t>Three cases from Latin America, each engineered by a state that did one narrow thing for a long time. None of it was luck. All of it was policy.</a:t>
            </a:r>
            <a:endParaRPr lang="en-US" sz="1400" dirty="0"/>
          </a:p>
        </p:txBody>
      </p:sp>
      <p:sp>
        <p:nvSpPr>
          <p:cNvPr id="5" name="Shape 3"/>
          <p:cNvSpPr/>
          <p:nvPr/>
        </p:nvSpPr>
        <p:spPr>
          <a:xfrm>
            <a:off x="822960" y="2880360"/>
            <a:ext cx="3291840" cy="2651760"/>
          </a:xfrm>
          <a:prstGeom prst="roundRect">
            <a:avLst>
              <a:gd name="adj" fmla="val 2069"/>
            </a:avLst>
          </a:prstGeom>
          <a:solidFill>
            <a:srgbClr val="FFFFFF"/>
          </a:solidFill>
          <a:ln w="12700">
            <a:solidFill>
              <a:srgbClr val="D8D3CC"/>
            </a:solidFill>
            <a:prstDash val="solid"/>
          </a:ln>
          <a:effectLst>
            <a:outerShdw sx="100000" sy="100000" kx="0" ky="0" algn="bl" rotWithShape="0" blurRad="101600" dist="25400" dir="5400000">
              <a:srgbClr val="000000">
                <a:alpha val="7000"/>
              </a:srgbClr>
            </a:outerShdw>
          </a:effectLst>
        </p:spPr>
      </p:sp>
      <p:sp>
        <p:nvSpPr>
          <p:cNvPr id="6" name="Text 4"/>
          <p:cNvSpPr txBox="1"/>
          <p:nvPr/>
        </p:nvSpPr>
        <p:spPr>
          <a:xfrm>
            <a:off x="1097280" y="3108960"/>
            <a:ext cx="2743200" cy="411480"/>
          </a:xfrm>
          <a:prstGeom prst="rect">
            <a:avLst/>
          </a:prstGeom>
          <a:noFill/>
          <a:ln/>
        </p:spPr>
        <p:txBody>
          <a:bodyPr wrap="square" lIns="0" tIns="0" rIns="0" bIns="0" rtlCol="0" anchor="ctr"/>
          <a:lstStyle/>
          <a:p>
            <a:pPr indent="0" marL="0">
              <a:buNone/>
            </a:pPr>
            <a:r>
              <a:rPr lang="en-US" sz="1900" b="1" dirty="0">
                <a:solidFill>
                  <a:srgbClr val="1F6F6B"/>
                </a:solidFill>
                <a:latin typeface="Cambria" pitchFamily="34" charset="0"/>
                <a:ea typeface="Cambria" pitchFamily="34" charset="-122"/>
                <a:cs typeface="Cambria" pitchFamily="34" charset="-120"/>
              </a:rPr>
              <a:t>Chile</a:t>
            </a:r>
            <a:endParaRPr lang="en-US" sz="1900" dirty="0"/>
          </a:p>
        </p:txBody>
      </p:sp>
      <p:sp>
        <p:nvSpPr>
          <p:cNvPr id="7" name="Text 5"/>
          <p:cNvSpPr txBox="1"/>
          <p:nvPr/>
        </p:nvSpPr>
        <p:spPr>
          <a:xfrm>
            <a:off x="1097280" y="3547872"/>
            <a:ext cx="2743200" cy="320040"/>
          </a:xfrm>
          <a:prstGeom prst="rect">
            <a:avLst/>
          </a:prstGeom>
          <a:noFill/>
          <a:ln/>
        </p:spPr>
        <p:txBody>
          <a:bodyPr wrap="square" lIns="0" tIns="0" rIns="0" bIns="0" rtlCol="0" anchor="ctr"/>
          <a:lstStyle/>
          <a:p>
            <a:pPr indent="0" marL="0">
              <a:buNone/>
            </a:pPr>
            <a:r>
              <a:rPr lang="en-US" sz="1100" b="1" spc="100" kern="0" dirty="0">
                <a:solidFill>
                  <a:srgbClr val="5A6478"/>
                </a:solidFill>
              </a:rPr>
              <a:t>Fundacion Chile</a:t>
            </a:r>
            <a:endParaRPr lang="en-US" sz="1100" dirty="0"/>
          </a:p>
        </p:txBody>
      </p:sp>
      <p:sp>
        <p:nvSpPr>
          <p:cNvPr id="8" name="Text 6"/>
          <p:cNvSpPr txBox="1"/>
          <p:nvPr/>
        </p:nvSpPr>
        <p:spPr>
          <a:xfrm>
            <a:off x="1097280" y="3977640"/>
            <a:ext cx="2743200" cy="1371600"/>
          </a:xfrm>
          <a:prstGeom prst="rect">
            <a:avLst/>
          </a:prstGeom>
          <a:noFill/>
          <a:ln/>
        </p:spPr>
        <p:txBody>
          <a:bodyPr wrap="square" lIns="0" tIns="0" rIns="0" bIns="0" rtlCol="0" anchor="ctr"/>
          <a:lstStyle/>
          <a:p>
            <a:pPr indent="0" marL="0">
              <a:buNone/>
            </a:pPr>
            <a:r>
              <a:rPr lang="en-US" sz="1250" dirty="0">
                <a:solidFill>
                  <a:srgbClr val="5A6478"/>
                </a:solidFill>
              </a:rPr>
              <a:t>Learned to farm salmon itself, proved it worked, then handed the industry to private firms and stepped back.</a:t>
            </a:r>
            <a:endParaRPr lang="en-US" sz="1250" dirty="0"/>
          </a:p>
        </p:txBody>
      </p:sp>
      <p:sp>
        <p:nvSpPr>
          <p:cNvPr id="9" name="Shape 7"/>
          <p:cNvSpPr/>
          <p:nvPr/>
        </p:nvSpPr>
        <p:spPr>
          <a:xfrm>
            <a:off x="4434840" y="2880360"/>
            <a:ext cx="3291840" cy="2651760"/>
          </a:xfrm>
          <a:prstGeom prst="roundRect">
            <a:avLst>
              <a:gd name="adj" fmla="val 2069"/>
            </a:avLst>
          </a:prstGeom>
          <a:solidFill>
            <a:srgbClr val="FFFFFF"/>
          </a:solidFill>
          <a:ln w="12700">
            <a:solidFill>
              <a:srgbClr val="D8D3CC"/>
            </a:solidFill>
            <a:prstDash val="solid"/>
          </a:ln>
          <a:effectLst>
            <a:outerShdw sx="100000" sy="100000" kx="0" ky="0" algn="bl" rotWithShape="0" blurRad="101600" dist="25400" dir="5400000">
              <a:srgbClr val="000000">
                <a:alpha val="7000"/>
              </a:srgbClr>
            </a:outerShdw>
          </a:effectLst>
        </p:spPr>
      </p:sp>
      <p:sp>
        <p:nvSpPr>
          <p:cNvPr id="10" name="Text 8"/>
          <p:cNvSpPr txBox="1"/>
          <p:nvPr/>
        </p:nvSpPr>
        <p:spPr>
          <a:xfrm>
            <a:off x="4709160" y="3108960"/>
            <a:ext cx="2743200" cy="411480"/>
          </a:xfrm>
          <a:prstGeom prst="rect">
            <a:avLst/>
          </a:prstGeom>
          <a:noFill/>
          <a:ln/>
        </p:spPr>
        <p:txBody>
          <a:bodyPr wrap="square" lIns="0" tIns="0" rIns="0" bIns="0" rtlCol="0" anchor="ctr"/>
          <a:lstStyle/>
          <a:p>
            <a:pPr indent="0" marL="0">
              <a:buNone/>
            </a:pPr>
            <a:r>
              <a:rPr lang="en-US" sz="1900" b="1" dirty="0">
                <a:solidFill>
                  <a:srgbClr val="C25E3A"/>
                </a:solidFill>
                <a:latin typeface="Cambria" pitchFamily="34" charset="0"/>
                <a:ea typeface="Cambria" pitchFamily="34" charset="-122"/>
                <a:cs typeface="Cambria" pitchFamily="34" charset="-120"/>
              </a:rPr>
              <a:t>Costa Rica</a:t>
            </a:r>
            <a:endParaRPr lang="en-US" sz="1900" dirty="0"/>
          </a:p>
        </p:txBody>
      </p:sp>
      <p:sp>
        <p:nvSpPr>
          <p:cNvPr id="11" name="Text 9"/>
          <p:cNvSpPr txBox="1"/>
          <p:nvPr/>
        </p:nvSpPr>
        <p:spPr>
          <a:xfrm>
            <a:off x="4709160" y="3547872"/>
            <a:ext cx="2743200" cy="320040"/>
          </a:xfrm>
          <a:prstGeom prst="rect">
            <a:avLst/>
          </a:prstGeom>
          <a:noFill/>
          <a:ln/>
        </p:spPr>
        <p:txBody>
          <a:bodyPr wrap="square" lIns="0" tIns="0" rIns="0" bIns="0" rtlCol="0" anchor="ctr"/>
          <a:lstStyle/>
          <a:p>
            <a:pPr indent="0" marL="0">
              <a:buNone/>
            </a:pPr>
            <a:r>
              <a:rPr lang="en-US" sz="1100" b="1" spc="100" kern="0" dirty="0">
                <a:solidFill>
                  <a:srgbClr val="5A6478"/>
                </a:solidFill>
              </a:rPr>
              <a:t>CINDE</a:t>
            </a:r>
            <a:endParaRPr lang="en-US" sz="1100" dirty="0"/>
          </a:p>
        </p:txBody>
      </p:sp>
      <p:sp>
        <p:nvSpPr>
          <p:cNvPr id="12" name="Text 10"/>
          <p:cNvSpPr txBox="1"/>
          <p:nvPr/>
        </p:nvSpPr>
        <p:spPr>
          <a:xfrm>
            <a:off x="4709160" y="3977640"/>
            <a:ext cx="2743200" cy="1371600"/>
          </a:xfrm>
          <a:prstGeom prst="rect">
            <a:avLst/>
          </a:prstGeom>
          <a:noFill/>
          <a:ln/>
        </p:spPr>
        <p:txBody>
          <a:bodyPr wrap="square" lIns="0" tIns="0" rIns="0" bIns="0" rtlCol="0" anchor="ctr"/>
          <a:lstStyle/>
          <a:p>
            <a:pPr indent="0" marL="0">
              <a:buNone/>
            </a:pPr>
            <a:r>
              <a:rPr lang="en-US" sz="1250" dirty="0">
                <a:solidFill>
                  <a:srgbClr val="5A6478"/>
                </a:solidFill>
              </a:rPr>
              <a:t>Went from bananas to medical devices in one generation by targeting a narrow set of investors and keeping them.</a:t>
            </a:r>
            <a:endParaRPr lang="en-US" sz="1250" dirty="0"/>
          </a:p>
        </p:txBody>
      </p:sp>
      <p:sp>
        <p:nvSpPr>
          <p:cNvPr id="13" name="Shape 11"/>
          <p:cNvSpPr/>
          <p:nvPr/>
        </p:nvSpPr>
        <p:spPr>
          <a:xfrm>
            <a:off x="8046720" y="2880360"/>
            <a:ext cx="3291840" cy="2651760"/>
          </a:xfrm>
          <a:prstGeom prst="roundRect">
            <a:avLst>
              <a:gd name="adj" fmla="val 2069"/>
            </a:avLst>
          </a:prstGeom>
          <a:solidFill>
            <a:srgbClr val="FFFFFF"/>
          </a:solidFill>
          <a:ln w="12700">
            <a:solidFill>
              <a:srgbClr val="D8D3CC"/>
            </a:solidFill>
            <a:prstDash val="solid"/>
          </a:ln>
          <a:effectLst>
            <a:outerShdw sx="100000" sy="100000" kx="0" ky="0" algn="bl" rotWithShape="0" blurRad="101600" dist="25400" dir="5400000">
              <a:srgbClr val="000000">
                <a:alpha val="7000"/>
              </a:srgbClr>
            </a:outerShdw>
          </a:effectLst>
        </p:spPr>
      </p:sp>
      <p:sp>
        <p:nvSpPr>
          <p:cNvPr id="14" name="Text 12"/>
          <p:cNvSpPr txBox="1"/>
          <p:nvPr/>
        </p:nvSpPr>
        <p:spPr>
          <a:xfrm>
            <a:off x="8321040" y="3108960"/>
            <a:ext cx="2743200" cy="411480"/>
          </a:xfrm>
          <a:prstGeom prst="rect">
            <a:avLst/>
          </a:prstGeom>
          <a:noFill/>
          <a:ln/>
        </p:spPr>
        <p:txBody>
          <a:bodyPr wrap="square" lIns="0" tIns="0" rIns="0" bIns="0" rtlCol="0" anchor="ctr"/>
          <a:lstStyle/>
          <a:p>
            <a:pPr indent="0" marL="0">
              <a:buNone/>
            </a:pPr>
            <a:r>
              <a:rPr lang="en-US" sz="1900" b="1" dirty="0">
                <a:solidFill>
                  <a:srgbClr val="D9A441"/>
                </a:solidFill>
                <a:latin typeface="Cambria" pitchFamily="34" charset="0"/>
                <a:ea typeface="Cambria" pitchFamily="34" charset="-122"/>
                <a:cs typeface="Cambria" pitchFamily="34" charset="-120"/>
              </a:rPr>
              <a:t>Medellin</a:t>
            </a:r>
            <a:endParaRPr lang="en-US" sz="1900" dirty="0"/>
          </a:p>
        </p:txBody>
      </p:sp>
      <p:sp>
        <p:nvSpPr>
          <p:cNvPr id="15" name="Text 13"/>
          <p:cNvSpPr txBox="1"/>
          <p:nvPr/>
        </p:nvSpPr>
        <p:spPr>
          <a:xfrm>
            <a:off x="8321040" y="3547872"/>
            <a:ext cx="2743200" cy="320040"/>
          </a:xfrm>
          <a:prstGeom prst="rect">
            <a:avLst/>
          </a:prstGeom>
          <a:noFill/>
          <a:ln/>
        </p:spPr>
        <p:txBody>
          <a:bodyPr wrap="square" lIns="0" tIns="0" rIns="0" bIns="0" rtlCol="0" anchor="ctr"/>
          <a:lstStyle/>
          <a:p>
            <a:pPr indent="0" marL="0">
              <a:buNone/>
            </a:pPr>
            <a:r>
              <a:rPr lang="en-US" sz="1100" b="1" spc="100" kern="0" dirty="0">
                <a:solidFill>
                  <a:srgbClr val="5A6478"/>
                </a:solidFill>
              </a:rPr>
              <a:t>Social urbanism</a:t>
            </a:r>
            <a:endParaRPr lang="en-US" sz="1100" dirty="0"/>
          </a:p>
        </p:txBody>
      </p:sp>
      <p:sp>
        <p:nvSpPr>
          <p:cNvPr id="16" name="Text 14"/>
          <p:cNvSpPr txBox="1"/>
          <p:nvPr/>
        </p:nvSpPr>
        <p:spPr>
          <a:xfrm>
            <a:off x="8321040" y="3977640"/>
            <a:ext cx="2743200" cy="1371600"/>
          </a:xfrm>
          <a:prstGeom prst="rect">
            <a:avLst/>
          </a:prstGeom>
          <a:noFill/>
          <a:ln/>
        </p:spPr>
        <p:txBody>
          <a:bodyPr wrap="square" lIns="0" tIns="0" rIns="0" bIns="0" rtlCol="0" anchor="ctr"/>
          <a:lstStyle/>
          <a:p>
            <a:pPr indent="0" marL="0">
              <a:buNone/>
            </a:pPr>
            <a:r>
              <a:rPr lang="en-US" sz="1250" dirty="0">
                <a:solidFill>
                  <a:srgbClr val="5A6478"/>
                </a:solidFill>
              </a:rPr>
              <a:t>Built cable cars into the hillsides the city had written off. It was never a transport project.</a:t>
            </a:r>
            <a:endParaRPr lang="en-US" sz="1250" dirty="0"/>
          </a:p>
        </p:txBody>
      </p:sp>
      <p:sp>
        <p:nvSpPr>
          <p:cNvPr id="17" name="Text 15"/>
          <p:cNvSpPr txBox="1"/>
          <p:nvPr/>
        </p:nvSpPr>
        <p:spPr>
          <a:xfrm>
            <a:off x="822960" y="5669280"/>
            <a:ext cx="8229600" cy="320040"/>
          </a:xfrm>
          <a:prstGeom prst="rect">
            <a:avLst/>
          </a:prstGeom>
          <a:noFill/>
          <a:ln/>
        </p:spPr>
        <p:txBody>
          <a:bodyPr wrap="square" lIns="0" tIns="0" rIns="0" bIns="0" rtlCol="0" anchor="ctr"/>
          <a:lstStyle/>
          <a:p>
            <a:pPr indent="0" marL="0">
              <a:buNone/>
            </a:pPr>
            <a:r>
              <a:rPr lang="en-US" sz="1100" i="1" dirty="0">
                <a:solidFill>
                  <a:srgbClr val="6E7B99"/>
                </a:solidFill>
              </a:rPr>
              <a:t>Each one a state doing a narrow thing for longer than one electoral term.</a:t>
            </a:r>
            <a:endParaRPr lang="en-US" sz="1100" dirty="0"/>
          </a:p>
        </p:txBody>
      </p:sp>
      <p:sp>
        <p:nvSpPr>
          <p:cNvPr id="18" name="Text 16"/>
          <p:cNvSpPr/>
          <p:nvPr>
            <p:ph hasCustomPrompt="1"/>
          </p:nvPr>
        </p:nvSpPr>
        <p:spPr>
          <a:xfrm>
            <a:off x="822960" y="6263640"/>
            <a:ext cx="10515600" cy="274320"/>
          </a:xfrm>
          <a:prstGeom prst="rect">
            <a:avLst/>
          </a:prstGeom>
          <a:noFill/>
          <a:ln/>
        </p:spPr>
        <p:txBody>
          <a:bodyPr wrap="square" rtlCol="0"/>
          <a:lstStyle/>
          <a:p>
            <a:pPr indent="0" marL="0">
              <a:buNone/>
            </a:pPr>
            <a:r>
              <a:rPr lang="en-US" dirty="0"/>
              <a:t>Fundacion Chile · CINDE Costa Rica · Medellin social urbanism, from our International Cities session · no figures claimed on this slide</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hasCustomPrompt="1"/>
          </p:nvPr>
        </p:nvSpPr>
        <p:spPr>
          <a:xfrm>
            <a:off x="822960" y="502920"/>
            <a:ext cx="10515600" cy="274320"/>
          </a:xfrm>
          <a:prstGeom prst="rect">
            <a:avLst/>
          </a:prstGeom>
          <a:noFill/>
          <a:ln/>
        </p:spPr>
        <p:txBody>
          <a:bodyPr wrap="square" rtlCol="0"/>
          <a:lstStyle/>
          <a:p>
            <a:pPr indent="0" marL="0">
              <a:buNone/>
            </a:pPr>
            <a:r>
              <a:rPr lang="en-US" dirty="0"/>
              <a:t>PROGRAMME ONE</a:t>
            </a:r>
            <a:endParaRPr lang="en-US" dirty="0"/>
          </a:p>
        </p:txBody>
      </p:sp>
      <p:sp>
        <p:nvSpPr>
          <p:cNvPr id="3" name="Text 1"/>
          <p:cNvSpPr/>
          <p:nvPr>
            <p:ph hasCustomPrompt="1"/>
          </p:nvPr>
        </p:nvSpPr>
        <p:spPr>
          <a:xfrm>
            <a:off x="822960" y="868680"/>
            <a:ext cx="6492240" cy="1371600"/>
          </a:xfrm>
          <a:prstGeom prst="rect">
            <a:avLst/>
          </a:prstGeom>
          <a:noFill/>
          <a:ln/>
        </p:spPr>
        <p:txBody>
          <a:bodyPr wrap="square" rtlCol="0"/>
          <a:lstStyle/>
          <a:p>
            <a:pPr indent="0" marL="0">
              <a:buNone/>
            </a:pPr>
            <a:r>
              <a:rPr lang="en-US" dirty="0"/>
              <a:t>Fund a capability agency</a:t>
            </a:r>
            <a:endParaRPr lang="en-US" dirty="0"/>
          </a:p>
        </p:txBody>
      </p:sp>
      <p:sp>
        <p:nvSpPr>
          <p:cNvPr id="4" name="Text 2"/>
          <p:cNvSpPr/>
          <p:nvPr>
            <p:ph hasCustomPrompt="1"/>
          </p:nvPr>
        </p:nvSpPr>
        <p:spPr>
          <a:xfrm>
            <a:off x="822960" y="2331720"/>
            <a:ext cx="3931920" cy="3108960"/>
          </a:xfrm>
          <a:prstGeom prst="rect">
            <a:avLst/>
          </a:prstGeom>
          <a:noFill/>
          <a:ln/>
        </p:spPr>
        <p:txBody>
          <a:bodyPr wrap="square" rtlCol="0"/>
          <a:lstStyle/>
          <a:p>
            <a:pPr indent="0" marL="0">
              <a:buNone/>
            </a:pPr>
            <a:r>
              <a:rPr lang="en-US" dirty="0"/>
              <a:t>One agency, one country, one industry at a time. It learns the industry itself, de-risks it, then hands it to firms and withdraws.</a:t>
            </a:r>
            <a:endParaRPr lang="en-US" dirty="0"/>
          </a:p>
        </p:txBody>
      </p:sp>
      <p:sp>
        <p:nvSpPr>
          <p:cNvPr id="5" name="stat-Years 0-2"/>
          <p:cNvSpPr txBox="1"/>
          <p:nvPr/>
        </p:nvSpPr>
        <p:spPr>
          <a:xfrm>
            <a:off x="822960" y="4663440"/>
            <a:ext cx="3931920" cy="868680"/>
          </a:xfrm>
          <a:prstGeom prst="rect">
            <a:avLst/>
          </a:prstGeom>
          <a:noFill/>
          <a:ln/>
        </p:spPr>
        <p:txBody>
          <a:bodyPr wrap="square" lIns="0" tIns="0" rIns="0" bIns="0" rtlCol="0" anchor="ctr"/>
          <a:lstStyle/>
          <a:p>
            <a:pPr indent="0" marL="0">
              <a:buNone/>
            </a:pPr>
            <a:r>
              <a:rPr lang="en-US" sz="3000" b="1" dirty="0">
                <a:solidFill>
                  <a:srgbClr val="C25E3A"/>
                </a:solidFill>
                <a:latin typeface="Cambria" pitchFamily="34" charset="0"/>
                <a:ea typeface="Cambria" pitchFamily="34" charset="-122"/>
                <a:cs typeface="Cambria" pitchFamily="34" charset="-120"/>
              </a:rPr>
              <a:t>Years 0-2</a:t>
            </a:r>
            <a:endParaRPr lang="en-US" sz="3000" dirty="0"/>
          </a:p>
        </p:txBody>
      </p:sp>
      <p:sp>
        <p:nvSpPr>
          <p:cNvPr id="6" name="Text 4"/>
          <p:cNvSpPr txBox="1"/>
          <p:nvPr/>
        </p:nvSpPr>
        <p:spPr>
          <a:xfrm>
            <a:off x="822960" y="5532120"/>
            <a:ext cx="3931920" cy="685800"/>
          </a:xfrm>
          <a:prstGeom prst="rect">
            <a:avLst/>
          </a:prstGeom>
          <a:noFill/>
          <a:ln/>
        </p:spPr>
        <p:txBody>
          <a:bodyPr wrap="square" lIns="0" tIns="0" rIns="0" bIns="0" rtlCol="0" anchor="ctr"/>
          <a:lstStyle/>
          <a:p>
            <a:pPr indent="0" marL="0">
              <a:buNone/>
            </a:pPr>
            <a:r>
              <a:rPr lang="en-US" sz="1100" dirty="0">
                <a:solidFill>
                  <a:srgbClr val="5A6478"/>
                </a:solidFill>
              </a:rPr>
              <a:t>Felt inside one electoral term</a:t>
            </a:r>
            <a:endParaRPr lang="en-US" sz="1100" dirty="0"/>
          </a:p>
        </p:txBody>
      </p:sp>
      <p:sp>
        <p:nvSpPr>
          <p:cNvPr id="7" name="Shape 5"/>
          <p:cNvSpPr/>
          <p:nvPr/>
        </p:nvSpPr>
        <p:spPr>
          <a:xfrm>
            <a:off x="5394960" y="1783080"/>
            <a:ext cx="5943600" cy="3931920"/>
          </a:xfrm>
          <a:prstGeom prst="roundRect">
            <a:avLst>
              <a:gd name="adj" fmla="val 1395"/>
            </a:avLst>
          </a:prstGeom>
          <a:solidFill>
            <a:srgbClr val="F4F2EE"/>
          </a:solidFill>
          <a:ln w="12700">
            <a:solidFill>
              <a:srgbClr val="D8D3CC"/>
            </a:solidFill>
            <a:prstDash val="solid"/>
          </a:ln>
        </p:spPr>
      </p:sp>
      <p:sp>
        <p:nvSpPr>
          <p:cNvPr id="8" name="Text 6"/>
          <p:cNvSpPr txBox="1"/>
          <p:nvPr/>
        </p:nvSpPr>
        <p:spPr>
          <a:xfrm>
            <a:off x="5715000" y="2011680"/>
            <a:ext cx="5303520" cy="320040"/>
          </a:xfrm>
          <a:prstGeom prst="rect">
            <a:avLst/>
          </a:prstGeom>
          <a:noFill/>
          <a:ln/>
        </p:spPr>
        <p:txBody>
          <a:bodyPr wrap="square" lIns="0" tIns="0" rIns="0" bIns="0" rtlCol="0" anchor="ctr"/>
          <a:lstStyle/>
          <a:p>
            <a:pPr indent="0" marL="0">
              <a:buNone/>
            </a:pPr>
            <a:r>
              <a:rPr lang="en-US" sz="1200" b="1" spc="100" kern="0" dirty="0">
                <a:solidFill>
                  <a:srgbClr val="C25E3A"/>
                </a:solidFill>
              </a:rPr>
              <a:t>How it works</a:t>
            </a:r>
            <a:endParaRPr lang="en-US" sz="1200" dirty="0"/>
          </a:p>
        </p:txBody>
      </p:sp>
      <p:sp>
        <p:nvSpPr>
          <p:cNvPr id="9" name="Text 7"/>
          <p:cNvSpPr txBox="1"/>
          <p:nvPr/>
        </p:nvSpPr>
        <p:spPr>
          <a:xfrm>
            <a:off x="5715000" y="2423160"/>
            <a:ext cx="5303520" cy="2194560"/>
          </a:xfrm>
          <a:prstGeom prst="rect">
            <a:avLst/>
          </a:prstGeom>
          <a:noFill/>
          <a:ln/>
        </p:spPr>
        <p:txBody>
          <a:bodyPr wrap="square" lIns="0" tIns="0" rIns="0" bIns="0" rtlCol="0" anchor="ctr"/>
          <a:lstStyle/>
          <a:p>
            <a:pPr marL="342900" indent="-342900">
              <a:spcAft>
                <a:spcPts val="1000"/>
              </a:spcAft>
              <a:buSzPct val="100000"/>
              <a:buChar char="•"/>
            </a:pPr>
            <a:r>
              <a:rPr lang="en-US" sz="1300" dirty="0">
                <a:solidFill>
                  <a:srgbClr val="11182B"/>
                </a:solidFill>
              </a:rPr>
              <a:t>Pick one tradeable industry with a real window open now</a:t>
            </a:r>
            <a:endParaRPr lang="en-US" sz="1300" dirty="0"/>
          </a:p>
          <a:p>
            <a:pPr marL="342900" indent="-342900">
              <a:spcAft>
                <a:spcPts val="1000"/>
              </a:spcAft>
              <a:buSzPct val="100000"/>
              <a:buChar char="•"/>
            </a:pPr>
            <a:r>
              <a:rPr lang="en-US" sz="1300" dirty="0">
                <a:solidFill>
                  <a:srgbClr val="11182B"/>
                </a:solidFill>
              </a:rPr>
              <a:t>State carries the first-mover risk, not the firms</a:t>
            </a:r>
            <a:endParaRPr lang="en-US" sz="1300" dirty="0"/>
          </a:p>
          <a:p>
            <a:pPr marL="342900" indent="-342900">
              <a:spcAft>
                <a:spcPts val="1000"/>
              </a:spcAft>
              <a:buSzPct val="100000"/>
              <a:buChar char="•"/>
            </a:pPr>
            <a:r>
              <a:rPr lang="en-US" sz="1300" dirty="0">
                <a:solidFill>
                  <a:srgbClr val="11182B"/>
                </a:solidFill>
              </a:rPr>
              <a:t>Hand over on a published date and withdraw</a:t>
            </a:r>
            <a:endParaRPr lang="en-US" sz="1300" dirty="0"/>
          </a:p>
          <a:p>
            <a:pPr marL="342900" indent="-342900">
              <a:spcAft>
                <a:spcPts val="1000"/>
              </a:spcAft>
              <a:buSzPct val="100000"/>
              <a:buChar char="•"/>
            </a:pPr>
            <a:r>
              <a:rPr lang="en-US" sz="1300" dirty="0">
                <a:solidFill>
                  <a:srgbClr val="11182B"/>
                </a:solidFill>
              </a:rPr>
              <a:t>Fund the agency, not the factories</a:t>
            </a:r>
            <a:endParaRPr lang="en-US" sz="1300" dirty="0"/>
          </a:p>
        </p:txBody>
      </p:sp>
      <p:sp>
        <p:nvSpPr>
          <p:cNvPr id="10" name="Text 8"/>
          <p:cNvSpPr txBox="1"/>
          <p:nvPr/>
        </p:nvSpPr>
        <p:spPr>
          <a:xfrm>
            <a:off x="5715000" y="5029200"/>
            <a:ext cx="5303520" cy="502920"/>
          </a:xfrm>
          <a:prstGeom prst="rect">
            <a:avLst/>
          </a:prstGeom>
          <a:noFill/>
          <a:ln/>
        </p:spPr>
        <p:txBody>
          <a:bodyPr wrap="square" lIns="0" tIns="0" rIns="0" bIns="0" rtlCol="0" anchor="ctr"/>
          <a:lstStyle/>
          <a:p>
            <a:pPr indent="0" marL="0">
              <a:buNone/>
            </a:pPr>
            <a:r>
              <a:rPr lang="en-US" sz="1100" i="1" dirty="0">
                <a:solidFill>
                  <a:srgbClr val="5A6478"/>
                </a:solidFill>
              </a:rPr>
              <a:t>Precedent: Fundacion Chile, CINDE Costa Rica</a:t>
            </a:r>
            <a:endParaRPr lang="en-US" sz="1100" dirty="0"/>
          </a:p>
        </p:txBody>
      </p:sp>
      <p:sp>
        <p:nvSpPr>
          <p:cNvPr id="11" name="Text 9"/>
          <p:cNvSpPr/>
          <p:nvPr>
            <p:ph hasCustomPrompt="1"/>
          </p:nvPr>
        </p:nvSpPr>
        <p:spPr>
          <a:xfrm>
            <a:off x="822960" y="6263640"/>
            <a:ext cx="10515600" cy="274320"/>
          </a:xfrm>
          <a:prstGeom prst="rect">
            <a:avLst/>
          </a:prstGeom>
          <a:noFill/>
          <a:ln/>
        </p:spPr>
        <p:txBody>
          <a:bodyPr wrap="square" rtlCol="0"/>
          <a:lstStyle/>
          <a:p>
            <a:pPr indent="0" marL="0">
              <a:buNone/>
            </a:pPr>
            <a:r>
              <a:rPr lang="en-US" dirty="0"/>
              <a:t>Programme design original · precedents Fundacion Chile and CINDE Costa Rica · costing UNSURE, to be built with IDB project data</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hasCustomPrompt="1"/>
          </p:nvPr>
        </p:nvSpPr>
        <p:spPr>
          <a:xfrm>
            <a:off x="822960" y="502920"/>
            <a:ext cx="10515600" cy="274320"/>
          </a:xfrm>
          <a:prstGeom prst="rect">
            <a:avLst/>
          </a:prstGeom>
          <a:noFill/>
          <a:ln/>
        </p:spPr>
        <p:txBody>
          <a:bodyPr wrap="square" rtlCol="0"/>
          <a:lstStyle/>
          <a:p>
            <a:pPr indent="0" marL="0">
              <a:buNone/>
            </a:pPr>
            <a:r>
              <a:rPr lang="en-US" dirty="0"/>
              <a:t>PROGRAMME TWO</a:t>
            </a:r>
            <a:endParaRPr lang="en-US" dirty="0"/>
          </a:p>
        </p:txBody>
      </p:sp>
      <p:sp>
        <p:nvSpPr>
          <p:cNvPr id="3" name="Text 1"/>
          <p:cNvSpPr/>
          <p:nvPr>
            <p:ph hasCustomPrompt="1"/>
          </p:nvPr>
        </p:nvSpPr>
        <p:spPr>
          <a:xfrm>
            <a:off x="822960" y="868680"/>
            <a:ext cx="6492240" cy="1371600"/>
          </a:xfrm>
          <a:prstGeom prst="rect">
            <a:avLst/>
          </a:prstGeom>
          <a:noFill/>
          <a:ln/>
        </p:spPr>
        <p:txBody>
          <a:bodyPr wrap="square" rtlCol="0"/>
          <a:lstStyle/>
          <a:p>
            <a:pPr indent="0" marL="0">
              <a:buNone/>
            </a:pPr>
            <a:r>
              <a:rPr lang="en-US" dirty="0"/>
              <a:t>Reach the towns outside</a:t>
            </a:r>
            <a:endParaRPr lang="en-US" dirty="0"/>
          </a:p>
        </p:txBody>
      </p:sp>
      <p:sp>
        <p:nvSpPr>
          <p:cNvPr id="4" name="Text 2"/>
          <p:cNvSpPr/>
          <p:nvPr>
            <p:ph hasCustomPrompt="1"/>
          </p:nvPr>
        </p:nvSpPr>
        <p:spPr>
          <a:xfrm>
            <a:off x="822960" y="2331720"/>
            <a:ext cx="3931920" cy="3108960"/>
          </a:xfrm>
          <a:prstGeom prst="rect">
            <a:avLst/>
          </a:prstGeom>
          <a:noFill/>
          <a:ln/>
        </p:spPr>
        <p:txBody>
          <a:bodyPr wrap="square" rtlCol="0"/>
          <a:lstStyle/>
          <a:p>
            <a:pPr indent="0" marL="0">
              <a:buNone/>
            </a:pPr>
            <a:r>
              <a:rPr lang="en-US" dirty="0"/>
              <a:t>Perroux's growth pole has five stages. Two of them fail by default, and those are the two the money attaches to.</a:t>
            </a:r>
            <a:endParaRPr lang="en-US" dirty="0"/>
          </a:p>
        </p:txBody>
      </p:sp>
      <p:sp>
        <p:nvSpPr>
          <p:cNvPr id="5" name="stat-Years 5-10"/>
          <p:cNvSpPr txBox="1"/>
          <p:nvPr/>
        </p:nvSpPr>
        <p:spPr>
          <a:xfrm>
            <a:off x="822960" y="4663440"/>
            <a:ext cx="3931920" cy="868680"/>
          </a:xfrm>
          <a:prstGeom prst="rect">
            <a:avLst/>
          </a:prstGeom>
          <a:noFill/>
          <a:ln/>
        </p:spPr>
        <p:txBody>
          <a:bodyPr wrap="square" lIns="0" tIns="0" rIns="0" bIns="0" rtlCol="0" anchor="ctr"/>
          <a:lstStyle/>
          <a:p>
            <a:pPr indent="0" marL="0">
              <a:buNone/>
            </a:pPr>
            <a:r>
              <a:rPr lang="en-US" sz="3000" b="1" dirty="0">
                <a:solidFill>
                  <a:srgbClr val="D9A441"/>
                </a:solidFill>
                <a:latin typeface="Cambria" pitchFamily="34" charset="0"/>
                <a:ea typeface="Cambria" pitchFamily="34" charset="-122"/>
                <a:cs typeface="Cambria" pitchFamily="34" charset="-120"/>
              </a:rPr>
              <a:t>Years 5-10</a:t>
            </a:r>
            <a:endParaRPr lang="en-US" sz="3000" dirty="0"/>
          </a:p>
        </p:txBody>
      </p:sp>
      <p:sp>
        <p:nvSpPr>
          <p:cNvPr id="6" name="Text 4"/>
          <p:cNvSpPr txBox="1"/>
          <p:nvPr/>
        </p:nvSpPr>
        <p:spPr>
          <a:xfrm>
            <a:off x="822960" y="5532120"/>
            <a:ext cx="3931920" cy="685800"/>
          </a:xfrm>
          <a:prstGeom prst="rect">
            <a:avLst/>
          </a:prstGeom>
          <a:noFill/>
          <a:ln/>
        </p:spPr>
        <p:txBody>
          <a:bodyPr wrap="square" lIns="0" tIns="0" rIns="0" bIns="0" rtlCol="0" anchor="ctr"/>
          <a:lstStyle/>
          <a:p>
            <a:pPr indent="0" marL="0">
              <a:buNone/>
            </a:pPr>
            <a:r>
              <a:rPr lang="en-US" sz="1100" dirty="0">
                <a:solidFill>
                  <a:srgbClr val="5A6478"/>
                </a:solidFill>
              </a:rPr>
              <a:t>Needs the tax base first</a:t>
            </a:r>
            <a:endParaRPr lang="en-US" sz="1100" dirty="0"/>
          </a:p>
        </p:txBody>
      </p:sp>
      <p:sp>
        <p:nvSpPr>
          <p:cNvPr id="7" name="Shape 5"/>
          <p:cNvSpPr/>
          <p:nvPr/>
        </p:nvSpPr>
        <p:spPr>
          <a:xfrm>
            <a:off x="5394960" y="1783080"/>
            <a:ext cx="5943600" cy="3931920"/>
          </a:xfrm>
          <a:prstGeom prst="roundRect">
            <a:avLst>
              <a:gd name="adj" fmla="val 1395"/>
            </a:avLst>
          </a:prstGeom>
          <a:solidFill>
            <a:srgbClr val="F4F2EE"/>
          </a:solidFill>
          <a:ln w="12700">
            <a:solidFill>
              <a:srgbClr val="D8D3CC"/>
            </a:solidFill>
            <a:prstDash val="solid"/>
          </a:ln>
        </p:spPr>
      </p:sp>
      <p:sp>
        <p:nvSpPr>
          <p:cNvPr id="8" name="Text 6"/>
          <p:cNvSpPr txBox="1"/>
          <p:nvPr/>
        </p:nvSpPr>
        <p:spPr>
          <a:xfrm>
            <a:off x="5715000" y="2011680"/>
            <a:ext cx="5303520" cy="320040"/>
          </a:xfrm>
          <a:prstGeom prst="rect">
            <a:avLst/>
          </a:prstGeom>
          <a:noFill/>
          <a:ln/>
        </p:spPr>
        <p:txBody>
          <a:bodyPr wrap="square" lIns="0" tIns="0" rIns="0" bIns="0" rtlCol="0" anchor="ctr"/>
          <a:lstStyle/>
          <a:p>
            <a:pPr indent="0" marL="0">
              <a:buNone/>
            </a:pPr>
            <a:r>
              <a:rPr lang="en-US" sz="1200" b="1" spc="100" kern="0" dirty="0">
                <a:solidFill>
                  <a:srgbClr val="D9A441"/>
                </a:solidFill>
              </a:rPr>
              <a:t>How it works</a:t>
            </a:r>
            <a:endParaRPr lang="en-US" sz="1200" dirty="0"/>
          </a:p>
        </p:txBody>
      </p:sp>
      <p:sp>
        <p:nvSpPr>
          <p:cNvPr id="9" name="Text 7"/>
          <p:cNvSpPr txBox="1"/>
          <p:nvPr/>
        </p:nvSpPr>
        <p:spPr>
          <a:xfrm>
            <a:off x="5715000" y="2423160"/>
            <a:ext cx="5303520" cy="2194560"/>
          </a:xfrm>
          <a:prstGeom prst="rect">
            <a:avLst/>
          </a:prstGeom>
          <a:noFill/>
          <a:ln/>
        </p:spPr>
        <p:txBody>
          <a:bodyPr wrap="square" lIns="0" tIns="0" rIns="0" bIns="0" rtlCol="0" anchor="ctr"/>
          <a:lstStyle/>
          <a:p>
            <a:pPr marL="342900" indent="-342900">
              <a:spcAft>
                <a:spcPts val="1000"/>
              </a:spcAft>
              <a:buSzPct val="100000"/>
              <a:buChar char="•"/>
            </a:pPr>
            <a:r>
              <a:rPr lang="en-US" sz="1300" dirty="0">
                <a:solidFill>
                  <a:srgbClr val="11182B"/>
                </a:solidFill>
              </a:rPr>
              <a:t>Roads and signal reach the towns outside the pole</a:t>
            </a:r>
            <a:endParaRPr lang="en-US" sz="1300" dirty="0"/>
          </a:p>
          <a:p>
            <a:pPr marL="342900" indent="-342900">
              <a:spcAft>
                <a:spcPts val="1000"/>
              </a:spcAft>
              <a:buSzPct val="100000"/>
              <a:buChar char="•"/>
            </a:pPr>
            <a:r>
              <a:rPr lang="en-US" sz="1300" dirty="0">
                <a:solidFill>
                  <a:srgbClr val="11182B"/>
                </a:solidFill>
              </a:rPr>
              <a:t>Local firms learn to supply the centre</a:t>
            </a:r>
            <a:endParaRPr lang="en-US" sz="1300" dirty="0"/>
          </a:p>
          <a:p>
            <a:pPr marL="342900" indent="-342900">
              <a:spcAft>
                <a:spcPts val="1000"/>
              </a:spcAft>
              <a:buSzPct val="100000"/>
              <a:buChar char="•"/>
            </a:pPr>
            <a:r>
              <a:rPr lang="en-US" sz="1300" dirty="0">
                <a:solidFill>
                  <a:srgbClr val="11182B"/>
                </a:solidFill>
              </a:rPr>
              <a:t>Skills spread outward instead of draining in</a:t>
            </a:r>
            <a:endParaRPr lang="en-US" sz="1300" dirty="0"/>
          </a:p>
          <a:p>
            <a:pPr marL="342900" indent="-342900">
              <a:spcAft>
                <a:spcPts val="1000"/>
              </a:spcAft>
              <a:buSzPct val="100000"/>
              <a:buChar char="•"/>
            </a:pPr>
            <a:r>
              <a:rPr lang="en-US" sz="1300" dirty="0">
                <a:solidFill>
                  <a:srgbClr val="11182B"/>
                </a:solidFill>
              </a:rPr>
              <a:t>The last two stages never happen on their own</a:t>
            </a:r>
            <a:endParaRPr lang="en-US" sz="1300" dirty="0"/>
          </a:p>
        </p:txBody>
      </p:sp>
      <p:sp>
        <p:nvSpPr>
          <p:cNvPr id="10" name="Text 8"/>
          <p:cNvSpPr txBox="1"/>
          <p:nvPr/>
        </p:nvSpPr>
        <p:spPr>
          <a:xfrm>
            <a:off x="5715000" y="5029200"/>
            <a:ext cx="5303520" cy="502920"/>
          </a:xfrm>
          <a:prstGeom prst="rect">
            <a:avLst/>
          </a:prstGeom>
          <a:noFill/>
          <a:ln/>
        </p:spPr>
        <p:txBody>
          <a:bodyPr wrap="square" lIns="0" tIns="0" rIns="0" bIns="0" rtlCol="0" anchor="ctr"/>
          <a:lstStyle/>
          <a:p>
            <a:pPr indent="0" marL="0">
              <a:buNone/>
            </a:pPr>
            <a:r>
              <a:rPr lang="en-US" sz="1100" i="1" dirty="0">
                <a:solidFill>
                  <a:srgbClr val="5A6478"/>
                </a:solidFill>
              </a:rPr>
              <a:t>Case: Medellin cable cars were stage five, not a transport project</a:t>
            </a:r>
            <a:endParaRPr lang="en-US" sz="1100" dirty="0"/>
          </a:p>
        </p:txBody>
      </p:sp>
      <p:sp>
        <p:nvSpPr>
          <p:cNvPr id="11" name="Text 9"/>
          <p:cNvSpPr/>
          <p:nvPr>
            <p:ph hasCustomPrompt="1"/>
          </p:nvPr>
        </p:nvSpPr>
        <p:spPr>
          <a:xfrm>
            <a:off x="822960" y="6263640"/>
            <a:ext cx="10515600" cy="274320"/>
          </a:xfrm>
          <a:prstGeom prst="rect">
            <a:avLst/>
          </a:prstGeom>
          <a:noFill/>
          <a:ln/>
        </p:spPr>
        <p:txBody>
          <a:bodyPr wrap="square" rtlCol="0"/>
          <a:lstStyle/>
          <a:p>
            <a:pPr indent="0" marL="0">
              <a:buNone/>
            </a:pPr>
            <a:r>
              <a:rPr lang="en-US" dirty="0"/>
              <a:t>Perroux's five-stage growth pole process, from our Core-Periphery session · case Medellin · costing UNSURE</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hasCustomPrompt="1"/>
          </p:nvPr>
        </p:nvSpPr>
        <p:spPr>
          <a:xfrm>
            <a:off x="822960" y="502920"/>
            <a:ext cx="10515600" cy="274320"/>
          </a:xfrm>
          <a:prstGeom prst="rect">
            <a:avLst/>
          </a:prstGeom>
          <a:noFill/>
          <a:ln/>
        </p:spPr>
        <p:txBody>
          <a:bodyPr wrap="square" rtlCol="0"/>
          <a:lstStyle/>
          <a:p>
            <a:pPr indent="0" marL="0">
              <a:buNone/>
            </a:pPr>
            <a:r>
              <a:rPr lang="en-US" dirty="0"/>
              <a:t>PROGRAMME THREE</a:t>
            </a:r>
            <a:endParaRPr lang="en-US" dirty="0"/>
          </a:p>
        </p:txBody>
      </p:sp>
      <p:sp>
        <p:nvSpPr>
          <p:cNvPr id="3" name="Text 1"/>
          <p:cNvSpPr/>
          <p:nvPr>
            <p:ph hasCustomPrompt="1"/>
          </p:nvPr>
        </p:nvSpPr>
        <p:spPr>
          <a:xfrm>
            <a:off x="822960" y="868680"/>
            <a:ext cx="6492240" cy="1371600"/>
          </a:xfrm>
          <a:prstGeom prst="rect">
            <a:avLst/>
          </a:prstGeom>
          <a:noFill/>
          <a:ln/>
        </p:spPr>
        <p:txBody>
          <a:bodyPr wrap="square" rtlCol="0"/>
          <a:lstStyle/>
          <a:p>
            <a:pPr indent="0" marL="0">
              <a:buNone/>
            </a:pPr>
            <a:r>
              <a:rPr lang="en-US" dirty="0"/>
              <a:t>Take the wall down</a:t>
            </a:r>
            <a:endParaRPr lang="en-US" dirty="0"/>
          </a:p>
        </p:txBody>
      </p:sp>
      <p:sp>
        <p:nvSpPr>
          <p:cNvPr id="4" name="Text 2"/>
          <p:cNvSpPr/>
          <p:nvPr>
            <p:ph hasCustomPrompt="1"/>
          </p:nvPr>
        </p:nvSpPr>
        <p:spPr>
          <a:xfrm>
            <a:off x="822960" y="2331720"/>
            <a:ext cx="3931920" cy="3108960"/>
          </a:xfrm>
          <a:prstGeom prst="rect">
            <a:avLst/>
          </a:prstGeom>
          <a:noFill/>
          <a:ln/>
        </p:spPr>
        <p:txBody>
          <a:bodyPr wrap="square" rtlCol="0"/>
          <a:lstStyle/>
          <a:p>
            <a:pPr indent="0" marL="0">
              <a:buNone/>
            </a:pPr>
            <a:r>
              <a:rPr lang="en-US" dirty="0"/>
              <a:t>Pay for health and pensions from general tax, not from wages. This costs money before it saves money, and it is the only one that pays back inside one term.</a:t>
            </a:r>
            <a:endParaRPr lang="en-US" dirty="0"/>
          </a:p>
        </p:txBody>
      </p:sp>
      <p:sp>
        <p:nvSpPr>
          <p:cNvPr id="5" name="stat-Years 0-2"/>
          <p:cNvSpPr txBox="1"/>
          <p:nvPr/>
        </p:nvSpPr>
        <p:spPr>
          <a:xfrm>
            <a:off x="822960" y="4663440"/>
            <a:ext cx="3931920" cy="868680"/>
          </a:xfrm>
          <a:prstGeom prst="rect">
            <a:avLst/>
          </a:prstGeom>
          <a:noFill/>
          <a:ln/>
        </p:spPr>
        <p:txBody>
          <a:bodyPr wrap="square" lIns="0" tIns="0" rIns="0" bIns="0" rtlCol="0" anchor="ctr"/>
          <a:lstStyle/>
          <a:p>
            <a:pPr indent="0" marL="0">
              <a:buNone/>
            </a:pPr>
            <a:r>
              <a:rPr lang="en-US" sz="3000" b="1" dirty="0">
                <a:solidFill>
                  <a:srgbClr val="1F6F6B"/>
                </a:solidFill>
                <a:latin typeface="Cambria" pitchFamily="34" charset="0"/>
                <a:ea typeface="Cambria" pitchFamily="34" charset="-122"/>
                <a:cs typeface="Cambria" pitchFamily="34" charset="-120"/>
              </a:rPr>
              <a:t>Years 0-2</a:t>
            </a:r>
            <a:endParaRPr lang="en-US" sz="3000" dirty="0"/>
          </a:p>
        </p:txBody>
      </p:sp>
      <p:sp>
        <p:nvSpPr>
          <p:cNvPr id="6" name="Text 4"/>
          <p:cNvSpPr txBox="1"/>
          <p:nvPr/>
        </p:nvSpPr>
        <p:spPr>
          <a:xfrm>
            <a:off x="822960" y="5532120"/>
            <a:ext cx="3931920" cy="685800"/>
          </a:xfrm>
          <a:prstGeom prst="rect">
            <a:avLst/>
          </a:prstGeom>
          <a:noFill/>
          <a:ln/>
        </p:spPr>
        <p:txBody>
          <a:bodyPr wrap="square" lIns="0" tIns="0" rIns="0" bIns="0" rtlCol="0" anchor="ctr"/>
          <a:lstStyle/>
          <a:p>
            <a:pPr indent="0" marL="0">
              <a:buNone/>
            </a:pPr>
            <a:r>
              <a:rPr lang="en-US" sz="1100" dirty="0">
                <a:solidFill>
                  <a:srgbClr val="5A6478"/>
                </a:solidFill>
              </a:rPr>
              <a:t>The only one that pays back fast</a:t>
            </a:r>
            <a:endParaRPr lang="en-US" sz="1100" dirty="0"/>
          </a:p>
        </p:txBody>
      </p:sp>
      <p:sp>
        <p:nvSpPr>
          <p:cNvPr id="7" name="Shape 5"/>
          <p:cNvSpPr/>
          <p:nvPr/>
        </p:nvSpPr>
        <p:spPr>
          <a:xfrm>
            <a:off x="5394960" y="1783080"/>
            <a:ext cx="5943600" cy="3931920"/>
          </a:xfrm>
          <a:prstGeom prst="roundRect">
            <a:avLst>
              <a:gd name="adj" fmla="val 1395"/>
            </a:avLst>
          </a:prstGeom>
          <a:solidFill>
            <a:srgbClr val="F4F2EE"/>
          </a:solidFill>
          <a:ln w="12700">
            <a:solidFill>
              <a:srgbClr val="D8D3CC"/>
            </a:solidFill>
            <a:prstDash val="solid"/>
          </a:ln>
        </p:spPr>
      </p:sp>
      <p:sp>
        <p:nvSpPr>
          <p:cNvPr id="8" name="Text 6"/>
          <p:cNvSpPr txBox="1"/>
          <p:nvPr/>
        </p:nvSpPr>
        <p:spPr>
          <a:xfrm>
            <a:off x="5715000" y="2011680"/>
            <a:ext cx="5303520" cy="320040"/>
          </a:xfrm>
          <a:prstGeom prst="rect">
            <a:avLst/>
          </a:prstGeom>
          <a:noFill/>
          <a:ln/>
        </p:spPr>
        <p:txBody>
          <a:bodyPr wrap="square" lIns="0" tIns="0" rIns="0" bIns="0" rtlCol="0" anchor="ctr"/>
          <a:lstStyle/>
          <a:p>
            <a:pPr indent="0" marL="0">
              <a:buNone/>
            </a:pPr>
            <a:r>
              <a:rPr lang="en-US" sz="1200" b="1" spc="100" kern="0" dirty="0">
                <a:solidFill>
                  <a:srgbClr val="1F6F6B"/>
                </a:solidFill>
              </a:rPr>
              <a:t>How it works</a:t>
            </a:r>
            <a:endParaRPr lang="en-US" sz="1200" dirty="0"/>
          </a:p>
        </p:txBody>
      </p:sp>
      <p:sp>
        <p:nvSpPr>
          <p:cNvPr id="9" name="Text 7"/>
          <p:cNvSpPr txBox="1"/>
          <p:nvPr/>
        </p:nvSpPr>
        <p:spPr>
          <a:xfrm>
            <a:off x="5715000" y="2423160"/>
            <a:ext cx="5303520" cy="2194560"/>
          </a:xfrm>
          <a:prstGeom prst="rect">
            <a:avLst/>
          </a:prstGeom>
          <a:noFill/>
          <a:ln/>
        </p:spPr>
        <p:txBody>
          <a:bodyPr wrap="square" lIns="0" tIns="0" rIns="0" bIns="0" rtlCol="0" anchor="ctr"/>
          <a:lstStyle/>
          <a:p>
            <a:pPr marL="342900" indent="-342900">
              <a:spcAft>
                <a:spcPts val="1000"/>
              </a:spcAft>
              <a:buSzPct val="100000"/>
              <a:buChar char="•"/>
            </a:pPr>
            <a:r>
              <a:rPr lang="en-US" sz="1300" dirty="0">
                <a:solidFill>
                  <a:srgbClr val="11182B"/>
                </a:solidFill>
              </a:rPr>
              <a:t>Stop taxing the act of being visible</a:t>
            </a:r>
            <a:endParaRPr lang="en-US" sz="1300" dirty="0"/>
          </a:p>
          <a:p>
            <a:pPr marL="342900" indent="-342900">
              <a:spcAft>
                <a:spcPts val="1000"/>
              </a:spcAft>
              <a:buSzPct val="100000"/>
              <a:buChar char="•"/>
            </a:pPr>
            <a:r>
              <a:rPr lang="en-US" sz="1300" dirty="0">
                <a:solidFill>
                  <a:srgbClr val="11182B"/>
                </a:solidFill>
              </a:rPr>
              <a:t>Firms can pass ten employees without hiding</a:t>
            </a:r>
            <a:endParaRPr lang="en-US" sz="1300" dirty="0"/>
          </a:p>
          <a:p>
            <a:pPr marL="342900" indent="-342900">
              <a:spcAft>
                <a:spcPts val="1000"/>
              </a:spcAft>
              <a:buSzPct val="100000"/>
              <a:buChar char="•"/>
            </a:pPr>
            <a:r>
              <a:rPr lang="en-US" sz="1300" dirty="0">
                <a:solidFill>
                  <a:srgbClr val="11182B"/>
                </a:solidFill>
              </a:rPr>
              <a:t>Same firms, wall removed</a:t>
            </a:r>
            <a:endParaRPr lang="en-US" sz="1300" dirty="0"/>
          </a:p>
          <a:p>
            <a:pPr marL="342900" indent="-342900">
              <a:spcAft>
                <a:spcPts val="1000"/>
              </a:spcAft>
              <a:buSzPct val="100000"/>
              <a:buChar char="•"/>
            </a:pPr>
            <a:r>
              <a:rPr lang="en-US" sz="1300" dirty="0">
                <a:solidFill>
                  <a:srgbClr val="11182B"/>
                </a:solidFill>
              </a:rPr>
              <a:t>Say the cost out loud before anyone asks</a:t>
            </a:r>
            <a:endParaRPr lang="en-US" sz="1300" dirty="0"/>
          </a:p>
        </p:txBody>
      </p:sp>
      <p:sp>
        <p:nvSpPr>
          <p:cNvPr id="10" name="Text 8"/>
          <p:cNvSpPr txBox="1"/>
          <p:nvPr/>
        </p:nvSpPr>
        <p:spPr>
          <a:xfrm>
            <a:off x="5715000" y="5029200"/>
            <a:ext cx="5303520" cy="502920"/>
          </a:xfrm>
          <a:prstGeom prst="rect">
            <a:avLst/>
          </a:prstGeom>
          <a:noFill/>
          <a:ln/>
        </p:spPr>
        <p:txBody>
          <a:bodyPr wrap="square" lIns="0" tIns="0" rIns="0" bIns="0" rtlCol="0" anchor="ctr"/>
          <a:lstStyle/>
          <a:p>
            <a:pPr indent="0" marL="0">
              <a:buNone/>
            </a:pPr>
            <a:r>
              <a:rPr lang="en-US" sz="1100" i="1" dirty="0">
                <a:solidFill>
                  <a:srgbClr val="5A6478"/>
                </a:solidFill>
              </a:rPr>
              <a:t>Mechanism after Santiago Levy · precedents to verify: Brazil SIMPLES, Mexico RIF</a:t>
            </a:r>
            <a:endParaRPr lang="en-US" sz="1100" dirty="0"/>
          </a:p>
        </p:txBody>
      </p:sp>
      <p:sp>
        <p:nvSpPr>
          <p:cNvPr id="11" name="Text 9"/>
          <p:cNvSpPr/>
          <p:nvPr>
            <p:ph hasCustomPrompt="1"/>
          </p:nvPr>
        </p:nvSpPr>
        <p:spPr>
          <a:xfrm>
            <a:off x="822960" y="6263640"/>
            <a:ext cx="10515600" cy="274320"/>
          </a:xfrm>
          <a:prstGeom prst="rect">
            <a:avLst/>
          </a:prstGeom>
          <a:noFill/>
          <a:ln/>
        </p:spPr>
        <p:txBody>
          <a:bodyPr wrap="square" rtlCol="0"/>
          <a:lstStyle/>
          <a:p>
            <a:pPr indent="0" marL="0">
              <a:buNone/>
            </a:pPr>
            <a:r>
              <a:rPr lang="en-US" dirty="0"/>
              <a:t>Mechanism after Santiago Levy · precedents to verify Brazil SIMPLES and Mexico RIF · costing UNSURE</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hasCustomPrompt="1"/>
          </p:nvPr>
        </p:nvSpPr>
        <p:spPr>
          <a:xfrm>
            <a:off x="822960" y="502920"/>
            <a:ext cx="10515600" cy="274320"/>
          </a:xfrm>
          <a:prstGeom prst="rect">
            <a:avLst/>
          </a:prstGeom>
          <a:noFill/>
          <a:ln/>
        </p:spPr>
        <p:txBody>
          <a:bodyPr wrap="square" rtlCol="0"/>
          <a:lstStyle/>
          <a:p>
            <a:pPr indent="0" marL="0">
              <a:buNone/>
            </a:pPr>
            <a:r>
              <a:rPr lang="en-US" dirty="0"/>
              <a:t>POLICY RECOMMENDATIONS · SEQUENCING</a:t>
            </a:r>
            <a:endParaRPr lang="en-US" dirty="0"/>
          </a:p>
        </p:txBody>
      </p:sp>
      <p:sp>
        <p:nvSpPr>
          <p:cNvPr id="3" name="Text 1"/>
          <p:cNvSpPr/>
          <p:nvPr>
            <p:ph hasCustomPrompt="1"/>
          </p:nvPr>
        </p:nvSpPr>
        <p:spPr>
          <a:xfrm>
            <a:off x="822960" y="868680"/>
            <a:ext cx="7772400" cy="1371600"/>
          </a:xfrm>
          <a:prstGeom prst="rect">
            <a:avLst/>
          </a:prstGeom>
          <a:noFill/>
          <a:ln/>
        </p:spPr>
        <p:txBody>
          <a:bodyPr wrap="square" rtlCol="0"/>
          <a:lstStyle/>
          <a:p>
            <a:pPr indent="0" marL="0">
              <a:buNone/>
            </a:pPr>
            <a:r>
              <a:rPr lang="en-US" dirty="0"/>
              <a:t>Governments last four years. These do not</a:t>
            </a:r>
            <a:endParaRPr lang="en-US" dirty="0"/>
          </a:p>
        </p:txBody>
      </p:sp>
      <p:sp>
        <p:nvSpPr>
          <p:cNvPr id="4" name="Text 2"/>
          <p:cNvSpPr txBox="1"/>
          <p:nvPr/>
        </p:nvSpPr>
        <p:spPr>
          <a:xfrm>
            <a:off x="822960" y="2148840"/>
            <a:ext cx="10515600" cy="548640"/>
          </a:xfrm>
          <a:prstGeom prst="rect">
            <a:avLst/>
          </a:prstGeom>
          <a:noFill/>
          <a:ln/>
        </p:spPr>
        <p:txBody>
          <a:bodyPr wrap="square" lIns="0" tIns="0" rIns="0" bIns="0" rtlCol="0" anchor="ctr"/>
          <a:lstStyle/>
          <a:p>
            <a:pPr indent="0" marL="0">
              <a:buNone/>
            </a:pPr>
            <a:r>
              <a:rPr lang="en-US" sz="1400" dirty="0">
                <a:solidFill>
                  <a:srgbClr val="5A6478"/>
                </a:solidFill>
              </a:rPr>
              <a:t>So the order is chosen for political survival, not analytical elegance. Each one buys the political room for the next, which is why the cheap, visible one goes first.</a:t>
            </a:r>
            <a:endParaRPr lang="en-US" sz="1400" dirty="0"/>
          </a:p>
        </p:txBody>
      </p:sp>
      <p:sp>
        <p:nvSpPr>
          <p:cNvPr id="5" name="Shape 3"/>
          <p:cNvSpPr/>
          <p:nvPr/>
        </p:nvSpPr>
        <p:spPr>
          <a:xfrm>
            <a:off x="822960" y="3200400"/>
            <a:ext cx="2103120" cy="548640"/>
          </a:xfrm>
          <a:prstGeom prst="roundRect">
            <a:avLst>
              <a:gd name="adj" fmla="val 8333"/>
            </a:avLst>
          </a:prstGeom>
          <a:solidFill>
            <a:srgbClr val="1F6F6B"/>
          </a:solidFill>
          <a:ln/>
        </p:spPr>
      </p:sp>
      <p:sp>
        <p:nvSpPr>
          <p:cNvPr id="6" name="Text 4"/>
          <p:cNvSpPr txBox="1"/>
          <p:nvPr/>
        </p:nvSpPr>
        <p:spPr>
          <a:xfrm>
            <a:off x="987552" y="3273552"/>
            <a:ext cx="1773936" cy="411480"/>
          </a:xfrm>
          <a:prstGeom prst="rect">
            <a:avLst/>
          </a:prstGeom>
          <a:noFill/>
          <a:ln/>
        </p:spPr>
        <p:txBody>
          <a:bodyPr wrap="square" lIns="0" tIns="0" rIns="0" bIns="0" rtlCol="0" anchor="ctr"/>
          <a:lstStyle/>
          <a:p>
            <a:pPr indent="0" marL="0">
              <a:buNone/>
            </a:pPr>
            <a:r>
              <a:rPr lang="en-US" sz="1300" b="1" dirty="0">
                <a:solidFill>
                  <a:srgbClr val="FFFFFF"/>
                </a:solidFill>
              </a:rPr>
              <a:t>Take the wall down</a:t>
            </a:r>
            <a:endParaRPr lang="en-US" sz="1300" dirty="0"/>
          </a:p>
        </p:txBody>
      </p:sp>
      <p:sp>
        <p:nvSpPr>
          <p:cNvPr id="7" name="Text 5"/>
          <p:cNvSpPr txBox="1"/>
          <p:nvPr/>
        </p:nvSpPr>
        <p:spPr>
          <a:xfrm>
            <a:off x="822960" y="3767328"/>
            <a:ext cx="2743200" cy="256032"/>
          </a:xfrm>
          <a:prstGeom prst="rect">
            <a:avLst/>
          </a:prstGeom>
          <a:noFill/>
          <a:ln/>
        </p:spPr>
        <p:txBody>
          <a:bodyPr wrap="square" lIns="0" tIns="0" rIns="0" bIns="0" rtlCol="0" anchor="ctr"/>
          <a:lstStyle/>
          <a:p>
            <a:pPr indent="0" marL="0">
              <a:buNone/>
            </a:pPr>
            <a:r>
              <a:rPr lang="en-US" sz="1000" dirty="0">
                <a:solidFill>
                  <a:srgbClr val="5A6478"/>
                </a:solidFill>
              </a:rPr>
              <a:t>Years 0 to 2</a:t>
            </a:r>
            <a:endParaRPr lang="en-US" sz="1000" dirty="0"/>
          </a:p>
        </p:txBody>
      </p:sp>
      <p:sp>
        <p:nvSpPr>
          <p:cNvPr id="8" name="Shape 6"/>
          <p:cNvSpPr/>
          <p:nvPr/>
        </p:nvSpPr>
        <p:spPr>
          <a:xfrm>
            <a:off x="2926080" y="4069080"/>
            <a:ext cx="3154680" cy="548640"/>
          </a:xfrm>
          <a:prstGeom prst="roundRect">
            <a:avLst>
              <a:gd name="adj" fmla="val 8333"/>
            </a:avLst>
          </a:prstGeom>
          <a:solidFill>
            <a:srgbClr val="C25E3A"/>
          </a:solidFill>
          <a:ln/>
        </p:spPr>
      </p:sp>
      <p:sp>
        <p:nvSpPr>
          <p:cNvPr id="9" name="Text 7"/>
          <p:cNvSpPr txBox="1"/>
          <p:nvPr/>
        </p:nvSpPr>
        <p:spPr>
          <a:xfrm>
            <a:off x="3090672" y="4142232"/>
            <a:ext cx="2825496" cy="411480"/>
          </a:xfrm>
          <a:prstGeom prst="rect">
            <a:avLst/>
          </a:prstGeom>
          <a:noFill/>
          <a:ln/>
        </p:spPr>
        <p:txBody>
          <a:bodyPr wrap="square" lIns="0" tIns="0" rIns="0" bIns="0" rtlCol="0" anchor="ctr"/>
          <a:lstStyle/>
          <a:p>
            <a:pPr indent="0" marL="0">
              <a:buNone/>
            </a:pPr>
            <a:r>
              <a:rPr lang="en-US" sz="1300" b="1" dirty="0">
                <a:solidFill>
                  <a:srgbClr val="FFFFFF"/>
                </a:solidFill>
              </a:rPr>
              <a:t>Learn new industries</a:t>
            </a:r>
            <a:endParaRPr lang="en-US" sz="1300" dirty="0"/>
          </a:p>
        </p:txBody>
      </p:sp>
      <p:sp>
        <p:nvSpPr>
          <p:cNvPr id="10" name="Text 8"/>
          <p:cNvSpPr txBox="1"/>
          <p:nvPr/>
        </p:nvSpPr>
        <p:spPr>
          <a:xfrm>
            <a:off x="2926080" y="4636008"/>
            <a:ext cx="2743200" cy="256032"/>
          </a:xfrm>
          <a:prstGeom prst="rect">
            <a:avLst/>
          </a:prstGeom>
          <a:noFill/>
          <a:ln/>
        </p:spPr>
        <p:txBody>
          <a:bodyPr wrap="square" lIns="0" tIns="0" rIns="0" bIns="0" rtlCol="0" anchor="ctr"/>
          <a:lstStyle/>
          <a:p>
            <a:pPr indent="0" marL="0">
              <a:buNone/>
            </a:pPr>
            <a:r>
              <a:rPr lang="en-US" sz="1000" dirty="0">
                <a:solidFill>
                  <a:srgbClr val="5A6478"/>
                </a:solidFill>
              </a:rPr>
              <a:t>Years 2 to 5</a:t>
            </a:r>
            <a:endParaRPr lang="en-US" sz="1000" dirty="0"/>
          </a:p>
        </p:txBody>
      </p:sp>
      <p:sp>
        <p:nvSpPr>
          <p:cNvPr id="11" name="Shape 9"/>
          <p:cNvSpPr/>
          <p:nvPr/>
        </p:nvSpPr>
        <p:spPr>
          <a:xfrm>
            <a:off x="6080760" y="4937760"/>
            <a:ext cx="5257800" cy="548640"/>
          </a:xfrm>
          <a:prstGeom prst="roundRect">
            <a:avLst>
              <a:gd name="adj" fmla="val 8333"/>
            </a:avLst>
          </a:prstGeom>
          <a:solidFill>
            <a:srgbClr val="D9A441"/>
          </a:solidFill>
          <a:ln/>
        </p:spPr>
      </p:sp>
      <p:sp>
        <p:nvSpPr>
          <p:cNvPr id="12" name="Text 10"/>
          <p:cNvSpPr txBox="1"/>
          <p:nvPr/>
        </p:nvSpPr>
        <p:spPr>
          <a:xfrm>
            <a:off x="6245352" y="5010912"/>
            <a:ext cx="4928616" cy="411480"/>
          </a:xfrm>
          <a:prstGeom prst="rect">
            <a:avLst/>
          </a:prstGeom>
          <a:noFill/>
          <a:ln/>
        </p:spPr>
        <p:txBody>
          <a:bodyPr wrap="square" lIns="0" tIns="0" rIns="0" bIns="0" rtlCol="0" anchor="ctr"/>
          <a:lstStyle/>
          <a:p>
            <a:pPr indent="0" marL="0">
              <a:buNone/>
            </a:pPr>
            <a:r>
              <a:rPr lang="en-US" sz="1300" b="1" dirty="0">
                <a:solidFill>
                  <a:srgbClr val="FFFFFF"/>
                </a:solidFill>
              </a:rPr>
              <a:t>Reach the towns outside</a:t>
            </a:r>
            <a:endParaRPr lang="en-US" sz="1300" dirty="0"/>
          </a:p>
        </p:txBody>
      </p:sp>
      <p:sp>
        <p:nvSpPr>
          <p:cNvPr id="13" name="Text 11"/>
          <p:cNvSpPr txBox="1"/>
          <p:nvPr/>
        </p:nvSpPr>
        <p:spPr>
          <a:xfrm>
            <a:off x="6080760" y="5504688"/>
            <a:ext cx="2743200" cy="256032"/>
          </a:xfrm>
          <a:prstGeom prst="rect">
            <a:avLst/>
          </a:prstGeom>
          <a:noFill/>
          <a:ln/>
        </p:spPr>
        <p:txBody>
          <a:bodyPr wrap="square" lIns="0" tIns="0" rIns="0" bIns="0" rtlCol="0" anchor="ctr"/>
          <a:lstStyle/>
          <a:p>
            <a:pPr indent="0" marL="0">
              <a:buNone/>
            </a:pPr>
            <a:r>
              <a:rPr lang="en-US" sz="1000" dirty="0">
                <a:solidFill>
                  <a:srgbClr val="5A6478"/>
                </a:solidFill>
              </a:rPr>
              <a:t>Years 5 to 10</a:t>
            </a:r>
            <a:endParaRPr lang="en-US" sz="1000" dirty="0"/>
          </a:p>
        </p:txBody>
      </p:sp>
      <p:sp>
        <p:nvSpPr>
          <p:cNvPr id="14" name="Text 12"/>
          <p:cNvSpPr txBox="1"/>
          <p:nvPr/>
        </p:nvSpPr>
        <p:spPr>
          <a:xfrm>
            <a:off x="548640" y="5715000"/>
            <a:ext cx="822960" cy="274320"/>
          </a:xfrm>
          <a:prstGeom prst="rect">
            <a:avLst/>
          </a:prstGeom>
          <a:noFill/>
          <a:ln/>
        </p:spPr>
        <p:txBody>
          <a:bodyPr wrap="square" lIns="0" tIns="0" rIns="0" bIns="0" rtlCol="0" anchor="ctr"/>
          <a:lstStyle/>
          <a:p>
            <a:pPr algn="ctr" indent="0" marL="0">
              <a:buNone/>
            </a:pPr>
            <a:r>
              <a:rPr lang="en-US" sz="1000" dirty="0">
                <a:solidFill>
                  <a:srgbClr val="5A6478"/>
                </a:solidFill>
              </a:rPr>
              <a:t>Year 0</a:t>
            </a:r>
            <a:endParaRPr lang="en-US" sz="1000" dirty="0"/>
          </a:p>
        </p:txBody>
      </p:sp>
      <p:sp>
        <p:nvSpPr>
          <p:cNvPr id="15" name="Text 13"/>
          <p:cNvSpPr txBox="1"/>
          <p:nvPr/>
        </p:nvSpPr>
        <p:spPr>
          <a:xfrm>
            <a:off x="2651760" y="5715000"/>
            <a:ext cx="822960" cy="274320"/>
          </a:xfrm>
          <a:prstGeom prst="rect">
            <a:avLst/>
          </a:prstGeom>
          <a:noFill/>
          <a:ln/>
        </p:spPr>
        <p:txBody>
          <a:bodyPr wrap="square" lIns="0" tIns="0" rIns="0" bIns="0" rtlCol="0" anchor="ctr"/>
          <a:lstStyle/>
          <a:p>
            <a:pPr algn="ctr" indent="0" marL="0">
              <a:buNone/>
            </a:pPr>
            <a:r>
              <a:rPr lang="en-US" sz="1000" dirty="0">
                <a:solidFill>
                  <a:srgbClr val="5A6478"/>
                </a:solidFill>
              </a:rPr>
              <a:t>Year 2</a:t>
            </a:r>
            <a:endParaRPr lang="en-US" sz="1000" dirty="0"/>
          </a:p>
        </p:txBody>
      </p:sp>
      <p:sp>
        <p:nvSpPr>
          <p:cNvPr id="16" name="Text 14"/>
          <p:cNvSpPr txBox="1"/>
          <p:nvPr/>
        </p:nvSpPr>
        <p:spPr>
          <a:xfrm>
            <a:off x="5806440" y="5715000"/>
            <a:ext cx="822960" cy="274320"/>
          </a:xfrm>
          <a:prstGeom prst="rect">
            <a:avLst/>
          </a:prstGeom>
          <a:noFill/>
          <a:ln/>
        </p:spPr>
        <p:txBody>
          <a:bodyPr wrap="square" lIns="0" tIns="0" rIns="0" bIns="0" rtlCol="0" anchor="ctr"/>
          <a:lstStyle/>
          <a:p>
            <a:pPr algn="ctr" indent="0" marL="0">
              <a:buNone/>
            </a:pPr>
            <a:r>
              <a:rPr lang="en-US" sz="1000" dirty="0">
                <a:solidFill>
                  <a:srgbClr val="5A6478"/>
                </a:solidFill>
              </a:rPr>
              <a:t>Year 5</a:t>
            </a:r>
            <a:endParaRPr lang="en-US" sz="1000" dirty="0"/>
          </a:p>
        </p:txBody>
      </p:sp>
      <p:sp>
        <p:nvSpPr>
          <p:cNvPr id="17" name="Text 15"/>
          <p:cNvSpPr txBox="1"/>
          <p:nvPr/>
        </p:nvSpPr>
        <p:spPr>
          <a:xfrm>
            <a:off x="11064240" y="5715000"/>
            <a:ext cx="822960" cy="274320"/>
          </a:xfrm>
          <a:prstGeom prst="rect">
            <a:avLst/>
          </a:prstGeom>
          <a:noFill/>
          <a:ln/>
        </p:spPr>
        <p:txBody>
          <a:bodyPr wrap="square" lIns="0" tIns="0" rIns="0" bIns="0" rtlCol="0" anchor="ctr"/>
          <a:lstStyle/>
          <a:p>
            <a:pPr algn="ctr" indent="0" marL="0">
              <a:buNone/>
            </a:pPr>
            <a:r>
              <a:rPr lang="en-US" sz="1000" dirty="0">
                <a:solidFill>
                  <a:srgbClr val="5A6478"/>
                </a:solidFill>
              </a:rPr>
              <a:t>Year 10</a:t>
            </a:r>
            <a:endParaRPr lang="en-US" sz="1000" dirty="0"/>
          </a:p>
        </p:txBody>
      </p:sp>
      <p:sp>
        <p:nvSpPr>
          <p:cNvPr id="18" name="Shape 16"/>
          <p:cNvSpPr/>
          <p:nvPr/>
        </p:nvSpPr>
        <p:spPr>
          <a:xfrm>
            <a:off x="822960" y="5650992"/>
            <a:ext cx="10515600" cy="13716"/>
          </a:xfrm>
          <a:prstGeom prst="rect">
            <a:avLst/>
          </a:prstGeom>
          <a:solidFill>
            <a:srgbClr val="D8D3CC"/>
          </a:solidFill>
          <a:ln/>
        </p:spPr>
      </p:sp>
      <p:sp>
        <p:nvSpPr>
          <p:cNvPr id="19" name="Text 17"/>
          <p:cNvSpPr txBox="1"/>
          <p:nvPr/>
        </p:nvSpPr>
        <p:spPr>
          <a:xfrm>
            <a:off x="822960" y="5989320"/>
            <a:ext cx="7315200" cy="320040"/>
          </a:xfrm>
          <a:prstGeom prst="rect">
            <a:avLst/>
          </a:prstGeom>
          <a:noFill/>
          <a:ln/>
        </p:spPr>
        <p:txBody>
          <a:bodyPr wrap="square" lIns="0" tIns="0" rIns="0" bIns="0" rtlCol="0" anchor="ctr"/>
          <a:lstStyle/>
          <a:p>
            <a:pPr indent="0" marL="0">
              <a:buNone/>
            </a:pPr>
            <a:r>
              <a:rPr lang="en-US" sz="1100" i="1" dirty="0">
                <a:solidFill>
                  <a:srgbClr val="6E7B99"/>
                </a:solidFill>
              </a:rPr>
              <a:t>A plan that ignores the electoral calendar never happens.</a:t>
            </a:r>
            <a:endParaRPr lang="en-US" sz="1100" dirty="0"/>
          </a:p>
        </p:txBody>
      </p:sp>
      <p:sp>
        <p:nvSpPr>
          <p:cNvPr id="20" name="Text 18"/>
          <p:cNvSpPr/>
          <p:nvPr>
            <p:ph hasCustomPrompt="1"/>
          </p:nvPr>
        </p:nvSpPr>
        <p:spPr>
          <a:xfrm>
            <a:off x="822960" y="6263640"/>
            <a:ext cx="10515600" cy="274320"/>
          </a:xfrm>
          <a:prstGeom prst="rect">
            <a:avLst/>
          </a:prstGeom>
          <a:noFill/>
          <a:ln/>
        </p:spPr>
        <p:txBody>
          <a:bodyPr wrap="square" rtlCol="0"/>
          <a:lstStyle/>
          <a:p>
            <a:pPr indent="0" marL="0">
              <a:buNone/>
            </a:pPr>
            <a:r>
              <a:rPr lang="en-US" dirty="0"/>
              <a:t>Timeline illustrative · costings UNSURE, to be built from IDB project data and national budgets</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hasCustomPrompt="1"/>
          </p:nvPr>
        </p:nvSpPr>
        <p:spPr>
          <a:xfrm>
            <a:off x="822960" y="502920"/>
            <a:ext cx="10515600" cy="274320"/>
          </a:xfrm>
          <a:prstGeom prst="rect">
            <a:avLst/>
          </a:prstGeom>
          <a:noFill/>
          <a:ln/>
        </p:spPr>
        <p:txBody>
          <a:bodyPr wrap="square" rtlCol="0"/>
          <a:lstStyle/>
          <a:p>
            <a:pPr indent="0" marL="0">
              <a:buNone/>
            </a:pPr>
            <a:r>
              <a:rPr lang="en-US" dirty="0"/>
              <a:t>POLICY RECOMMENDATIONS · ACCOUNTABILITY</a:t>
            </a:r>
            <a:endParaRPr lang="en-US" dirty="0"/>
          </a:p>
        </p:txBody>
      </p:sp>
      <p:sp>
        <p:nvSpPr>
          <p:cNvPr id="3" name="Text 1"/>
          <p:cNvSpPr/>
          <p:nvPr>
            <p:ph hasCustomPrompt="1"/>
          </p:nvPr>
        </p:nvSpPr>
        <p:spPr>
          <a:xfrm>
            <a:off x="822960" y="868680"/>
            <a:ext cx="6492240" cy="1371600"/>
          </a:xfrm>
          <a:prstGeom prst="rect">
            <a:avLst/>
          </a:prstGeom>
          <a:noFill/>
          <a:ln/>
        </p:spPr>
        <p:txBody>
          <a:bodyPr wrap="square" rtlCol="0"/>
          <a:lstStyle/>
          <a:p>
            <a:pPr indent="0" marL="0">
              <a:buNone/>
            </a:pPr>
            <a:r>
              <a:rPr lang="en-US" dirty="0"/>
              <a:t>Three counts, published every year</a:t>
            </a:r>
            <a:endParaRPr lang="en-US" dirty="0"/>
          </a:p>
        </p:txBody>
      </p:sp>
      <p:sp>
        <p:nvSpPr>
          <p:cNvPr id="4" name="Text 2"/>
          <p:cNvSpPr/>
          <p:nvPr>
            <p:ph hasCustomPrompt="1"/>
          </p:nvPr>
        </p:nvSpPr>
        <p:spPr>
          <a:xfrm>
            <a:off x="822960" y="2331720"/>
            <a:ext cx="3931920" cy="3108960"/>
          </a:xfrm>
          <a:prstGeom prst="rect">
            <a:avLst/>
          </a:prstGeom>
          <a:noFill/>
          <a:ln/>
        </p:spPr>
        <p:txBody>
          <a:bodyPr wrap="square" rtlCol="0"/>
          <a:lstStyle/>
          <a:p>
            <a:pPr indent="0" marL="0">
              <a:buNone/>
            </a:pPr>
            <a:r>
              <a:rPr lang="en-US" dirty="0"/>
              <a:t>If the IDB funds this, these are the numbers that go on the record. We are not promising a growth number: no comparable subregion has run this package before.</a:t>
            </a:r>
            <a:endParaRPr lang="en-US" dirty="0"/>
          </a:p>
        </p:txBody>
      </p:sp>
      <p:sp>
        <p:nvSpPr>
          <p:cNvPr id="5" name="Shape 3"/>
          <p:cNvSpPr/>
          <p:nvPr/>
        </p:nvSpPr>
        <p:spPr>
          <a:xfrm>
            <a:off x="5394960" y="1828800"/>
            <a:ext cx="5943600" cy="1097280"/>
          </a:xfrm>
          <a:prstGeom prst="roundRect">
            <a:avLst>
              <a:gd name="adj" fmla="val 5000"/>
            </a:avLst>
          </a:prstGeom>
          <a:solidFill>
            <a:srgbClr val="F4F2EE"/>
          </a:solidFill>
          <a:ln w="12700">
            <a:solidFill>
              <a:srgbClr val="D8D3CC"/>
            </a:solidFill>
            <a:prstDash val="solid"/>
          </a:ln>
        </p:spPr>
      </p:sp>
      <p:sp>
        <p:nvSpPr>
          <p:cNvPr id="6" name="Shape 4"/>
          <p:cNvSpPr/>
          <p:nvPr/>
        </p:nvSpPr>
        <p:spPr>
          <a:xfrm>
            <a:off x="5669280" y="2148840"/>
            <a:ext cx="457200" cy="457200"/>
          </a:xfrm>
          <a:prstGeom prst="ellipse">
            <a:avLst/>
          </a:prstGeom>
          <a:solidFill>
            <a:srgbClr val="C25E3A"/>
          </a:solidFill>
          <a:ln/>
        </p:spPr>
      </p:sp>
      <p:sp>
        <p:nvSpPr>
          <p:cNvPr id="7" name="Text 5"/>
          <p:cNvSpPr txBox="1"/>
          <p:nvPr/>
        </p:nvSpPr>
        <p:spPr>
          <a:xfrm>
            <a:off x="5669280" y="2212848"/>
            <a:ext cx="457200" cy="32918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8" name="Text 6"/>
          <p:cNvSpPr txBox="1"/>
          <p:nvPr/>
        </p:nvSpPr>
        <p:spPr>
          <a:xfrm>
            <a:off x="6355080" y="2066544"/>
            <a:ext cx="4754880" cy="365760"/>
          </a:xfrm>
          <a:prstGeom prst="rect">
            <a:avLst/>
          </a:prstGeom>
          <a:noFill/>
          <a:ln/>
        </p:spPr>
        <p:txBody>
          <a:bodyPr wrap="square" lIns="0" tIns="0" rIns="0" bIns="0" rtlCol="0" anchor="ctr"/>
          <a:lstStyle/>
          <a:p>
            <a:pPr indent="0" marL="0">
              <a:buNone/>
            </a:pPr>
            <a:r>
              <a:rPr lang="en-US" sz="1400" b="1" dirty="0">
                <a:solidFill>
                  <a:srgbClr val="11182B"/>
                </a:solidFill>
              </a:rPr>
              <a:t>How many patents we file</a:t>
            </a:r>
            <a:endParaRPr lang="en-US" sz="1400" dirty="0"/>
          </a:p>
        </p:txBody>
      </p:sp>
      <p:sp>
        <p:nvSpPr>
          <p:cNvPr id="9" name="Text 7"/>
          <p:cNvSpPr txBox="1"/>
          <p:nvPr/>
        </p:nvSpPr>
        <p:spPr>
          <a:xfrm>
            <a:off x="6355080" y="2432304"/>
            <a:ext cx="4754880" cy="365760"/>
          </a:xfrm>
          <a:prstGeom prst="rect">
            <a:avLst/>
          </a:prstGeom>
          <a:noFill/>
          <a:ln/>
        </p:spPr>
        <p:txBody>
          <a:bodyPr wrap="square" lIns="0" tIns="0" rIns="0" bIns="0" rtlCol="0" anchor="ctr"/>
          <a:lstStyle/>
          <a:p>
            <a:pPr indent="0" marL="0">
              <a:buNone/>
            </a:pPr>
            <a:r>
              <a:rPr lang="en-US" sz="1150" dirty="0">
                <a:solidFill>
                  <a:srgbClr val="5A6478"/>
                </a:solidFill>
              </a:rPr>
              <a:t>Benchmarked against Chile and Brazil, not against Korea</a:t>
            </a:r>
            <a:endParaRPr lang="en-US" sz="1150" dirty="0"/>
          </a:p>
        </p:txBody>
      </p:sp>
      <p:sp>
        <p:nvSpPr>
          <p:cNvPr id="10" name="Shape 8"/>
          <p:cNvSpPr/>
          <p:nvPr/>
        </p:nvSpPr>
        <p:spPr>
          <a:xfrm>
            <a:off x="5394960" y="3154680"/>
            <a:ext cx="5943600" cy="1097280"/>
          </a:xfrm>
          <a:prstGeom prst="roundRect">
            <a:avLst>
              <a:gd name="adj" fmla="val 5000"/>
            </a:avLst>
          </a:prstGeom>
          <a:solidFill>
            <a:srgbClr val="F4F2EE"/>
          </a:solidFill>
          <a:ln w="12700">
            <a:solidFill>
              <a:srgbClr val="D8D3CC"/>
            </a:solidFill>
            <a:prstDash val="solid"/>
          </a:ln>
        </p:spPr>
      </p:sp>
      <p:sp>
        <p:nvSpPr>
          <p:cNvPr id="11" name="Shape 9"/>
          <p:cNvSpPr/>
          <p:nvPr/>
        </p:nvSpPr>
        <p:spPr>
          <a:xfrm>
            <a:off x="5669280" y="3474720"/>
            <a:ext cx="457200" cy="457200"/>
          </a:xfrm>
          <a:prstGeom prst="ellipse">
            <a:avLst/>
          </a:prstGeom>
          <a:solidFill>
            <a:srgbClr val="1F6F6B"/>
          </a:solidFill>
          <a:ln/>
        </p:spPr>
      </p:sp>
      <p:sp>
        <p:nvSpPr>
          <p:cNvPr id="12" name="Text 10"/>
          <p:cNvSpPr txBox="1"/>
          <p:nvPr/>
        </p:nvSpPr>
        <p:spPr>
          <a:xfrm>
            <a:off x="5669280" y="3538728"/>
            <a:ext cx="457200" cy="32918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3" name="Text 11"/>
          <p:cNvSpPr txBox="1"/>
          <p:nvPr/>
        </p:nvSpPr>
        <p:spPr>
          <a:xfrm>
            <a:off x="6355080" y="3392424"/>
            <a:ext cx="4754880" cy="365760"/>
          </a:xfrm>
          <a:prstGeom prst="rect">
            <a:avLst/>
          </a:prstGeom>
          <a:noFill/>
          <a:ln/>
        </p:spPr>
        <p:txBody>
          <a:bodyPr wrap="square" lIns="0" tIns="0" rIns="0" bIns="0" rtlCol="0" anchor="ctr"/>
          <a:lstStyle/>
          <a:p>
            <a:pPr indent="0" marL="0">
              <a:buNone/>
            </a:pPr>
            <a:r>
              <a:rPr lang="en-US" sz="1400" b="1" dirty="0">
                <a:solidFill>
                  <a:srgbClr val="11182B"/>
                </a:solidFill>
              </a:rPr>
              <a:t>How far the poorest region trails</a:t>
            </a:r>
            <a:endParaRPr lang="en-US" sz="1400" dirty="0"/>
          </a:p>
        </p:txBody>
      </p:sp>
      <p:sp>
        <p:nvSpPr>
          <p:cNvPr id="14" name="Text 12"/>
          <p:cNvSpPr txBox="1"/>
          <p:nvPr/>
        </p:nvSpPr>
        <p:spPr>
          <a:xfrm>
            <a:off x="6355080" y="3758184"/>
            <a:ext cx="4754880" cy="365760"/>
          </a:xfrm>
          <a:prstGeom prst="rect">
            <a:avLst/>
          </a:prstGeom>
          <a:noFill/>
          <a:ln/>
        </p:spPr>
        <p:txBody>
          <a:bodyPr wrap="square" lIns="0" tIns="0" rIns="0" bIns="0" rtlCol="0" anchor="ctr"/>
          <a:lstStyle/>
          <a:p>
            <a:pPr indent="0" marL="0">
              <a:buNone/>
            </a:pPr>
            <a:r>
              <a:rPr lang="en-US" sz="1150" dirty="0">
                <a:solidFill>
                  <a:srgbClr val="5A6478"/>
                </a:solidFill>
              </a:rPr>
              <a:t>Income per person, richest region against poorest</a:t>
            </a:r>
            <a:endParaRPr lang="en-US" sz="1150" dirty="0"/>
          </a:p>
        </p:txBody>
      </p:sp>
      <p:sp>
        <p:nvSpPr>
          <p:cNvPr id="15" name="Shape 13"/>
          <p:cNvSpPr/>
          <p:nvPr/>
        </p:nvSpPr>
        <p:spPr>
          <a:xfrm>
            <a:off x="5394960" y="4480560"/>
            <a:ext cx="5943600" cy="1097280"/>
          </a:xfrm>
          <a:prstGeom prst="roundRect">
            <a:avLst>
              <a:gd name="adj" fmla="val 5000"/>
            </a:avLst>
          </a:prstGeom>
          <a:solidFill>
            <a:srgbClr val="F4F2EE"/>
          </a:solidFill>
          <a:ln w="12700">
            <a:solidFill>
              <a:srgbClr val="D8D3CC"/>
            </a:solidFill>
            <a:prstDash val="solid"/>
          </a:ln>
        </p:spPr>
      </p:sp>
      <p:sp>
        <p:nvSpPr>
          <p:cNvPr id="16" name="Shape 14"/>
          <p:cNvSpPr/>
          <p:nvPr/>
        </p:nvSpPr>
        <p:spPr>
          <a:xfrm>
            <a:off x="5669280" y="4800600"/>
            <a:ext cx="457200" cy="457200"/>
          </a:xfrm>
          <a:prstGeom prst="ellipse">
            <a:avLst/>
          </a:prstGeom>
          <a:solidFill>
            <a:srgbClr val="D9A441"/>
          </a:solidFill>
          <a:ln/>
        </p:spPr>
      </p:sp>
      <p:sp>
        <p:nvSpPr>
          <p:cNvPr id="17" name="Text 15"/>
          <p:cNvSpPr txBox="1"/>
          <p:nvPr/>
        </p:nvSpPr>
        <p:spPr>
          <a:xfrm>
            <a:off x="5669280" y="4864608"/>
            <a:ext cx="457200" cy="32918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8" name="Text 16"/>
          <p:cNvSpPr txBox="1"/>
          <p:nvPr/>
        </p:nvSpPr>
        <p:spPr>
          <a:xfrm>
            <a:off x="6355080" y="4718304"/>
            <a:ext cx="4754880" cy="365760"/>
          </a:xfrm>
          <a:prstGeom prst="rect">
            <a:avLst/>
          </a:prstGeom>
          <a:noFill/>
          <a:ln/>
        </p:spPr>
        <p:txBody>
          <a:bodyPr wrap="square" lIns="0" tIns="0" rIns="0" bIns="0" rtlCol="0" anchor="ctr"/>
          <a:lstStyle/>
          <a:p>
            <a:pPr indent="0" marL="0">
              <a:buNone/>
            </a:pPr>
            <a:r>
              <a:rPr lang="en-US" sz="1400" b="1" dirty="0">
                <a:solidFill>
                  <a:srgbClr val="11182B"/>
                </a:solidFill>
              </a:rPr>
              <a:t>How many workers are on the books</a:t>
            </a:r>
            <a:endParaRPr lang="en-US" sz="1400" dirty="0"/>
          </a:p>
        </p:txBody>
      </p:sp>
      <p:sp>
        <p:nvSpPr>
          <p:cNvPr id="19" name="Text 17"/>
          <p:cNvSpPr txBox="1"/>
          <p:nvPr/>
        </p:nvSpPr>
        <p:spPr>
          <a:xfrm>
            <a:off x="6355080" y="5084064"/>
            <a:ext cx="4754880" cy="365760"/>
          </a:xfrm>
          <a:prstGeom prst="rect">
            <a:avLst/>
          </a:prstGeom>
          <a:noFill/>
          <a:ln/>
        </p:spPr>
        <p:txBody>
          <a:bodyPr wrap="square" lIns="0" tIns="0" rIns="0" bIns="0" rtlCol="0" anchor="ctr"/>
          <a:lstStyle/>
          <a:p>
            <a:pPr indent="0" marL="0">
              <a:buNone/>
            </a:pPr>
            <a:r>
              <a:rPr lang="en-US" sz="1150" dirty="0">
                <a:solidFill>
                  <a:srgbClr val="5A6478"/>
                </a:solidFill>
              </a:rPr>
              <a:t>And how many firms pass ten employees</a:t>
            </a:r>
            <a:endParaRPr lang="en-US" sz="1150" dirty="0"/>
          </a:p>
        </p:txBody>
      </p:sp>
      <p:sp>
        <p:nvSpPr>
          <p:cNvPr id="20" name="Text 18"/>
          <p:cNvSpPr txBox="1"/>
          <p:nvPr/>
        </p:nvSpPr>
        <p:spPr>
          <a:xfrm>
            <a:off x="822960" y="5120640"/>
            <a:ext cx="4206240" cy="320040"/>
          </a:xfrm>
          <a:prstGeom prst="rect">
            <a:avLst/>
          </a:prstGeom>
          <a:noFill/>
          <a:ln/>
        </p:spPr>
        <p:txBody>
          <a:bodyPr wrap="square" lIns="0" tIns="0" rIns="0" bIns="0" rtlCol="0" anchor="ctr"/>
          <a:lstStyle/>
          <a:p>
            <a:pPr indent="0" marL="0">
              <a:buNone/>
            </a:pPr>
            <a:r>
              <a:rPr lang="en-US" sz="1100" i="1" dirty="0">
                <a:solidFill>
                  <a:srgbClr val="6E7B99"/>
                </a:solidFill>
              </a:rPr>
              <a:t>A number we cannot defend is worth less than an honest blank.</a:t>
            </a:r>
            <a:endParaRPr lang="en-US" sz="1100" dirty="0"/>
          </a:p>
        </p:txBody>
      </p:sp>
      <p:sp>
        <p:nvSpPr>
          <p:cNvPr id="21" name="Text 19"/>
          <p:cNvSpPr/>
          <p:nvPr>
            <p:ph hasCustomPrompt="1"/>
          </p:nvPr>
        </p:nvSpPr>
        <p:spPr>
          <a:xfrm>
            <a:off x="822960" y="6263640"/>
            <a:ext cx="10515600" cy="274320"/>
          </a:xfrm>
          <a:prstGeom prst="rect">
            <a:avLst/>
          </a:prstGeom>
          <a:noFill/>
          <a:ln/>
        </p:spPr>
        <p:txBody>
          <a:bodyPr wrap="square" rtlCol="0"/>
          <a:lstStyle/>
          <a:p>
            <a:pPr indent="0" marL="0">
              <a:buNone/>
            </a:pPr>
            <a:r>
              <a:rPr lang="en-US" dirty="0"/>
              <a:t>Baselines to be set from World Bank, ILOSTAT and national accounts · target levels UNSURE</a:t>
            </a: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hasCustomPrompt="1"/>
          </p:nvPr>
        </p:nvSpPr>
        <p:spPr>
          <a:xfrm>
            <a:off x="822960" y="502920"/>
            <a:ext cx="10515600" cy="274320"/>
          </a:xfrm>
          <a:prstGeom prst="rect">
            <a:avLst/>
          </a:prstGeom>
          <a:noFill/>
          <a:ln/>
        </p:spPr>
        <p:txBody>
          <a:bodyPr wrap="square" rtlCol="0"/>
          <a:lstStyle/>
          <a:p>
            <a:pPr indent="0" marL="0">
              <a:buNone/>
            </a:pPr>
            <a:r>
              <a:rPr lang="en-US" dirty="0"/>
              <a:t>CONCLUSION · WHAT WE ARE ASKING THE BANK TO DO</a:t>
            </a:r>
            <a:endParaRPr lang="en-US" dirty="0"/>
          </a:p>
        </p:txBody>
      </p:sp>
      <p:sp>
        <p:nvSpPr>
          <p:cNvPr id="3" name="Text 1"/>
          <p:cNvSpPr/>
          <p:nvPr>
            <p:ph hasCustomPrompt="1"/>
          </p:nvPr>
        </p:nvSpPr>
        <p:spPr>
          <a:xfrm>
            <a:off x="822960" y="868680"/>
            <a:ext cx="7772400" cy="1371600"/>
          </a:xfrm>
          <a:prstGeom prst="rect">
            <a:avLst/>
          </a:prstGeom>
          <a:noFill/>
          <a:ln/>
        </p:spPr>
        <p:txBody>
          <a:bodyPr wrap="square" rtlCol="0"/>
          <a:lstStyle/>
          <a:p>
            <a:pPr indent="0" marL="0">
              <a:buNone/>
            </a:pPr>
            <a:r>
              <a:rPr lang="en-US" dirty="0"/>
              <a:t>Priority actions for the client</a:t>
            </a:r>
            <a:endParaRPr lang="en-US" dirty="0"/>
          </a:p>
        </p:txBody>
      </p:sp>
      <p:sp>
        <p:nvSpPr>
          <p:cNvPr id="4" name="Shape 2"/>
          <p:cNvSpPr/>
          <p:nvPr/>
        </p:nvSpPr>
        <p:spPr>
          <a:xfrm>
            <a:off x="822960" y="2194560"/>
            <a:ext cx="5120640" cy="1645920"/>
          </a:xfrm>
          <a:prstGeom prst="roundRect">
            <a:avLst>
              <a:gd name="adj" fmla="val 3333"/>
            </a:avLst>
          </a:prstGeom>
          <a:solidFill>
            <a:srgbClr val="FFFFFF"/>
          </a:solidFill>
          <a:ln w="12700">
            <a:solidFill>
              <a:srgbClr val="D8D3CC"/>
            </a:solidFill>
            <a:prstDash val="solid"/>
          </a:ln>
          <a:effectLst>
            <a:outerShdw sx="100000" sy="100000" kx="0" ky="0" algn="bl" rotWithShape="0" blurRad="88900" dist="25400" dir="5400000">
              <a:srgbClr val="000000">
                <a:alpha val="6000"/>
              </a:srgbClr>
            </a:outerShdw>
          </a:effectLst>
        </p:spPr>
      </p:sp>
      <p:sp>
        <p:nvSpPr>
          <p:cNvPr id="5" name="Text 3"/>
          <p:cNvSpPr txBox="1"/>
          <p:nvPr/>
        </p:nvSpPr>
        <p:spPr>
          <a:xfrm>
            <a:off x="1097280" y="2395728"/>
            <a:ext cx="731520" cy="384048"/>
          </a:xfrm>
          <a:prstGeom prst="rect">
            <a:avLst/>
          </a:prstGeom>
          <a:noFill/>
          <a:ln/>
        </p:spPr>
        <p:txBody>
          <a:bodyPr wrap="square" lIns="0" tIns="0" rIns="0" bIns="0" rtlCol="0" anchor="ctr"/>
          <a:lstStyle/>
          <a:p>
            <a:pPr indent="0" marL="0">
              <a:buNone/>
            </a:pPr>
            <a:r>
              <a:rPr lang="en-US" sz="1800" b="1" dirty="0">
                <a:solidFill>
                  <a:srgbClr val="C25E3A"/>
                </a:solidFill>
                <a:latin typeface="Cambria" pitchFamily="34" charset="0"/>
                <a:ea typeface="Cambria" pitchFamily="34" charset="-122"/>
                <a:cs typeface="Cambria" pitchFamily="34" charset="-120"/>
              </a:rPr>
              <a:t>01</a:t>
            </a:r>
            <a:endParaRPr lang="en-US" sz="1800" dirty="0"/>
          </a:p>
        </p:txBody>
      </p:sp>
      <p:sp>
        <p:nvSpPr>
          <p:cNvPr id="6" name="Text 4"/>
          <p:cNvSpPr txBox="1"/>
          <p:nvPr/>
        </p:nvSpPr>
        <p:spPr>
          <a:xfrm>
            <a:off x="1097280" y="2798064"/>
            <a:ext cx="4572000" cy="365760"/>
          </a:xfrm>
          <a:prstGeom prst="rect">
            <a:avLst/>
          </a:prstGeom>
          <a:noFill/>
          <a:ln/>
        </p:spPr>
        <p:txBody>
          <a:bodyPr wrap="square" lIns="0" tIns="0" rIns="0" bIns="0" rtlCol="0" anchor="ctr"/>
          <a:lstStyle/>
          <a:p>
            <a:pPr indent="0" marL="0">
              <a:buNone/>
            </a:pPr>
            <a:r>
              <a:rPr lang="en-US" sz="1500" b="1" dirty="0">
                <a:solidFill>
                  <a:srgbClr val="11182B"/>
                </a:solidFill>
              </a:rPr>
              <a:t>Fund one capability agency</a:t>
            </a:r>
            <a:endParaRPr lang="en-US" sz="1500" dirty="0"/>
          </a:p>
        </p:txBody>
      </p:sp>
      <p:sp>
        <p:nvSpPr>
          <p:cNvPr id="7" name="Text 5"/>
          <p:cNvSpPr txBox="1"/>
          <p:nvPr/>
        </p:nvSpPr>
        <p:spPr>
          <a:xfrm>
            <a:off x="1097280" y="3163824"/>
            <a:ext cx="4572000" cy="548640"/>
          </a:xfrm>
          <a:prstGeom prst="rect">
            <a:avLst/>
          </a:prstGeom>
          <a:noFill/>
          <a:ln/>
        </p:spPr>
        <p:txBody>
          <a:bodyPr wrap="square" lIns="0" tIns="0" rIns="0" bIns="0" rtlCol="0" anchor="ctr"/>
          <a:lstStyle/>
          <a:p>
            <a:pPr indent="0" marL="0">
              <a:buNone/>
            </a:pPr>
            <a:r>
              <a:rPr lang="en-US" sz="1200" dirty="0">
                <a:solidFill>
                  <a:srgbClr val="5A6478"/>
                </a:solidFill>
              </a:rPr>
              <a:t>One country, this financial year. Not a regional facility, not a study.</a:t>
            </a:r>
            <a:endParaRPr lang="en-US" sz="1200" dirty="0"/>
          </a:p>
        </p:txBody>
      </p:sp>
      <p:sp>
        <p:nvSpPr>
          <p:cNvPr id="8" name="Shape 6"/>
          <p:cNvSpPr/>
          <p:nvPr/>
        </p:nvSpPr>
        <p:spPr>
          <a:xfrm>
            <a:off x="6263640" y="2194560"/>
            <a:ext cx="5120640" cy="1645920"/>
          </a:xfrm>
          <a:prstGeom prst="roundRect">
            <a:avLst>
              <a:gd name="adj" fmla="val 3333"/>
            </a:avLst>
          </a:prstGeom>
          <a:solidFill>
            <a:srgbClr val="FFFFFF"/>
          </a:solidFill>
          <a:ln w="12700">
            <a:solidFill>
              <a:srgbClr val="D8D3CC"/>
            </a:solidFill>
            <a:prstDash val="solid"/>
          </a:ln>
          <a:effectLst>
            <a:outerShdw sx="100000" sy="100000" kx="0" ky="0" algn="bl" rotWithShape="0" blurRad="88900" dist="25400" dir="5400000">
              <a:srgbClr val="000000">
                <a:alpha val="6000"/>
              </a:srgbClr>
            </a:outerShdw>
          </a:effectLst>
        </p:spPr>
      </p:sp>
      <p:sp>
        <p:nvSpPr>
          <p:cNvPr id="9" name="Text 7"/>
          <p:cNvSpPr txBox="1"/>
          <p:nvPr/>
        </p:nvSpPr>
        <p:spPr>
          <a:xfrm>
            <a:off x="6537960" y="2395728"/>
            <a:ext cx="731520" cy="384048"/>
          </a:xfrm>
          <a:prstGeom prst="rect">
            <a:avLst/>
          </a:prstGeom>
          <a:noFill/>
          <a:ln/>
        </p:spPr>
        <p:txBody>
          <a:bodyPr wrap="square" lIns="0" tIns="0" rIns="0" bIns="0" rtlCol="0" anchor="ctr"/>
          <a:lstStyle/>
          <a:p>
            <a:pPr indent="0" marL="0">
              <a:buNone/>
            </a:pPr>
            <a:r>
              <a:rPr lang="en-US" sz="1800" b="1" dirty="0">
                <a:solidFill>
                  <a:srgbClr val="1F6F6B"/>
                </a:solidFill>
                <a:latin typeface="Cambria" pitchFamily="34" charset="0"/>
                <a:ea typeface="Cambria" pitchFamily="34" charset="-122"/>
                <a:cs typeface="Cambria" pitchFamily="34" charset="-120"/>
              </a:rPr>
              <a:t>02</a:t>
            </a:r>
            <a:endParaRPr lang="en-US" sz="1800" dirty="0"/>
          </a:p>
        </p:txBody>
      </p:sp>
      <p:sp>
        <p:nvSpPr>
          <p:cNvPr id="10" name="Text 8"/>
          <p:cNvSpPr txBox="1"/>
          <p:nvPr/>
        </p:nvSpPr>
        <p:spPr>
          <a:xfrm>
            <a:off x="6537960" y="2798064"/>
            <a:ext cx="4572000" cy="365760"/>
          </a:xfrm>
          <a:prstGeom prst="rect">
            <a:avLst/>
          </a:prstGeom>
          <a:noFill/>
          <a:ln/>
        </p:spPr>
        <p:txBody>
          <a:bodyPr wrap="square" lIns="0" tIns="0" rIns="0" bIns="0" rtlCol="0" anchor="ctr"/>
          <a:lstStyle/>
          <a:p>
            <a:pPr indent="0" marL="0">
              <a:buNone/>
            </a:pPr>
            <a:r>
              <a:rPr lang="en-US" sz="1500" b="1" dirty="0">
                <a:solidFill>
                  <a:srgbClr val="11182B"/>
                </a:solidFill>
              </a:rPr>
              <a:t>Commission the costings</a:t>
            </a:r>
            <a:endParaRPr lang="en-US" sz="1500" dirty="0"/>
          </a:p>
        </p:txBody>
      </p:sp>
      <p:sp>
        <p:nvSpPr>
          <p:cNvPr id="11" name="Text 9"/>
          <p:cNvSpPr txBox="1"/>
          <p:nvPr/>
        </p:nvSpPr>
        <p:spPr>
          <a:xfrm>
            <a:off x="6537960" y="3163824"/>
            <a:ext cx="4572000" cy="548640"/>
          </a:xfrm>
          <a:prstGeom prst="rect">
            <a:avLst/>
          </a:prstGeom>
          <a:noFill/>
          <a:ln/>
        </p:spPr>
        <p:txBody>
          <a:bodyPr wrap="square" lIns="0" tIns="0" rIns="0" bIns="0" rtlCol="0" anchor="ctr"/>
          <a:lstStyle/>
          <a:p>
            <a:pPr indent="0" marL="0">
              <a:buNone/>
            </a:pPr>
            <a:r>
              <a:rPr lang="en-US" sz="1200" dirty="0">
                <a:solidFill>
                  <a:srgbClr val="5A6478"/>
                </a:solidFill>
              </a:rPr>
              <a:t>Three programmes, built from IDB project data and national budgets. None are costed yet and we have said so throughout.</a:t>
            </a:r>
            <a:endParaRPr lang="en-US" sz="1200" dirty="0"/>
          </a:p>
        </p:txBody>
      </p:sp>
      <p:sp>
        <p:nvSpPr>
          <p:cNvPr id="12" name="Shape 10"/>
          <p:cNvSpPr/>
          <p:nvPr/>
        </p:nvSpPr>
        <p:spPr>
          <a:xfrm>
            <a:off x="822960" y="4069080"/>
            <a:ext cx="5120640" cy="1645920"/>
          </a:xfrm>
          <a:prstGeom prst="roundRect">
            <a:avLst>
              <a:gd name="adj" fmla="val 3333"/>
            </a:avLst>
          </a:prstGeom>
          <a:solidFill>
            <a:srgbClr val="FFFFFF"/>
          </a:solidFill>
          <a:ln w="12700">
            <a:solidFill>
              <a:srgbClr val="D8D3CC"/>
            </a:solidFill>
            <a:prstDash val="solid"/>
          </a:ln>
          <a:effectLst>
            <a:outerShdw sx="100000" sy="100000" kx="0" ky="0" algn="bl" rotWithShape="0" blurRad="88900" dist="25400" dir="5400000">
              <a:srgbClr val="000000">
                <a:alpha val="6000"/>
              </a:srgbClr>
            </a:outerShdw>
          </a:effectLst>
        </p:spPr>
      </p:sp>
      <p:sp>
        <p:nvSpPr>
          <p:cNvPr id="13" name="Text 11"/>
          <p:cNvSpPr txBox="1"/>
          <p:nvPr/>
        </p:nvSpPr>
        <p:spPr>
          <a:xfrm>
            <a:off x="1097280" y="4270248"/>
            <a:ext cx="731520" cy="384048"/>
          </a:xfrm>
          <a:prstGeom prst="rect">
            <a:avLst/>
          </a:prstGeom>
          <a:noFill/>
          <a:ln/>
        </p:spPr>
        <p:txBody>
          <a:bodyPr wrap="square" lIns="0" tIns="0" rIns="0" bIns="0" rtlCol="0" anchor="ctr"/>
          <a:lstStyle/>
          <a:p>
            <a:pPr indent="0" marL="0">
              <a:buNone/>
            </a:pPr>
            <a:r>
              <a:rPr lang="en-US" sz="1800" b="1" dirty="0">
                <a:solidFill>
                  <a:srgbClr val="D9A441"/>
                </a:solidFill>
                <a:latin typeface="Cambria" pitchFamily="34" charset="0"/>
                <a:ea typeface="Cambria" pitchFamily="34" charset="-122"/>
                <a:cs typeface="Cambria" pitchFamily="34" charset="-120"/>
              </a:rPr>
              <a:t>03</a:t>
            </a:r>
            <a:endParaRPr lang="en-US" sz="1800" dirty="0"/>
          </a:p>
        </p:txBody>
      </p:sp>
      <p:sp>
        <p:nvSpPr>
          <p:cNvPr id="14" name="Text 12"/>
          <p:cNvSpPr txBox="1"/>
          <p:nvPr/>
        </p:nvSpPr>
        <p:spPr>
          <a:xfrm>
            <a:off x="1097280" y="4672584"/>
            <a:ext cx="4572000" cy="365760"/>
          </a:xfrm>
          <a:prstGeom prst="rect">
            <a:avLst/>
          </a:prstGeom>
          <a:noFill/>
          <a:ln/>
        </p:spPr>
        <p:txBody>
          <a:bodyPr wrap="square" lIns="0" tIns="0" rIns="0" bIns="0" rtlCol="0" anchor="ctr"/>
          <a:lstStyle/>
          <a:p>
            <a:pPr indent="0" marL="0">
              <a:buNone/>
            </a:pPr>
            <a:r>
              <a:rPr lang="en-US" sz="1500" b="1" dirty="0">
                <a:solidFill>
                  <a:srgbClr val="11182B"/>
                </a:solidFill>
              </a:rPr>
              <a:t>Set the three baselines</a:t>
            </a:r>
            <a:endParaRPr lang="en-US" sz="1500" dirty="0"/>
          </a:p>
        </p:txBody>
      </p:sp>
      <p:sp>
        <p:nvSpPr>
          <p:cNvPr id="15" name="Text 13"/>
          <p:cNvSpPr txBox="1"/>
          <p:nvPr/>
        </p:nvSpPr>
        <p:spPr>
          <a:xfrm>
            <a:off x="1097280" y="5038344"/>
            <a:ext cx="4572000" cy="548640"/>
          </a:xfrm>
          <a:prstGeom prst="rect">
            <a:avLst/>
          </a:prstGeom>
          <a:noFill/>
          <a:ln/>
        </p:spPr>
        <p:txBody>
          <a:bodyPr wrap="square" lIns="0" tIns="0" rIns="0" bIns="0" rtlCol="0" anchor="ctr"/>
          <a:lstStyle/>
          <a:p>
            <a:pPr indent="0" marL="0">
              <a:buNone/>
            </a:pPr>
            <a:r>
              <a:rPr lang="en-US" sz="1200" dirty="0">
                <a:solidFill>
                  <a:srgbClr val="5A6478"/>
                </a:solidFill>
              </a:rPr>
              <a:t>Patents, regional income spread, workers on the books. From World Bank, ILOSTAT and national accounts.</a:t>
            </a:r>
            <a:endParaRPr lang="en-US" sz="1200" dirty="0"/>
          </a:p>
        </p:txBody>
      </p:sp>
      <p:sp>
        <p:nvSpPr>
          <p:cNvPr id="16" name="Shape 14"/>
          <p:cNvSpPr/>
          <p:nvPr/>
        </p:nvSpPr>
        <p:spPr>
          <a:xfrm>
            <a:off x="6263640" y="4069080"/>
            <a:ext cx="5120640" cy="1645920"/>
          </a:xfrm>
          <a:prstGeom prst="roundRect">
            <a:avLst>
              <a:gd name="adj" fmla="val 3333"/>
            </a:avLst>
          </a:prstGeom>
          <a:solidFill>
            <a:srgbClr val="FFFFFF"/>
          </a:solidFill>
          <a:ln w="12700">
            <a:solidFill>
              <a:srgbClr val="D8D3CC"/>
            </a:solidFill>
            <a:prstDash val="solid"/>
          </a:ln>
          <a:effectLst>
            <a:outerShdw sx="100000" sy="100000" kx="0" ky="0" algn="bl" rotWithShape="0" blurRad="88900" dist="25400" dir="5400000">
              <a:srgbClr val="000000">
                <a:alpha val="6000"/>
              </a:srgbClr>
            </a:outerShdw>
          </a:effectLst>
        </p:spPr>
      </p:sp>
      <p:sp>
        <p:nvSpPr>
          <p:cNvPr id="17" name="Text 15"/>
          <p:cNvSpPr txBox="1"/>
          <p:nvPr/>
        </p:nvSpPr>
        <p:spPr>
          <a:xfrm>
            <a:off x="6537960" y="4270248"/>
            <a:ext cx="731520" cy="384048"/>
          </a:xfrm>
          <a:prstGeom prst="rect">
            <a:avLst/>
          </a:prstGeom>
          <a:noFill/>
          <a:ln/>
        </p:spPr>
        <p:txBody>
          <a:bodyPr wrap="square" lIns="0" tIns="0" rIns="0" bIns="0" rtlCol="0" anchor="ctr"/>
          <a:lstStyle/>
          <a:p>
            <a:pPr indent="0" marL="0">
              <a:buNone/>
            </a:pPr>
            <a:r>
              <a:rPr lang="en-US" sz="1800" b="1" dirty="0">
                <a:solidFill>
                  <a:srgbClr val="6E7B99"/>
                </a:solidFill>
                <a:latin typeface="Cambria" pitchFamily="34" charset="0"/>
                <a:ea typeface="Cambria" pitchFamily="34" charset="-122"/>
                <a:cs typeface="Cambria" pitchFamily="34" charset="-120"/>
              </a:rPr>
              <a:t>04</a:t>
            </a:r>
            <a:endParaRPr lang="en-US" sz="1800" dirty="0"/>
          </a:p>
        </p:txBody>
      </p:sp>
      <p:sp>
        <p:nvSpPr>
          <p:cNvPr id="18" name="Text 16"/>
          <p:cNvSpPr txBox="1"/>
          <p:nvPr/>
        </p:nvSpPr>
        <p:spPr>
          <a:xfrm>
            <a:off x="6537960" y="4672584"/>
            <a:ext cx="4572000" cy="365760"/>
          </a:xfrm>
          <a:prstGeom prst="rect">
            <a:avLst/>
          </a:prstGeom>
          <a:noFill/>
          <a:ln/>
        </p:spPr>
        <p:txBody>
          <a:bodyPr wrap="square" lIns="0" tIns="0" rIns="0" bIns="0" rtlCol="0" anchor="ctr"/>
          <a:lstStyle/>
          <a:p>
            <a:pPr indent="0" marL="0">
              <a:buNone/>
            </a:pPr>
            <a:r>
              <a:rPr lang="en-US" sz="1500" b="1" dirty="0">
                <a:solidFill>
                  <a:srgbClr val="11182B"/>
                </a:solidFill>
              </a:rPr>
              <a:t>Pull the informality number</a:t>
            </a:r>
            <a:endParaRPr lang="en-US" sz="1500" dirty="0"/>
          </a:p>
        </p:txBody>
      </p:sp>
      <p:sp>
        <p:nvSpPr>
          <p:cNvPr id="19" name="Text 17"/>
          <p:cNvSpPr txBox="1"/>
          <p:nvPr/>
        </p:nvSpPr>
        <p:spPr>
          <a:xfrm>
            <a:off x="6537960" y="5038344"/>
            <a:ext cx="4572000" cy="548640"/>
          </a:xfrm>
          <a:prstGeom prst="rect">
            <a:avLst/>
          </a:prstGeom>
          <a:noFill/>
          <a:ln/>
        </p:spPr>
        <p:txBody>
          <a:bodyPr wrap="square" lIns="0" tIns="0" rIns="0" bIns="0" rtlCol="0" anchor="ctr"/>
          <a:lstStyle/>
          <a:p>
            <a:pPr indent="0" marL="0">
              <a:buNone/>
            </a:pPr>
            <a:r>
              <a:rPr lang="en-US" sz="1200" dirty="0">
                <a:solidFill>
                  <a:srgbClr val="5A6478"/>
                </a:solidFill>
              </a:rPr>
              <a:t>From ILOSTAT, for each of the eight countries. It is the one figure our diagnostic leans on and has not yet verified.</a:t>
            </a:r>
            <a:endParaRPr lang="en-US" sz="1200" dirty="0"/>
          </a:p>
        </p:txBody>
      </p:sp>
      <p:sp>
        <p:nvSpPr>
          <p:cNvPr id="20" name="Text 18"/>
          <p:cNvSpPr txBox="1"/>
          <p:nvPr/>
        </p:nvSpPr>
        <p:spPr>
          <a:xfrm>
            <a:off x="822960" y="5943600"/>
            <a:ext cx="10515600" cy="320040"/>
          </a:xfrm>
          <a:prstGeom prst="rect">
            <a:avLst/>
          </a:prstGeom>
          <a:noFill/>
          <a:ln/>
        </p:spPr>
        <p:txBody>
          <a:bodyPr wrap="square" lIns="0" tIns="0" rIns="0" bIns="0" rtlCol="0" anchor="ctr"/>
          <a:lstStyle/>
          <a:p>
            <a:pPr indent="0" marL="0">
              <a:buNone/>
            </a:pPr>
            <a:r>
              <a:rPr lang="en-US" sz="1300" i="1" dirty="0">
                <a:solidFill>
                  <a:srgbClr val="C25E3A"/>
                </a:solidFill>
              </a:rPr>
              <a:t>Sixty-four years is long enough to wait for the second attempt</a:t>
            </a:r>
            <a:endParaRPr lang="en-US" sz="1300" dirty="0"/>
          </a:p>
        </p:txBody>
      </p:sp>
      <p:sp>
        <p:nvSpPr>
          <p:cNvPr id="21" name="Text 19"/>
          <p:cNvSpPr/>
          <p:nvPr>
            <p:ph hasCustomPrompt="1"/>
          </p:nvPr>
        </p:nvSpPr>
        <p:spPr>
          <a:xfrm>
            <a:off x="822960" y="6263640"/>
            <a:ext cx="10515600" cy="274320"/>
          </a:xfrm>
          <a:prstGeom prst="rect">
            <a:avLst/>
          </a:prstGeom>
          <a:noFill/>
          <a:ln/>
        </p:spPr>
        <p:txBody>
          <a:bodyPr wrap="square" rtlCol="0"/>
          <a:lstStyle/>
          <a:p>
            <a:pPr indent="0" marL="0">
              <a:buNone/>
            </a:pPr>
            <a:r>
              <a:rPr lang="en-US" dirty="0"/>
              <a:t>Group 1 · IE University · Economics for Public Sector</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hasCustomPrompt="1"/>
          </p:nvPr>
        </p:nvSpPr>
        <p:spPr>
          <a:xfrm>
            <a:off x="822960" y="685800"/>
            <a:ext cx="10515600" cy="274320"/>
          </a:xfrm>
          <a:prstGeom prst="rect">
            <a:avLst/>
          </a:prstGeom>
          <a:noFill/>
          <a:ln/>
        </p:spPr>
        <p:txBody>
          <a:bodyPr wrap="square" rtlCol="0"/>
          <a:lstStyle/>
          <a:p>
            <a:pPr indent="0" marL="0">
              <a:buNone/>
            </a:pPr>
            <a:r>
              <a:rPr lang="en-US" dirty="0"/>
              <a:t>ONE ASK</a:t>
            </a:r>
            <a:endParaRPr lang="en-US" dirty="0"/>
          </a:p>
        </p:txBody>
      </p:sp>
      <p:sp>
        <p:nvSpPr>
          <p:cNvPr id="3" name="Text 1"/>
          <p:cNvSpPr/>
          <p:nvPr>
            <p:ph hasCustomPrompt="1"/>
          </p:nvPr>
        </p:nvSpPr>
        <p:spPr>
          <a:xfrm>
            <a:off x="822960" y="1188720"/>
            <a:ext cx="10515600" cy="2194560"/>
          </a:xfrm>
          <a:prstGeom prst="rect">
            <a:avLst/>
          </a:prstGeom>
          <a:noFill/>
          <a:ln/>
        </p:spPr>
        <p:txBody>
          <a:bodyPr wrap="square" rtlCol="0"/>
          <a:lstStyle/>
          <a:p>
            <a:pPr indent="0" marL="0">
              <a:buNone/>
            </a:pPr>
            <a:r>
              <a:rPr lang="en-US" dirty="0"/>
              <a:t>Fund the capability</a:t>
            </a:r>
            <a:endParaRPr lang="en-US" dirty="0"/>
          </a:p>
          <a:p>
            <a:pPr indent="0" marL="0">
              <a:buNone/>
            </a:pPr>
            <a:r>
              <a:rPr lang="en-US" dirty="0"/>
              <a:t>agency. In one country.</a:t>
            </a:r>
            <a:endParaRPr lang="en-US" dirty="0"/>
          </a:p>
          <a:p>
            <a:pPr indent="0" marL="0">
              <a:buNone/>
            </a:pPr>
            <a:r>
              <a:rPr lang="en-US" dirty="0"/>
              <a:t>This year</a:t>
            </a:r>
            <a:endParaRPr lang="en-US" dirty="0"/>
          </a:p>
        </p:txBody>
      </p:sp>
      <p:sp>
        <p:nvSpPr>
          <p:cNvPr id="4" name="Text 2"/>
          <p:cNvSpPr/>
          <p:nvPr>
            <p:ph hasCustomPrompt="1"/>
          </p:nvPr>
        </p:nvSpPr>
        <p:spPr>
          <a:xfrm>
            <a:off x="822960" y="3566160"/>
            <a:ext cx="10515600" cy="2194560"/>
          </a:xfrm>
          <a:prstGeom prst="rect">
            <a:avLst/>
          </a:prstGeom>
          <a:noFill/>
          <a:ln/>
        </p:spPr>
        <p:txBody>
          <a:bodyPr wrap="square" rtlCol="0"/>
          <a:lstStyle/>
          <a:p>
            <a:pPr indent="0" marL="0">
              <a:buNone/>
            </a:pPr>
            <a:r>
              <a:rPr lang="en-US" dirty="0"/>
              <a:t>The factories are choosing where to land right now. In five years this ask is worth less.</a:t>
            </a:r>
            <a:endParaRPr lang="en-US" dirty="0"/>
          </a:p>
        </p:txBody>
      </p:sp>
      <p:sp>
        <p:nvSpPr>
          <p:cNvPr id="5" name="Shape 3"/>
          <p:cNvSpPr/>
          <p:nvPr/>
        </p:nvSpPr>
        <p:spPr>
          <a:xfrm>
            <a:off x="822960" y="5760720"/>
            <a:ext cx="1005840" cy="27432"/>
          </a:xfrm>
          <a:prstGeom prst="rect">
            <a:avLst/>
          </a:prstGeom>
          <a:solidFill>
            <a:srgbClr val="C25E3A"/>
          </a:solidFill>
          <a:ln/>
        </p:spPr>
      </p:sp>
      <p:sp>
        <p:nvSpPr>
          <p:cNvPr id="6" name="Text 4"/>
          <p:cNvSpPr txBox="1"/>
          <p:nvPr/>
        </p:nvSpPr>
        <p:spPr>
          <a:xfrm>
            <a:off x="822960" y="5943600"/>
            <a:ext cx="10515600" cy="320040"/>
          </a:xfrm>
          <a:prstGeom prst="rect">
            <a:avLst/>
          </a:prstGeom>
          <a:noFill/>
          <a:ln/>
        </p:spPr>
        <p:txBody>
          <a:bodyPr wrap="square" lIns="0" tIns="0" rIns="0" bIns="0" rtlCol="0" anchor="ctr"/>
          <a:lstStyle/>
          <a:p>
            <a:pPr indent="0" marL="0">
              <a:buNone/>
            </a:pPr>
            <a:r>
              <a:rPr lang="en-US" sz="1100" dirty="0">
                <a:solidFill>
                  <a:srgbClr val="6E7B99"/>
                </a:solidFill>
              </a:rPr>
              <a:t>Group 1  ·  Mexico &amp; Central America  ·  Inter-American Development Bank  ·  [FIRM: Deloitte / EY / KPMG / PwC]</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hasCustomPrompt="1"/>
          </p:nvPr>
        </p:nvSpPr>
        <p:spPr>
          <a:xfrm>
            <a:off x="822960" y="502920"/>
            <a:ext cx="10515600" cy="274320"/>
          </a:xfrm>
          <a:prstGeom prst="rect">
            <a:avLst/>
          </a:prstGeom>
          <a:noFill/>
          <a:ln/>
        </p:spPr>
        <p:txBody>
          <a:bodyPr wrap="square" rtlCol="0"/>
          <a:lstStyle/>
          <a:p>
            <a:pPr indent="0" marL="0">
              <a:buNone/>
            </a:pPr>
            <a:r>
              <a:rPr lang="en-US" dirty="0"/>
              <a:t>APPENDIX · BEHIND THE STORY</a:t>
            </a:r>
            <a:endParaRPr lang="en-US" dirty="0"/>
          </a:p>
        </p:txBody>
      </p:sp>
      <p:sp>
        <p:nvSpPr>
          <p:cNvPr id="3" name="Text 1"/>
          <p:cNvSpPr/>
          <p:nvPr>
            <p:ph hasCustomPrompt="1"/>
          </p:nvPr>
        </p:nvSpPr>
        <p:spPr>
          <a:xfrm>
            <a:off x="822960" y="868680"/>
            <a:ext cx="6492240" cy="1371600"/>
          </a:xfrm>
          <a:prstGeom prst="rect">
            <a:avLst/>
          </a:prstGeom>
          <a:noFill/>
          <a:ln/>
        </p:spPr>
        <p:txBody>
          <a:bodyPr wrap="square" rtlCol="0"/>
          <a:lstStyle/>
          <a:p>
            <a:pPr indent="0" marL="0">
              <a:buNone/>
            </a:pPr>
            <a:r>
              <a:rPr lang="en-US" dirty="0"/>
              <a:t>What is solid, what is not, and how this was made</a:t>
            </a:r>
            <a:endParaRPr lang="en-US" dirty="0"/>
          </a:p>
        </p:txBody>
      </p:sp>
      <p:sp>
        <p:nvSpPr>
          <p:cNvPr id="4" name="Text 2"/>
          <p:cNvSpPr txBox="1"/>
          <p:nvPr/>
        </p:nvSpPr>
        <p:spPr>
          <a:xfrm>
            <a:off x="822960" y="2103120"/>
            <a:ext cx="3291840" cy="365760"/>
          </a:xfrm>
          <a:prstGeom prst="rect">
            <a:avLst/>
          </a:prstGeom>
          <a:noFill/>
          <a:ln/>
        </p:spPr>
        <p:txBody>
          <a:bodyPr wrap="square" lIns="0" tIns="0" rIns="0" bIns="0" rtlCol="0" anchor="ctr"/>
          <a:lstStyle/>
          <a:p>
            <a:pPr indent="0" marL="0">
              <a:buNone/>
            </a:pPr>
            <a:r>
              <a:rPr lang="en-US" sz="1400" b="1" dirty="0">
                <a:solidFill>
                  <a:srgbClr val="1F6F6B"/>
                </a:solidFill>
              </a:rPr>
              <a:t>Verified, with code</a:t>
            </a:r>
            <a:endParaRPr lang="en-US" sz="1400" dirty="0"/>
          </a:p>
        </p:txBody>
      </p:sp>
      <p:sp>
        <p:nvSpPr>
          <p:cNvPr id="5" name="Shape 3"/>
          <p:cNvSpPr/>
          <p:nvPr/>
        </p:nvSpPr>
        <p:spPr>
          <a:xfrm>
            <a:off x="822960" y="2523744"/>
            <a:ext cx="457200" cy="22860"/>
          </a:xfrm>
          <a:prstGeom prst="rect">
            <a:avLst/>
          </a:prstGeom>
          <a:solidFill>
            <a:srgbClr val="1F6F6B"/>
          </a:solidFill>
          <a:ln/>
        </p:spPr>
      </p:sp>
      <p:sp>
        <p:nvSpPr>
          <p:cNvPr id="6" name="Text 4"/>
          <p:cNvSpPr txBox="1"/>
          <p:nvPr/>
        </p:nvSpPr>
        <p:spPr>
          <a:xfrm>
            <a:off x="822960" y="2697480"/>
            <a:ext cx="3291840" cy="2286000"/>
          </a:xfrm>
          <a:prstGeom prst="rect">
            <a:avLst/>
          </a:prstGeom>
          <a:noFill/>
          <a:ln/>
        </p:spPr>
        <p:txBody>
          <a:bodyPr wrap="square" lIns="0" tIns="0" rIns="0" bIns="0" rtlCol="0" anchor="ctr"/>
          <a:lstStyle/>
          <a:p>
            <a:pPr indent="0" marL="0">
              <a:buNone/>
            </a:pPr>
            <a:r>
              <a:rPr lang="en-US" sz="1150" dirty="0">
                <a:solidFill>
                  <a:srgbClr val="5A6478"/>
                </a:solidFill>
              </a:rPr>
              <a:t>All figures pulled from World Bank WDI on 20 Oct 2026: patents IP.PAT.RESD, population SP.POP.TOTL, researchers SP.POP.SCIE.RD.P6, income NY.GDP.PCAP.KD, growth NY.GDP.MKTP.KD.ZG, poverty SI.POV.NAHC. Guatemala 8 patents. Korea 195,786. Every ratio recomputed from the raw series, not quoted.</a:t>
            </a:r>
            <a:endParaRPr lang="en-US" sz="1150" dirty="0"/>
          </a:p>
        </p:txBody>
      </p:sp>
      <p:sp>
        <p:nvSpPr>
          <p:cNvPr id="7" name="Text 5"/>
          <p:cNvSpPr txBox="1"/>
          <p:nvPr/>
        </p:nvSpPr>
        <p:spPr>
          <a:xfrm>
            <a:off x="4434840" y="2103120"/>
            <a:ext cx="3291840" cy="365760"/>
          </a:xfrm>
          <a:prstGeom prst="rect">
            <a:avLst/>
          </a:prstGeom>
          <a:noFill/>
          <a:ln/>
        </p:spPr>
        <p:txBody>
          <a:bodyPr wrap="square" lIns="0" tIns="0" rIns="0" bIns="0" rtlCol="0" anchor="ctr"/>
          <a:lstStyle/>
          <a:p>
            <a:pPr indent="0" marL="0">
              <a:buNone/>
            </a:pPr>
            <a:r>
              <a:rPr lang="en-US" sz="1400" b="1" dirty="0">
                <a:solidFill>
                  <a:srgbClr val="C25E3A"/>
                </a:solidFill>
              </a:rPr>
              <a:t>Unsure, not pulled yet</a:t>
            </a:r>
            <a:endParaRPr lang="en-US" sz="1400" dirty="0"/>
          </a:p>
        </p:txBody>
      </p:sp>
      <p:sp>
        <p:nvSpPr>
          <p:cNvPr id="8" name="Shape 6"/>
          <p:cNvSpPr/>
          <p:nvPr/>
        </p:nvSpPr>
        <p:spPr>
          <a:xfrm>
            <a:off x="4434840" y="2523744"/>
            <a:ext cx="457200" cy="22860"/>
          </a:xfrm>
          <a:prstGeom prst="rect">
            <a:avLst/>
          </a:prstGeom>
          <a:solidFill>
            <a:srgbClr val="C25E3A"/>
          </a:solidFill>
          <a:ln/>
        </p:spPr>
      </p:sp>
      <p:sp>
        <p:nvSpPr>
          <p:cNvPr id="9" name="Text 7"/>
          <p:cNvSpPr txBox="1"/>
          <p:nvPr/>
        </p:nvSpPr>
        <p:spPr>
          <a:xfrm>
            <a:off x="4434840" y="2697480"/>
            <a:ext cx="3291840" cy="2286000"/>
          </a:xfrm>
          <a:prstGeom prst="rect">
            <a:avLst/>
          </a:prstGeom>
          <a:noFill/>
          <a:ln/>
        </p:spPr>
        <p:txBody>
          <a:bodyPr wrap="square" lIns="0" tIns="0" rIns="0" bIns="0" rtlCol="0" anchor="ctr"/>
          <a:lstStyle/>
          <a:p>
            <a:pPr indent="0" marL="0">
              <a:buNone/>
            </a:pPr>
            <a:r>
              <a:rPr lang="en-US" sz="1150" dirty="0">
                <a:solidFill>
                  <a:srgbClr val="5A6478"/>
                </a:solidFill>
              </a:rPr>
              <a:t>Informality rate. Chiapas income and poverty. Urban primacy share. Mexico's share of subregional output. Every costing in the three programmes. None appears as a number on any slide. Sources identified: ILOSTAT, INEGI, CONEVAL, IDB project data.</a:t>
            </a:r>
            <a:endParaRPr lang="en-US" sz="1150" dirty="0"/>
          </a:p>
        </p:txBody>
      </p:sp>
      <p:sp>
        <p:nvSpPr>
          <p:cNvPr id="10" name="Text 8"/>
          <p:cNvSpPr txBox="1"/>
          <p:nvPr/>
        </p:nvSpPr>
        <p:spPr>
          <a:xfrm>
            <a:off x="8046720" y="2103120"/>
            <a:ext cx="3291840" cy="365760"/>
          </a:xfrm>
          <a:prstGeom prst="rect">
            <a:avLst/>
          </a:prstGeom>
          <a:noFill/>
          <a:ln/>
        </p:spPr>
        <p:txBody>
          <a:bodyPr wrap="square" lIns="0" tIns="0" rIns="0" bIns="0" rtlCol="0" anchor="ctr"/>
          <a:lstStyle/>
          <a:p>
            <a:pPr indent="0" marL="0">
              <a:buNone/>
            </a:pPr>
            <a:r>
              <a:rPr lang="en-US" sz="1400" b="1" dirty="0">
                <a:solidFill>
                  <a:srgbClr val="6E7B99"/>
                </a:solidFill>
              </a:rPr>
              <a:t>What this cannot tell us</a:t>
            </a:r>
            <a:endParaRPr lang="en-US" sz="1400" dirty="0"/>
          </a:p>
        </p:txBody>
      </p:sp>
      <p:sp>
        <p:nvSpPr>
          <p:cNvPr id="11" name="Shape 9"/>
          <p:cNvSpPr/>
          <p:nvPr/>
        </p:nvSpPr>
        <p:spPr>
          <a:xfrm>
            <a:off x="8046720" y="2523744"/>
            <a:ext cx="457200" cy="22860"/>
          </a:xfrm>
          <a:prstGeom prst="rect">
            <a:avLst/>
          </a:prstGeom>
          <a:solidFill>
            <a:srgbClr val="6E7B99"/>
          </a:solidFill>
          <a:ln/>
        </p:spPr>
      </p:sp>
      <p:sp>
        <p:nvSpPr>
          <p:cNvPr id="12" name="Text 10"/>
          <p:cNvSpPr txBox="1"/>
          <p:nvPr/>
        </p:nvSpPr>
        <p:spPr>
          <a:xfrm>
            <a:off x="8046720" y="2697480"/>
            <a:ext cx="3291840" cy="2286000"/>
          </a:xfrm>
          <a:prstGeom prst="rect">
            <a:avLst/>
          </a:prstGeom>
          <a:noFill/>
          <a:ln/>
        </p:spPr>
        <p:txBody>
          <a:bodyPr wrap="square" lIns="0" tIns="0" rIns="0" bIns="0" rtlCol="0" anchor="ctr"/>
          <a:lstStyle/>
          <a:p>
            <a:pPr indent="0" marL="0">
              <a:buNone/>
            </a:pPr>
            <a:r>
              <a:rPr lang="en-US" sz="1150" dirty="0">
                <a:solidFill>
                  <a:srgbClr val="5A6478"/>
                </a:solidFill>
              </a:rPr>
              <a:t>Patents measure registered invention, not all ingenuity, and firms often file abroad instead. R&amp;D years differ by country, 2023 to 2024. Korea's path had a geopolitical sponsor and an authoritarian state. One country is not a counterfactual for another.</a:t>
            </a:r>
            <a:endParaRPr lang="en-US" sz="1150" dirty="0"/>
          </a:p>
        </p:txBody>
      </p:sp>
      <p:sp>
        <p:nvSpPr>
          <p:cNvPr id="13" name="Shape 11"/>
          <p:cNvSpPr/>
          <p:nvPr/>
        </p:nvSpPr>
        <p:spPr>
          <a:xfrm>
            <a:off x="822960" y="5120640"/>
            <a:ext cx="10515600" cy="914400"/>
          </a:xfrm>
          <a:prstGeom prst="roundRect">
            <a:avLst>
              <a:gd name="adj" fmla="val 5000"/>
            </a:avLst>
          </a:prstGeom>
          <a:solidFill>
            <a:srgbClr val="F4F2EE"/>
          </a:solidFill>
          <a:ln w="12700">
            <a:solidFill>
              <a:srgbClr val="D8D3CC"/>
            </a:solidFill>
            <a:prstDash val="solid"/>
          </a:ln>
        </p:spPr>
      </p:sp>
      <p:sp>
        <p:nvSpPr>
          <p:cNvPr id="14" name="Text 12"/>
          <p:cNvSpPr txBox="1"/>
          <p:nvPr/>
        </p:nvSpPr>
        <p:spPr>
          <a:xfrm>
            <a:off x="1097280" y="5257800"/>
            <a:ext cx="3657600" cy="274320"/>
          </a:xfrm>
          <a:prstGeom prst="rect">
            <a:avLst/>
          </a:prstGeom>
          <a:noFill/>
          <a:ln/>
        </p:spPr>
        <p:txBody>
          <a:bodyPr wrap="square" lIns="0" tIns="0" rIns="0" bIns="0" rtlCol="0" anchor="ctr"/>
          <a:lstStyle/>
          <a:p>
            <a:pPr indent="0" marL="0">
              <a:buNone/>
            </a:pPr>
            <a:r>
              <a:rPr lang="en-US" sz="1100" b="1" dirty="0">
                <a:solidFill>
                  <a:srgbClr val="11182B"/>
                </a:solidFill>
              </a:rPr>
              <a:t>Use of generative AI</a:t>
            </a:r>
            <a:endParaRPr lang="en-US" sz="1100" dirty="0"/>
          </a:p>
        </p:txBody>
      </p:sp>
      <p:sp>
        <p:nvSpPr>
          <p:cNvPr id="15" name="Text 13"/>
          <p:cNvSpPr txBox="1"/>
          <p:nvPr/>
        </p:nvSpPr>
        <p:spPr>
          <a:xfrm>
            <a:off x="1097280" y="5532120"/>
            <a:ext cx="9966960" cy="457200"/>
          </a:xfrm>
          <a:prstGeom prst="rect">
            <a:avLst/>
          </a:prstGeom>
          <a:noFill/>
          <a:ln/>
        </p:spPr>
        <p:txBody>
          <a:bodyPr wrap="square" lIns="0" tIns="0" rIns="0" bIns="0" rtlCol="0" anchor="ctr"/>
          <a:lstStyle/>
          <a:p>
            <a:pPr indent="0" marL="0">
              <a:buNone/>
            </a:pPr>
            <a:r>
              <a:rPr lang="en-US" sz="1050" dirty="0">
                <a:solidFill>
                  <a:srgbClr val="5A6478"/>
                </a:solidFill>
              </a:rPr>
              <a:t>We acknowledge the use of Claude (Anthropic) to locate sources, retrieve and recheck the World Bank series with code, and draft and design these slides. The outputs were a basis for slides we revised. The diagnosis and the recommendation are ours.</a:t>
            </a:r>
            <a:endParaRPr lang="en-US" sz="1050" dirty="0"/>
          </a:p>
        </p:txBody>
      </p:sp>
      <p:sp>
        <p:nvSpPr>
          <p:cNvPr id="16" name="Text 14"/>
          <p:cNvSpPr/>
          <p:nvPr>
            <p:ph hasCustomPrompt="1"/>
          </p:nvPr>
        </p:nvSpPr>
        <p:spPr>
          <a:xfrm>
            <a:off x="822960" y="6263640"/>
            <a:ext cx="10515600" cy="274320"/>
          </a:xfrm>
          <a:prstGeom prst="rect">
            <a:avLst/>
          </a:prstGeom>
          <a:noFill/>
          <a:ln/>
        </p:spPr>
        <p:txBody>
          <a:bodyPr wrap="square" rtlCol="0"/>
          <a:lstStyle/>
          <a:p>
            <a:pPr indent="0" marL="0">
              <a:buNone/>
            </a:pPr>
            <a:r>
              <a:rPr lang="en-US" dirty="0"/>
              <a:t>Frameworks: Prebisch &amp; Singer 1950 · Perroux 1955 · Myrdal 1957 · Hirschman 1958 · Vernon 1966 · Hausmann, Rodrik &amp; Velasco · Levy on informality · course sessions on Core-Periphery, Industrial Location, Economic Complexity, International Cities</a:t>
            </a:r>
            <a:endParaRPr lang="en-US" dirty="0"/>
          </a:p>
        </p:txBody>
      </p:sp>
    </p:spTree>
  </p:cSld>
  <p:clrMapOvr>
    <a:masterClrMapping/>
  </p:clrMapOvr>
</p:sld>
</file>

<file path=ppt/theme/theme1.xml><?xml version="1.0" encoding="utf-8"?>
<a:theme xmlns:a="http://schemas.openxmlformats.org/drawingml/2006/main" name="Eight Patents LAC">
  <a:themeElements>
    <a:clrScheme name="Eight Patents LAC">
      <a:dk1>
        <a:srgbClr val="11182B"/>
      </a:dk1>
      <a:lt1>
        <a:srgbClr val="FFFFFF"/>
      </a:lt1>
      <a:dk2>
        <a:srgbClr val="2A3550"/>
      </a:dk2>
      <a:lt2>
        <a:srgbClr val="F4F2EE"/>
      </a:lt2>
      <a:accent1>
        <a:srgbClr val="C25E3A"/>
      </a:accent1>
      <a:accent2>
        <a:srgbClr val="1F6F6B"/>
      </a:accent2>
      <a:accent3>
        <a:srgbClr val="D9A441"/>
      </a:accent3>
      <a:accent4>
        <a:srgbClr val="6E7B99"/>
      </a:accent4>
      <a:accent5>
        <a:srgbClr val="8C3B2E"/>
      </a:accent5>
      <a:accent6>
        <a:srgbClr val="A8B3C7"/>
      </a:accent6>
      <a:hlink>
        <a:srgbClr val="1F6F6B"/>
      </a:hlink>
      <a:folHlink>
        <a:srgbClr val="6E7B99"/>
      </a:folHlink>
    </a:clrScheme>
    <a:fontScheme name="Eight Patents LAC">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Eight Patents - LAC for the IDB</dc:title>
  <dc:subject>PptxGenJS Presentation</dc:subject>
  <dc:creator>Group 1, IE University</dc:creator>
  <cp:lastModifiedBy>Group 1, IE University</cp:lastModifiedBy>
  <cp:revision>1</cp:revision>
  <dcterms:created xsi:type="dcterms:W3CDTF">2026-10-20T10:21:00Z</dcterms:created>
  <dcterms:modified xsi:type="dcterms:W3CDTF">2026-10-20T10:21:00Z</dcterms:modified>
</cp:coreProperties>
</file>